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minutes. The argument is one sentence: a model is worth its cost where a step needs judgement, and costs without adding anything where it does not. I built four architectures that differ only in how data is retrieved, measured all four, and the retrieval layer is where the money goes.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literature treats tool-use as the thing that makes agents useful. Nobody asks which steps deserve one. Interpreting "leaving on the fifteenth for two adults" is a judgement. Calling a flight API with a date is not. The naive arm spent 20.6 model requests per trip against 2.0 for the shipped design, and the tokens differ by about 15 times, because each loop step re-sends the whole tool schema 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else is held constant: same task, same prompts where they overlap, same tool server, same message protocol, same model. Only the retrieval layer changes between arms. That is what makes the comparison attributable.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 is the arm that makes the result defensible. Tuning alone cut tokens by 89% without changing the architecture — so a comparison of B against D would have conflated two different effects. A is the control: it produces a fluent itinerary from nothing, and its price groundedness of 1.7% is the number that shows why retrieval matters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 one takes the request, two turns free text into typed fields, three retrieves, four assembles. The research question lives entirely in layer three. Note the honest detail: the shipped path imports the tool functions in process. The JSON-RPC transport is exercised by the six-agent arms, and Section 7.2 of the dissertation says so rather than implying otherwise.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agents became three because the instrumentation showed most requests were spent on deterministic retrieval. The three that remain each fail the "write it as code" test — you cannot write a rule that interprets arbitrary phrasing, and you cannot write a rule that sequences a pleasant 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weakness first: 1 of 20 scenarios for the cost comparison, because the free tiers allow thirty flight and fifty hotel searches a month. What that bought instead: two questions that need no quota — protocol conformance and the feasibility gate — evaluated across all twenty, and both produced negative findings. Never hand-count model requests: a reasoning loop issues far more than there are tasks.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Naive six agents: 120,703 tokens and 20.6 model requests per trip. Three agents with Python retrieval: 7,840 tokens and 2.0 requests. The intervals do not overlap, which is why this is reported as a difference rather than as noise. Latency follows the same shape.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answer to the obvious objection. Cutting each agent's tool list from twenty slots to four, and its step budget down, took 89% of the tokens out without touching the architecture. So most of B's cost was configuration. The remainder — the part only the architecture change reaches — is the contribution being claimed.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saving would be worthless if the plan got vaguer. A is the control and scores 1.7% — a fluent itinerary invented from nothing, which is exactly the failure this metric exists to detect. It caught a real one: the first end-to-end run produced a confident plan while every tool call was silently failing.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of 9 conformance checks fail: message priority is declared and never honoured, and inbound permissions are never enforced. On the gate, precision is 1.0 and recall 0.5 — it never wrongly refuses a workable trip, and it misses half the impossible ones. Kappa 0.643 is moderate agreement. Saying so is the point; an evaluation that only confirms its author is not an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allowances were fully spent during development. The controls were built before the arms were, and they worked: 30 committed responses mean a marker with no API keys can reproduce every number. What they could not do is create requests that were never made, so coverage of the cost comparison stayed at 1 of 20. Appendix N has the full register — three of the eight risks occurred, including the model being withdrawn mid-project.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feasibility gate is the part a user would notice. Ask for six nights in London on three thousand dollars and it declines, names the shortfall, and offers a shorter trip or a nearer city. It also distinguishes a measured price from an estimated one, because the price table was 52% below a real fare on the one route where both were known.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answer to the likely question. The tool server came first because nothing works without it, then the message layer, then the agents, and the measurement infrastructure last. That ordering is why the first end-to-end run silently produced an ungrounded itinerary and nothing noticed. Reversed, the six-to-three pivot would have been a design decision rather than a rewrite.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on the claim and its limit in the same breath. The effect is large and the sample is narrow, and both are stated in the abstract. The cache, the harness and the scenarios are all committed, so the next person — or I, next month, when the quota resets — can widen it without rebuilding anything.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B4B"/>
        </a:solidFill>
        <a:effectLst/>
      </p:bgPr>
    </p:bg>
    <p:spTree>
      <p:nvGrpSpPr>
        <p:cNvPr id="1" name=""/>
        <p:cNvGrpSpPr/>
        <p:nvPr/>
      </p:nvGrpSpPr>
      <p:grpSpPr/>
      <p:sp>
        <p:nvSpPr>
          <p:cNvPr id="2" name="TextBox 1"/>
          <p:cNvSpPr txBox="1"/>
          <p:nvPr/>
        </p:nvSpPr>
        <p:spPr>
          <a:xfrm>
            <a:off x="1005840" y="1737360"/>
            <a:ext cx="10241280" cy="457200"/>
          </a:xfrm>
          <a:prstGeom prst="rect">
            <a:avLst/>
          </a:prstGeom>
          <a:noFill/>
        </p:spPr>
        <p:txBody>
          <a:bodyPr wrap="square" anchor="t">
            <a:spAutoFit/>
          </a:bodyPr>
          <a:lstStyle/>
          <a:p>
            <a:pPr algn="l">
              <a:lnSpc>
                <a:spcPct val="100000"/>
              </a:lnSpc>
            </a:pPr>
            <a:r>
              <a:rPr sz="1400" b="1">
                <a:solidFill>
                  <a:srgbClr val="9CA3F5"/>
                </a:solidFill>
                <a:latin typeface="Calibri"/>
              </a:rPr>
              <a:t>MSc DISSERTATION · VIVA VOCE</a:t>
            </a:r>
          </a:p>
        </p:txBody>
      </p:sp>
      <p:sp>
        <p:nvSpPr>
          <p:cNvPr id="3" name="TextBox 2"/>
          <p:cNvSpPr txBox="1"/>
          <p:nvPr/>
        </p:nvSpPr>
        <p:spPr>
          <a:xfrm>
            <a:off x="1005840" y="2194560"/>
            <a:ext cx="10241280" cy="1737360"/>
          </a:xfrm>
          <a:prstGeom prst="rect">
            <a:avLst/>
          </a:prstGeom>
          <a:noFill/>
        </p:spPr>
        <p:txBody>
          <a:bodyPr wrap="square" anchor="t">
            <a:spAutoFit/>
          </a:bodyPr>
          <a:lstStyle/>
          <a:p>
            <a:pPr algn="l">
              <a:lnSpc>
                <a:spcPct val="110000"/>
              </a:lnSpc>
            </a:pPr>
            <a:r>
              <a:rPr sz="4000" b="1">
                <a:solidFill>
                  <a:srgbClr val="FFFFFF"/>
                </a:solidFill>
                <a:latin typeface="Calibri"/>
              </a:rPr>
              <a:t>Does a language model earn its cost</a:t>
            </a:r>
          </a:p>
          <a:p>
            <a:pPr algn="l">
              <a:lnSpc>
                <a:spcPct val="110000"/>
              </a:lnSpc>
            </a:pPr>
            <a:r>
              <a:rPr sz="4000" b="1">
                <a:solidFill>
                  <a:srgbClr val="6EE7DF"/>
                </a:solidFill>
                <a:latin typeface="Calibri"/>
              </a:rPr>
              <a:t>in a multi-agent travel planner?</a:t>
            </a:r>
          </a:p>
        </p:txBody>
      </p:sp>
      <p:sp>
        <p:nvSpPr>
          <p:cNvPr id="4" name="Rectangle 3"/>
          <p:cNvSpPr/>
          <p:nvPr/>
        </p:nvSpPr>
        <p:spPr>
          <a:xfrm>
            <a:off x="1005840" y="4114800"/>
            <a:ext cx="1463040" cy="34000"/>
          </a:xfrm>
          <a:prstGeom prst="rect">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480560"/>
            <a:ext cx="10241280" cy="1280160"/>
          </a:xfrm>
          <a:prstGeom prst="rect">
            <a:avLst/>
          </a:prstGeom>
          <a:noFill/>
        </p:spPr>
        <p:txBody>
          <a:bodyPr wrap="square" anchor="t">
            <a:spAutoFit/>
          </a:bodyPr>
          <a:lstStyle/>
          <a:p>
            <a:pPr algn="l">
              <a:lnSpc>
                <a:spcPct val="100000"/>
              </a:lnSpc>
            </a:pPr>
            <a:r>
              <a:rPr sz="1700" b="0">
                <a:solidFill>
                  <a:srgbClr val="C7D2FE"/>
                </a:solidFill>
                <a:latin typeface="Calibri"/>
              </a:rPr>
              <a:t>Four architectures measured on the same task, with retrieval as the only variable.</a:t>
            </a:r>
          </a:p>
          <a:p>
            <a:pPr algn="l">
              <a:lnSpc>
                <a:spcPct val="100000"/>
              </a:lnSpc>
            </a:pPr>
            <a:r>
              <a:rPr sz="800" b="0">
                <a:solidFill>
                  <a:srgbClr val="FFFFFF"/>
                </a:solidFill>
                <a:latin typeface="Calibri"/>
              </a:rPr>
              <a:t/>
            </a:r>
          </a:p>
          <a:p>
            <a:pPr algn="l">
              <a:lnSpc>
                <a:spcPct val="100000"/>
              </a:lnSpc>
            </a:pPr>
            <a:r>
              <a:rPr sz="1300" b="0">
                <a:solidFill>
                  <a:srgbClr val="9CA3F5"/>
                </a:solidFill>
                <a:latin typeface="Calibri"/>
              </a:rPr>
              <a:t>Student 25182589   ·   CMP7200 — Individual Master's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THE PROBLEM</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Agents are given tools by default</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3515258" cy="1188720"/>
          </a:xfrm>
          <a:prstGeom prst="rect">
            <a:avLst/>
          </a:prstGeom>
          <a:noFill/>
        </p:spPr>
        <p:txBody>
          <a:bodyPr wrap="square" anchor="t">
            <a:spAutoFit/>
          </a:bodyPr>
          <a:lstStyle/>
          <a:p>
            <a:pPr algn="ctr">
              <a:lnSpc>
                <a:spcPct val="100000"/>
              </a:lnSpc>
            </a:pPr>
            <a:r>
              <a:rPr sz="6000" b="1">
                <a:solidFill>
                  <a:srgbClr val="4338CA"/>
                </a:solidFill>
                <a:latin typeface="Calibri"/>
              </a:rPr>
              <a:t>21</a:t>
            </a:r>
          </a:p>
        </p:txBody>
      </p:sp>
      <p:sp>
        <p:nvSpPr>
          <p:cNvPr id="6" name="TextBox 5"/>
          <p:cNvSpPr txBox="1"/>
          <p:nvPr/>
        </p:nvSpPr>
        <p:spPr>
          <a:xfrm>
            <a:off x="822960"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model requests per trip
when six agents each decide</a:t>
            </a:r>
          </a:p>
        </p:txBody>
      </p:sp>
      <p:sp>
        <p:nvSpPr>
          <p:cNvPr id="7" name="TextBox 6"/>
          <p:cNvSpPr txBox="1"/>
          <p:nvPr/>
        </p:nvSpPr>
        <p:spPr>
          <a:xfrm>
            <a:off x="4338218" y="2103120"/>
            <a:ext cx="3515258" cy="1188720"/>
          </a:xfrm>
          <a:prstGeom prst="rect">
            <a:avLst/>
          </a:prstGeom>
          <a:noFill/>
        </p:spPr>
        <p:txBody>
          <a:bodyPr wrap="square" anchor="t">
            <a:spAutoFit/>
          </a:bodyPr>
          <a:lstStyle/>
          <a:p>
            <a:pPr algn="ctr">
              <a:lnSpc>
                <a:spcPct val="100000"/>
              </a:lnSpc>
            </a:pPr>
            <a:r>
              <a:rPr sz="6000" b="1">
                <a:solidFill>
                  <a:srgbClr val="4338CA"/>
                </a:solidFill>
                <a:latin typeface="Calibri"/>
              </a:rPr>
              <a:t>2</a:t>
            </a:r>
          </a:p>
        </p:txBody>
      </p:sp>
      <p:sp>
        <p:nvSpPr>
          <p:cNvPr id="8" name="TextBox 7"/>
          <p:cNvSpPr txBox="1"/>
          <p:nvPr/>
        </p:nvSpPr>
        <p:spPr>
          <a:xfrm>
            <a:off x="4338218"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model requests per trip
when plain Python fetches</a:t>
            </a:r>
          </a:p>
        </p:txBody>
      </p:sp>
      <p:sp>
        <p:nvSpPr>
          <p:cNvPr id="9" name="TextBox 8"/>
          <p:cNvSpPr txBox="1"/>
          <p:nvPr/>
        </p:nvSpPr>
        <p:spPr>
          <a:xfrm>
            <a:off x="7853476" y="2103120"/>
            <a:ext cx="3515258" cy="1188720"/>
          </a:xfrm>
          <a:prstGeom prst="rect">
            <a:avLst/>
          </a:prstGeom>
          <a:noFill/>
        </p:spPr>
        <p:txBody>
          <a:bodyPr wrap="square" anchor="t">
            <a:spAutoFit/>
          </a:bodyPr>
          <a:lstStyle/>
          <a:p>
            <a:pPr algn="ctr">
              <a:lnSpc>
                <a:spcPct val="100000"/>
              </a:lnSpc>
            </a:pPr>
            <a:r>
              <a:rPr sz="6000" b="1">
                <a:solidFill>
                  <a:srgbClr val="4338CA"/>
                </a:solidFill>
                <a:latin typeface="Calibri"/>
              </a:rPr>
              <a:t>15x</a:t>
            </a:r>
          </a:p>
        </p:txBody>
      </p:sp>
      <p:sp>
        <p:nvSpPr>
          <p:cNvPr id="10" name="TextBox 9"/>
          <p:cNvSpPr txBox="1"/>
          <p:nvPr/>
        </p:nvSpPr>
        <p:spPr>
          <a:xfrm>
            <a:off x="7853476"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the tokens, for the same
finished itinerary</a:t>
            </a:r>
          </a:p>
        </p:txBody>
      </p:sp>
      <p:sp>
        <p:nvSpPr>
          <p:cNvPr id="11" name="TextBox 10"/>
          <p:cNvSpPr txBox="1"/>
          <p:nvPr/>
        </p:nvSpPr>
        <p:spPr>
          <a:xfrm>
            <a:off x="822960" y="4846320"/>
            <a:ext cx="10515600" cy="1280160"/>
          </a:xfrm>
          <a:prstGeom prst="rect">
            <a:avLst/>
          </a:prstGeom>
          <a:noFill/>
        </p:spPr>
        <p:txBody>
          <a:bodyPr wrap="square" anchor="t">
            <a:spAutoFit/>
          </a:bodyPr>
          <a:lstStyle/>
          <a:p>
            <a:pPr algn="l">
              <a:lnSpc>
                <a:spcPct val="125000"/>
              </a:lnSpc>
            </a:pPr>
            <a:r>
              <a:rPr sz="2000" b="1">
                <a:solidFill>
                  <a:srgbClr val="161A23"/>
                </a:solidFill>
                <a:latin typeface="Calibri"/>
              </a:rPr>
              <a:t>Fetching a fare for a known route on a known date needs no judgement.</a:t>
            </a:r>
          </a:p>
          <a:p>
            <a:pPr algn="l">
              <a:lnSpc>
                <a:spcPct val="125000"/>
              </a:lnSpc>
            </a:pPr>
            <a:r>
              <a:rPr sz="1600" b="0">
                <a:solidFill>
                  <a:srgbClr val="545C6E"/>
                </a:solidFill>
                <a:latin typeface="Calibri"/>
              </a:rPr>
              <a:t>A reasoning loop is charged for it anyway — every step re-sends every tool schema.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TextBox 1"/>
          <p:cNvSpPr txBox="1"/>
          <p:nvPr/>
        </p:nvSpPr>
        <p:spPr>
          <a:xfrm>
            <a:off x="1280160" y="2103120"/>
            <a:ext cx="9601200" cy="2377440"/>
          </a:xfrm>
          <a:prstGeom prst="rect">
            <a:avLst/>
          </a:prstGeom>
          <a:noFill/>
        </p:spPr>
        <p:txBody>
          <a:bodyPr wrap="square" anchor="t">
            <a:spAutoFit/>
          </a:bodyPr>
          <a:lstStyle/>
          <a:p>
            <a:pPr algn="l">
              <a:lnSpc>
                <a:spcPct val="115000"/>
              </a:lnSpc>
            </a:pPr>
            <a:r>
              <a:rPr sz="3400" b="0">
                <a:solidFill>
                  <a:srgbClr val="545C6E"/>
                </a:solidFill>
                <a:latin typeface="Calibri"/>
              </a:rPr>
              <a:t>Where does a language model</a:t>
            </a:r>
          </a:p>
          <a:p>
            <a:pPr algn="l">
              <a:lnSpc>
                <a:spcPct val="115000"/>
              </a:lnSpc>
            </a:pPr>
            <a:r>
              <a:rPr sz="4600" b="1">
                <a:solidFill>
                  <a:srgbClr val="4338CA"/>
                </a:solidFill>
                <a:latin typeface="Calibri"/>
              </a:rPr>
              <a:t>earn its cost,</a:t>
            </a:r>
          </a:p>
          <a:p>
            <a:pPr algn="l">
              <a:lnSpc>
                <a:spcPct val="115000"/>
              </a:lnSpc>
            </a:pPr>
            <a:r>
              <a:rPr sz="3400" b="0">
                <a:solidFill>
                  <a:srgbClr val="545C6E"/>
                </a:solidFill>
                <a:latin typeface="Calibri"/>
              </a:rPr>
              <a:t>and where is it just expensive?</a:t>
            </a:r>
          </a:p>
        </p:txBody>
      </p:sp>
      <p:sp>
        <p:nvSpPr>
          <p:cNvPr id="3" name="Rectangle 2"/>
          <p:cNvSpPr/>
          <p:nvPr/>
        </p:nvSpPr>
        <p:spPr>
          <a:xfrm>
            <a:off x="1280160" y="4754880"/>
            <a:ext cx="1828800" cy="34000"/>
          </a:xfrm>
          <a:prstGeom prst="rect">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5029200"/>
            <a:ext cx="9601200" cy="731520"/>
          </a:xfrm>
          <a:prstGeom prst="rect">
            <a:avLst/>
          </a:prstGeom>
          <a:noFill/>
        </p:spPr>
        <p:txBody>
          <a:bodyPr wrap="square" anchor="t">
            <a:spAutoFit/>
          </a:bodyPr>
          <a:lstStyle/>
          <a:p>
            <a:pPr algn="l">
              <a:lnSpc>
                <a:spcPct val="100000"/>
              </a:lnSpc>
            </a:pPr>
            <a:r>
              <a:rPr sz="1500" b="0">
                <a:solidFill>
                  <a:srgbClr val="8A91A0"/>
                </a:solidFill>
                <a:latin typeface="Calibri"/>
              </a:rPr>
              <a:t>Design Science Research · four-arm ablation · retrieval is the only variable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THE FOUR APPROACHES</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One variable: who fetches the data</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2011680"/>
          <a:ext cx="10515598" cy="1828800"/>
        </p:xfrm>
        <a:graphic>
          <a:graphicData uri="http://schemas.openxmlformats.org/drawingml/2006/table">
            <a:tbl>
              <a:tblPr firstRow="1" bandRow="1">
                <a:tableStyleId>{5C22544A-7EE6-4342-B048-85BDC9FD1C3A}</a:tableStyleId>
              </a:tblPr>
              <a:tblGrid>
                <a:gridCol w="491383"/>
                <a:gridCol w="2948299"/>
                <a:gridCol w="2162085"/>
                <a:gridCol w="4913831"/>
              </a:tblGrid>
              <a:tr h="365760">
                <a:tc>
                  <a:txBody>
                    <a:bodyPr/>
                    <a:lstStyle/>
                    <a:p>
                      <a:r>
                        <a:rPr sz="1300" b="1">
                          <a:solidFill>
                            <a:srgbClr val="FFFFFF"/>
                          </a:solidFill>
                          <a:latin typeface="Calibri"/>
                        </a:rPr>
                        <a:t> </a:t>
                      </a:r>
                    </a:p>
                  </a:txBody>
                  <a:tcPr>
                    <a:solidFill>
                      <a:srgbClr val="4338CA"/>
                    </a:solidFill>
                  </a:tcPr>
                </a:tc>
                <a:tc>
                  <a:txBody>
                    <a:bodyPr/>
                    <a:lstStyle/>
                    <a:p>
                      <a:r>
                        <a:rPr sz="1300" b="1">
                          <a:solidFill>
                            <a:srgbClr val="FFFFFF"/>
                          </a:solidFill>
                          <a:latin typeface="Calibri"/>
                        </a:rPr>
                        <a:t>Architecture</a:t>
                      </a:r>
                    </a:p>
                  </a:txBody>
                  <a:tcPr>
                    <a:solidFill>
                      <a:srgbClr val="4338CA"/>
                    </a:solidFill>
                  </a:tcPr>
                </a:tc>
                <a:tc>
                  <a:txBody>
                    <a:bodyPr/>
                    <a:lstStyle/>
                    <a:p>
                      <a:r>
                        <a:rPr sz="1300" b="1">
                          <a:solidFill>
                            <a:srgbClr val="FFFFFF"/>
                          </a:solidFill>
                          <a:latin typeface="Calibri"/>
                        </a:rPr>
                        <a:t>Who retrieves</a:t>
                      </a:r>
                    </a:p>
                  </a:txBody>
                  <a:tcPr>
                    <a:solidFill>
                      <a:srgbClr val="4338CA"/>
                    </a:solidFill>
                  </a:tcPr>
                </a:tc>
                <a:tc>
                  <a:txBody>
                    <a:bodyPr/>
                    <a:lstStyle/>
                    <a:p>
                      <a:r>
                        <a:rPr sz="1300" b="1">
                          <a:solidFill>
                            <a:srgbClr val="FFFFFF"/>
                          </a:solidFill>
                          <a:latin typeface="Calibri"/>
                        </a:rPr>
                        <a:t>Why it is in the design</a:t>
                      </a:r>
                    </a:p>
                  </a:txBody>
                  <a:tcPr>
                    <a:solidFill>
                      <a:srgbClr val="4338CA"/>
                    </a:solidFill>
                  </a:tcPr>
                </a:tc>
              </a:tr>
              <a:tr h="365760">
                <a:tc>
                  <a:txBody>
                    <a:bodyPr/>
                    <a:lstStyle/>
                    <a:p>
                      <a:r>
                        <a:rPr sz="1300" b="0">
                          <a:solidFill>
                            <a:srgbClr val="161A23"/>
                          </a:solidFill>
                          <a:latin typeface="Calibri"/>
                        </a:rPr>
                        <a:t>A</a:t>
                      </a:r>
                    </a:p>
                  </a:txBody>
                  <a:tcPr>
                    <a:solidFill>
                      <a:srgbClr val="FFFFFF"/>
                    </a:solidFill>
                  </a:tcPr>
                </a:tc>
                <a:tc>
                  <a:txBody>
                    <a:bodyPr/>
                    <a:lstStyle/>
                    <a:p>
                      <a:r>
                        <a:rPr sz="1300" b="0">
                          <a:solidFill>
                            <a:srgbClr val="161A23"/>
                          </a:solidFill>
                          <a:latin typeface="Calibri"/>
                        </a:rPr>
                        <a:t>One model call, no tools</a:t>
                      </a:r>
                    </a:p>
                  </a:txBody>
                  <a:tcPr>
                    <a:solidFill>
                      <a:srgbClr val="FFFFFF"/>
                    </a:solidFill>
                  </a:tcPr>
                </a:tc>
                <a:tc>
                  <a:txBody>
                    <a:bodyPr/>
                    <a:lstStyle/>
                    <a:p>
                      <a:r>
                        <a:rPr sz="1300" b="0">
                          <a:solidFill>
                            <a:srgbClr val="161A23"/>
                          </a:solidFill>
                          <a:latin typeface="Calibri"/>
                        </a:rPr>
                        <a:t>nothing</a:t>
                      </a:r>
                    </a:p>
                  </a:txBody>
                  <a:tcPr>
                    <a:solidFill>
                      <a:srgbClr val="FFFFFF"/>
                    </a:solidFill>
                  </a:tcPr>
                </a:tc>
                <a:tc>
                  <a:txBody>
                    <a:bodyPr/>
                    <a:lstStyle/>
                    <a:p>
                      <a:r>
                        <a:rPr sz="1300" b="0">
                          <a:solidFill>
                            <a:srgbClr val="161A23"/>
                          </a:solidFill>
                          <a:latin typeface="Calibri"/>
                        </a:rPr>
                        <a:t>Floor. Shows what fluency alone produces</a:t>
                      </a:r>
                    </a:p>
                  </a:txBody>
                  <a:tcPr>
                    <a:solidFill>
                      <a:srgbClr val="FFFFFF"/>
                    </a:solidFill>
                  </a:tcPr>
                </a:tc>
              </a:tr>
              <a:tr h="365760">
                <a:tc>
                  <a:txBody>
                    <a:bodyPr/>
                    <a:lstStyle/>
                    <a:p>
                      <a:r>
                        <a:rPr sz="1300" b="0">
                          <a:solidFill>
                            <a:srgbClr val="161A23"/>
                          </a:solidFill>
                          <a:latin typeface="Calibri"/>
                        </a:rPr>
                        <a:t>B</a:t>
                      </a:r>
                    </a:p>
                  </a:txBody>
                  <a:tcPr>
                    <a:solidFill>
                      <a:srgbClr val="F7F8FC"/>
                    </a:solidFill>
                  </a:tcPr>
                </a:tc>
                <a:tc>
                  <a:txBody>
                    <a:bodyPr/>
                    <a:lstStyle/>
                    <a:p>
                      <a:r>
                        <a:rPr sz="1300" b="0">
                          <a:solidFill>
                            <a:srgbClr val="161A23"/>
                          </a:solidFill>
                          <a:latin typeface="Calibri"/>
                        </a:rPr>
                        <a:t>Six agents, as first built</a:t>
                      </a:r>
                    </a:p>
                  </a:txBody>
                  <a:tcPr>
                    <a:solidFill>
                      <a:srgbClr val="F7F8FC"/>
                    </a:solidFill>
                  </a:tcPr>
                </a:tc>
                <a:tc>
                  <a:txBody>
                    <a:bodyPr/>
                    <a:lstStyle/>
                    <a:p>
                      <a:r>
                        <a:rPr sz="1300" b="0">
                          <a:solidFill>
                            <a:srgbClr val="161A23"/>
                          </a:solidFill>
                          <a:latin typeface="Calibri"/>
                        </a:rPr>
                        <a:t>each agent decides</a:t>
                      </a:r>
                    </a:p>
                  </a:txBody>
                  <a:tcPr>
                    <a:solidFill>
                      <a:srgbClr val="F7F8FC"/>
                    </a:solidFill>
                  </a:tcPr>
                </a:tc>
                <a:tc>
                  <a:txBody>
                    <a:bodyPr/>
                    <a:lstStyle/>
                    <a:p>
                      <a:r>
                        <a:rPr sz="1300" b="0">
                          <a:solidFill>
                            <a:srgbClr val="161A23"/>
                          </a:solidFill>
                          <a:latin typeface="Calibri"/>
                        </a:rPr>
                        <a:t>The proposal, untuned. The honest baseline</a:t>
                      </a:r>
                    </a:p>
                  </a:txBody>
                  <a:tcPr>
                    <a:solidFill>
                      <a:srgbClr val="F7F8FC"/>
                    </a:solidFill>
                  </a:tcPr>
                </a:tc>
              </a:tr>
              <a:tr h="365760">
                <a:tc>
                  <a:txBody>
                    <a:bodyPr/>
                    <a:lstStyle/>
                    <a:p>
                      <a:r>
                        <a:rPr sz="1300" b="0">
                          <a:solidFill>
                            <a:srgbClr val="161A23"/>
                          </a:solidFill>
                          <a:latin typeface="Calibri"/>
                        </a:rPr>
                        <a:t>C</a:t>
                      </a:r>
                    </a:p>
                  </a:txBody>
                  <a:tcPr>
                    <a:solidFill>
                      <a:srgbClr val="FFFFFF"/>
                    </a:solidFill>
                  </a:tcPr>
                </a:tc>
                <a:tc>
                  <a:txBody>
                    <a:bodyPr/>
                    <a:lstStyle/>
                    <a:p>
                      <a:r>
                        <a:rPr sz="1300" b="0">
                          <a:solidFill>
                            <a:srgbClr val="161A23"/>
                          </a:solidFill>
                          <a:latin typeface="Calibri"/>
                        </a:rPr>
                        <a:t>Six agents, tuned</a:t>
                      </a:r>
                    </a:p>
                  </a:txBody>
                  <a:tcPr>
                    <a:solidFill>
                      <a:srgbClr val="FFFFFF"/>
                    </a:solidFill>
                  </a:tcPr>
                </a:tc>
                <a:tc>
                  <a:txBody>
                    <a:bodyPr/>
                    <a:lstStyle/>
                    <a:p>
                      <a:r>
                        <a:rPr sz="1300" b="0">
                          <a:solidFill>
                            <a:srgbClr val="161A23"/>
                          </a:solidFill>
                          <a:latin typeface="Calibri"/>
                        </a:rPr>
                        <a:t>each agent decides</a:t>
                      </a:r>
                    </a:p>
                  </a:txBody>
                  <a:tcPr>
                    <a:solidFill>
                      <a:srgbClr val="FFFFFF"/>
                    </a:solidFill>
                  </a:tcPr>
                </a:tc>
                <a:tc>
                  <a:txBody>
                    <a:bodyPr/>
                    <a:lstStyle/>
                    <a:p>
                      <a:r>
                        <a:rPr sz="1300" b="0">
                          <a:solidFill>
                            <a:srgbClr val="161A23"/>
                          </a:solidFill>
                          <a:latin typeface="Calibri"/>
                        </a:rPr>
                        <a:t>Separates tuning from architecture</a:t>
                      </a:r>
                    </a:p>
                  </a:txBody>
                  <a:tcPr>
                    <a:solidFill>
                      <a:srgbClr val="FFFFFF"/>
                    </a:solidFill>
                  </a:tcPr>
                </a:tc>
              </a:tr>
              <a:tr h="365760">
                <a:tc>
                  <a:txBody>
                    <a:bodyPr/>
                    <a:lstStyle/>
                    <a:p>
                      <a:r>
                        <a:rPr sz="1300" b="0">
                          <a:solidFill>
                            <a:srgbClr val="161A23"/>
                          </a:solidFill>
                          <a:latin typeface="Calibri"/>
                        </a:rPr>
                        <a:t>D</a:t>
                      </a:r>
                    </a:p>
                  </a:txBody>
                  <a:tcPr>
                    <a:solidFill>
                      <a:srgbClr val="F7F8FC"/>
                    </a:solidFill>
                  </a:tcPr>
                </a:tc>
                <a:tc>
                  <a:txBody>
                    <a:bodyPr/>
                    <a:lstStyle/>
                    <a:p>
                      <a:r>
                        <a:rPr sz="1300" b="0">
                          <a:solidFill>
                            <a:srgbClr val="161A23"/>
                          </a:solidFill>
                          <a:latin typeface="Calibri"/>
                        </a:rPr>
                        <a:t>Three agents</a:t>
                      </a:r>
                    </a:p>
                  </a:txBody>
                  <a:tcPr>
                    <a:solidFill>
                      <a:srgbClr val="F7F8FC"/>
                    </a:solidFill>
                  </a:tcPr>
                </a:tc>
                <a:tc>
                  <a:txBody>
                    <a:bodyPr/>
                    <a:lstStyle/>
                    <a:p>
                      <a:r>
                        <a:rPr sz="1300" b="0">
                          <a:solidFill>
                            <a:srgbClr val="161A23"/>
                          </a:solidFill>
                          <a:latin typeface="Calibri"/>
                        </a:rPr>
                        <a:t>plain Python</a:t>
                      </a:r>
                    </a:p>
                  </a:txBody>
                  <a:tcPr>
                    <a:solidFill>
                      <a:srgbClr val="F7F8FC"/>
                    </a:solidFill>
                  </a:tcPr>
                </a:tc>
                <a:tc>
                  <a:txBody>
                    <a:bodyPr/>
                    <a:lstStyle/>
                    <a:p>
                      <a:r>
                        <a:rPr sz="1300" b="0">
                          <a:solidFill>
                            <a:srgbClr val="161A23"/>
                          </a:solidFill>
                          <a:latin typeface="Calibri"/>
                        </a:rPr>
                        <a:t>What ships. The claim under test</a:t>
                      </a:r>
                    </a:p>
                  </a:txBody>
                  <a:tcPr>
                    <a:solidFill>
                      <a:srgbClr val="F7F8FC"/>
                    </a:solidFill>
                  </a:tcPr>
                </a:tc>
              </a:tr>
            </a:tbl>
          </a:graphicData>
        </a:graphic>
      </p:graphicFrame>
      <p:sp>
        <p:nvSpPr>
          <p:cNvPr id="6" name="TextBox 5"/>
          <p:cNvSpPr txBox="1"/>
          <p:nvPr/>
        </p:nvSpPr>
        <p:spPr>
          <a:xfrm>
            <a:off x="822960" y="5120640"/>
            <a:ext cx="10515600" cy="914400"/>
          </a:xfrm>
          <a:prstGeom prst="rect">
            <a:avLst/>
          </a:prstGeom>
          <a:noFill/>
        </p:spPr>
        <p:txBody>
          <a:bodyPr wrap="square" anchor="t">
            <a:spAutoFit/>
          </a:bodyPr>
          <a:lstStyle/>
          <a:p>
            <a:pPr algn="l">
              <a:lnSpc>
                <a:spcPct val="100000"/>
              </a:lnSpc>
            </a:pPr>
            <a:r>
              <a:rPr sz="1800" b="1">
                <a:solidFill>
                  <a:srgbClr val="4338CA"/>
                </a:solidFill>
                <a:latin typeface="Calibri"/>
              </a:rPr>
              <a:t>C exists so nobody can say D only won because B was badly configured.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ARCHITECTURE</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Four layers; only layer three changes</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rchitecture.png"/>
          <p:cNvPicPr>
            <a:picLocks noChangeAspect="1"/>
          </p:cNvPicPr>
          <p:nvPr/>
        </p:nvPicPr>
        <p:blipFill>
          <a:blip r:embed="rId2"/>
          <a:stretch>
            <a:fillRect/>
          </a:stretch>
        </p:blipFill>
        <p:spPr>
          <a:xfrm>
            <a:off x="2903513" y="1828800"/>
            <a:ext cx="6384669" cy="42976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THE AGENTS</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Three use the model. Four steps do not</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822960" y="2011680"/>
          <a:ext cx="10515598" cy="1828800"/>
        </p:xfrm>
        <a:graphic>
          <a:graphicData uri="http://schemas.openxmlformats.org/drawingml/2006/table">
            <a:tbl>
              <a:tblPr firstRow="1" bandRow="1">
                <a:tableStyleId>{5C22544A-7EE6-4342-B048-85BDC9FD1C3A}</a:tableStyleId>
              </a:tblPr>
              <a:tblGrid>
                <a:gridCol w="491383"/>
                <a:gridCol w="3341405"/>
                <a:gridCol w="884489"/>
                <a:gridCol w="5798321"/>
              </a:tblGrid>
              <a:tr h="365760">
                <a:tc>
                  <a:txBody>
                    <a:bodyPr/>
                    <a:lstStyle/>
                    <a:p>
                      <a:r>
                        <a:rPr sz="1300" b="1">
                          <a:solidFill>
                            <a:srgbClr val="FFFFFF"/>
                          </a:solidFill>
                          <a:latin typeface="Calibri"/>
                        </a:rPr>
                        <a:t>Step</a:t>
                      </a:r>
                    </a:p>
                  </a:txBody>
                  <a:tcPr>
                    <a:solidFill>
                      <a:srgbClr val="4338CA"/>
                    </a:solidFill>
                  </a:tcPr>
                </a:tc>
                <a:tc>
                  <a:txBody>
                    <a:bodyPr/>
                    <a:lstStyle/>
                    <a:p>
                      <a:r>
                        <a:rPr sz="1300" b="1">
                          <a:solidFill>
                            <a:srgbClr val="FFFFFF"/>
                          </a:solidFill>
                          <a:latin typeface="Calibri"/>
                        </a:rPr>
                        <a:t>Who</a:t>
                      </a:r>
                    </a:p>
                  </a:txBody>
                  <a:tcPr>
                    <a:solidFill>
                      <a:srgbClr val="4338CA"/>
                    </a:solidFill>
                  </a:tcPr>
                </a:tc>
                <a:tc>
                  <a:txBody>
                    <a:bodyPr/>
                    <a:lstStyle/>
                    <a:p>
                      <a:r>
                        <a:rPr sz="1300" b="1">
                          <a:solidFill>
                            <a:srgbClr val="FFFFFF"/>
                          </a:solidFill>
                          <a:latin typeface="Calibri"/>
                        </a:rPr>
                        <a:t>Model?</a:t>
                      </a:r>
                    </a:p>
                  </a:txBody>
                  <a:tcPr>
                    <a:solidFill>
                      <a:srgbClr val="4338CA"/>
                    </a:solidFill>
                  </a:tcPr>
                </a:tc>
                <a:tc>
                  <a:txBody>
                    <a:bodyPr/>
                    <a:lstStyle/>
                    <a:p>
                      <a:r>
                        <a:rPr sz="1300" b="1">
                          <a:solidFill>
                            <a:srgbClr val="FFFFFF"/>
                          </a:solidFill>
                          <a:latin typeface="Calibri"/>
                        </a:rPr>
                        <a:t>Why</a:t>
                      </a:r>
                    </a:p>
                  </a:txBody>
                  <a:tcPr>
                    <a:solidFill>
                      <a:srgbClr val="4338CA"/>
                    </a:solidFill>
                  </a:tcPr>
                </a:tc>
              </a:tr>
              <a:tr h="365760">
                <a:tc>
                  <a:txBody>
                    <a:bodyPr/>
                    <a:lstStyle/>
                    <a:p>
                      <a:r>
                        <a:rPr sz="1300" b="0">
                          <a:solidFill>
                            <a:srgbClr val="161A23"/>
                          </a:solidFill>
                          <a:latin typeface="Calibri"/>
                        </a:rPr>
                        <a:t>1</a:t>
                      </a:r>
                    </a:p>
                  </a:txBody>
                  <a:tcPr>
                    <a:solidFill>
                      <a:srgbClr val="FFFFFF"/>
                    </a:solidFill>
                  </a:tcPr>
                </a:tc>
                <a:tc>
                  <a:txBody>
                    <a:bodyPr/>
                    <a:lstStyle/>
                    <a:p>
                      <a:r>
                        <a:rPr sz="1300" b="0">
                          <a:solidFill>
                            <a:srgbClr val="161A23"/>
                          </a:solidFill>
                          <a:latin typeface="Calibri"/>
                        </a:rPr>
                        <a:t>Conversational agent</a:t>
                      </a:r>
                    </a:p>
                  </a:txBody>
                  <a:tcPr>
                    <a:solidFill>
                      <a:srgbClr val="FFFFFF"/>
                    </a:solidFill>
                  </a:tcPr>
                </a:tc>
                <a:tc>
                  <a:txBody>
                    <a:bodyPr/>
                    <a:lstStyle/>
                    <a:p>
                      <a:r>
                        <a:rPr sz="1300" b="0">
                          <a:solidFill>
                            <a:srgbClr val="161A23"/>
                          </a:solidFill>
                          <a:latin typeface="Calibri"/>
                        </a:rPr>
                        <a:t>yes</a:t>
                      </a:r>
                    </a:p>
                  </a:txBody>
                  <a:tcPr>
                    <a:solidFill>
                      <a:srgbClr val="FFFFFF"/>
                    </a:solidFill>
                  </a:tcPr>
                </a:tc>
                <a:tc>
                  <a:txBody>
                    <a:bodyPr/>
                    <a:lstStyle/>
                    <a:p>
                      <a:r>
                        <a:rPr sz="1300" b="0">
                          <a:solidFill>
                            <a:srgbClr val="161A23"/>
                          </a:solidFill>
                          <a:latin typeface="Calibri"/>
                        </a:rPr>
                        <a:t>Reads a request written however a person writes it</a:t>
                      </a:r>
                    </a:p>
                  </a:txBody>
                  <a:tcPr>
                    <a:solidFill>
                      <a:srgbClr val="FFFFFF"/>
                    </a:solidFill>
                  </a:tcPr>
                </a:tc>
              </a:tr>
              <a:tr h="365760">
                <a:tc>
                  <a:txBody>
                    <a:bodyPr/>
                    <a:lstStyle/>
                    <a:p>
                      <a:r>
                        <a:rPr sz="1300" b="0">
                          <a:solidFill>
                            <a:srgbClr val="161A23"/>
                          </a:solidFill>
                          <a:latin typeface="Calibri"/>
                        </a:rPr>
                        <a:t>2</a:t>
                      </a:r>
                    </a:p>
                  </a:txBody>
                  <a:tcPr>
                    <a:solidFill>
                      <a:srgbClr val="F7F8FC"/>
                    </a:solidFill>
                  </a:tcPr>
                </a:tc>
                <a:tc>
                  <a:txBody>
                    <a:bodyPr/>
                    <a:lstStyle/>
                    <a:p>
                      <a:r>
                        <a:rPr sz="1300" b="0">
                          <a:solidFill>
                            <a:srgbClr val="161A23"/>
                          </a:solidFill>
                          <a:latin typeface="Calibri"/>
                        </a:rPr>
                        <a:t>Preferences extractor</a:t>
                      </a:r>
                    </a:p>
                  </a:txBody>
                  <a:tcPr>
                    <a:solidFill>
                      <a:srgbClr val="F7F8FC"/>
                    </a:solidFill>
                  </a:tcPr>
                </a:tc>
                <a:tc>
                  <a:txBody>
                    <a:bodyPr/>
                    <a:lstStyle/>
                    <a:p>
                      <a:r>
                        <a:rPr sz="1300" b="0">
                          <a:solidFill>
                            <a:srgbClr val="161A23"/>
                          </a:solidFill>
                          <a:latin typeface="Calibri"/>
                        </a:rPr>
                        <a:t>yes</a:t>
                      </a:r>
                    </a:p>
                  </a:txBody>
                  <a:tcPr>
                    <a:solidFill>
                      <a:srgbClr val="F7F8FC"/>
                    </a:solidFill>
                  </a:tcPr>
                </a:tc>
                <a:tc>
                  <a:txBody>
                    <a:bodyPr/>
                    <a:lstStyle/>
                    <a:p>
                      <a:r>
                        <a:rPr sz="1300" b="0">
                          <a:solidFill>
                            <a:srgbClr val="161A23"/>
                          </a:solidFill>
                          <a:latin typeface="Calibri"/>
                        </a:rPr>
                        <a:t>Free text to typed fields, then the budget is checked</a:t>
                      </a:r>
                    </a:p>
                  </a:txBody>
                  <a:tcPr>
                    <a:solidFill>
                      <a:srgbClr val="F7F8FC"/>
                    </a:solidFill>
                  </a:tcPr>
                </a:tc>
              </a:tr>
              <a:tr h="365760">
                <a:tc>
                  <a:txBody>
                    <a:bodyPr/>
                    <a:lstStyle/>
                    <a:p>
                      <a:r>
                        <a:rPr sz="1300" b="0">
                          <a:solidFill>
                            <a:srgbClr val="161A23"/>
                          </a:solidFill>
                          <a:latin typeface="Calibri"/>
                        </a:rPr>
                        <a:t>3</a:t>
                      </a:r>
                    </a:p>
                  </a:txBody>
                  <a:tcPr>
                    <a:solidFill>
                      <a:srgbClr val="FFFFFF"/>
                    </a:solidFill>
                  </a:tcPr>
                </a:tc>
                <a:tc>
                  <a:txBody>
                    <a:bodyPr/>
                    <a:lstStyle/>
                    <a:p>
                      <a:r>
                        <a:rPr sz="1300" b="0">
                          <a:solidFill>
                            <a:srgbClr val="161A23"/>
                          </a:solidFill>
                          <a:latin typeface="Calibri"/>
                        </a:rPr>
                        <a:t>Flights · hotels · attractions · restaurants</a:t>
                      </a:r>
                    </a:p>
                  </a:txBody>
                  <a:tcPr>
                    <a:solidFill>
                      <a:srgbClr val="FFFFFF"/>
                    </a:solidFill>
                  </a:tcPr>
                </a:tc>
                <a:tc>
                  <a:txBody>
                    <a:bodyPr/>
                    <a:lstStyle/>
                    <a:p>
                      <a:r>
                        <a:rPr sz="1300" b="0">
                          <a:solidFill>
                            <a:srgbClr val="161A23"/>
                          </a:solidFill>
                          <a:latin typeface="Calibri"/>
                        </a:rPr>
                        <a:t>no</a:t>
                      </a:r>
                    </a:p>
                  </a:txBody>
                  <a:tcPr>
                    <a:solidFill>
                      <a:srgbClr val="FFFFFF"/>
                    </a:solidFill>
                  </a:tcPr>
                </a:tc>
                <a:tc>
                  <a:txBody>
                    <a:bodyPr/>
                    <a:lstStyle/>
                    <a:p>
                      <a:r>
                        <a:rPr sz="1300" b="0">
                          <a:solidFill>
                            <a:srgbClr val="161A23"/>
                          </a:solidFill>
                          <a:latin typeface="Calibri"/>
                        </a:rPr>
                        <a:t>One correct call each. An if statement decides, not a model</a:t>
                      </a:r>
                    </a:p>
                  </a:txBody>
                  <a:tcPr>
                    <a:solidFill>
                      <a:srgbClr val="FFFFFF"/>
                    </a:solidFill>
                  </a:tcPr>
                </a:tc>
              </a:tr>
              <a:tr h="365760">
                <a:tc>
                  <a:txBody>
                    <a:bodyPr/>
                    <a:lstStyle/>
                    <a:p>
                      <a:r>
                        <a:rPr sz="1300" b="0">
                          <a:solidFill>
                            <a:srgbClr val="161A23"/>
                          </a:solidFill>
                          <a:latin typeface="Calibri"/>
                        </a:rPr>
                        <a:t>4</a:t>
                      </a:r>
                    </a:p>
                  </a:txBody>
                  <a:tcPr>
                    <a:solidFill>
                      <a:srgbClr val="F7F8FC"/>
                    </a:solidFill>
                  </a:tcPr>
                </a:tc>
                <a:tc>
                  <a:txBody>
                    <a:bodyPr/>
                    <a:lstStyle/>
                    <a:p>
                      <a:r>
                        <a:rPr sz="1300" b="0">
                          <a:solidFill>
                            <a:srgbClr val="161A23"/>
                          </a:solidFill>
                          <a:latin typeface="Calibri"/>
                        </a:rPr>
                        <a:t>Itinerary coordinator</a:t>
                      </a:r>
                    </a:p>
                  </a:txBody>
                  <a:tcPr>
                    <a:solidFill>
                      <a:srgbClr val="F7F8FC"/>
                    </a:solidFill>
                  </a:tcPr>
                </a:tc>
                <a:tc>
                  <a:txBody>
                    <a:bodyPr/>
                    <a:lstStyle/>
                    <a:p>
                      <a:r>
                        <a:rPr sz="1300" b="0">
                          <a:solidFill>
                            <a:srgbClr val="161A23"/>
                          </a:solidFill>
                          <a:latin typeface="Calibri"/>
                        </a:rPr>
                        <a:t>yes</a:t>
                      </a:r>
                    </a:p>
                  </a:txBody>
                  <a:tcPr>
                    <a:solidFill>
                      <a:srgbClr val="F7F8FC"/>
                    </a:solidFill>
                  </a:tcPr>
                </a:tc>
                <a:tc>
                  <a:txBody>
                    <a:bodyPr/>
                    <a:lstStyle/>
                    <a:p>
                      <a:r>
                        <a:rPr sz="1300" b="0">
                          <a:solidFill>
                            <a:srgbClr val="161A23"/>
                          </a:solidFill>
                          <a:latin typeface="Calibri"/>
                        </a:rPr>
                        <a:t>Arranges retrieved options into a sensible day-by-day plan</a:t>
                      </a:r>
                    </a:p>
                  </a:txBody>
                  <a:tcPr>
                    <a:solidFill>
                      <a:srgbClr val="F7F8FC"/>
                    </a:solidFill>
                  </a:tcPr>
                </a:tc>
              </a:tr>
            </a:tbl>
          </a:graphicData>
        </a:graphic>
      </p:graphicFrame>
      <p:sp>
        <p:nvSpPr>
          <p:cNvPr id="6" name="TextBox 5"/>
          <p:cNvSpPr txBox="1"/>
          <p:nvPr/>
        </p:nvSpPr>
        <p:spPr>
          <a:xfrm>
            <a:off x="822960" y="5029200"/>
            <a:ext cx="10515600" cy="1005840"/>
          </a:xfrm>
          <a:prstGeom prst="rect">
            <a:avLst/>
          </a:prstGeom>
          <a:noFill/>
        </p:spPr>
        <p:txBody>
          <a:bodyPr wrap="square" anchor="t">
            <a:spAutoFit/>
          </a:bodyPr>
          <a:lstStyle/>
          <a:p>
            <a:pPr algn="l">
              <a:lnSpc>
                <a:spcPct val="125000"/>
              </a:lnSpc>
            </a:pPr>
            <a:r>
              <a:rPr sz="1800" b="1">
                <a:solidFill>
                  <a:srgbClr val="161A23"/>
                </a:solidFill>
                <a:latin typeface="Calibri"/>
              </a:rPr>
              <a:t>The test applied to every step: does this need a judgement that cannot be written as code?</a:t>
            </a:r>
          </a:p>
          <a:p>
            <a:pPr algn="l">
              <a:lnSpc>
                <a:spcPct val="125000"/>
              </a:lnSpc>
            </a:pPr>
            <a:r>
              <a:rPr sz="1600" b="0">
                <a:solidFill>
                  <a:srgbClr val="545C6E"/>
                </a:solidFill>
                <a:latin typeface="Calibri"/>
              </a:rPr>
              <a:t>Two steps do. Four do not. That is the whole design.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HOW IT WAS MEASURED</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Repeats, intervals, and no credentials</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2636443" cy="1188720"/>
          </a:xfrm>
          <a:prstGeom prst="rect">
            <a:avLst/>
          </a:prstGeom>
          <a:noFill/>
        </p:spPr>
        <p:txBody>
          <a:bodyPr wrap="square" anchor="t">
            <a:spAutoFit/>
          </a:bodyPr>
          <a:lstStyle/>
          <a:p>
            <a:pPr algn="ctr">
              <a:lnSpc>
                <a:spcPct val="100000"/>
              </a:lnSpc>
            </a:pPr>
            <a:r>
              <a:rPr sz="6000" b="1">
                <a:solidFill>
                  <a:srgbClr val="4338CA"/>
                </a:solidFill>
                <a:latin typeface="Calibri"/>
              </a:rPr>
              <a:t>5</a:t>
            </a:r>
          </a:p>
        </p:txBody>
      </p:sp>
      <p:sp>
        <p:nvSpPr>
          <p:cNvPr id="6" name="TextBox 5"/>
          <p:cNvSpPr txBox="1"/>
          <p:nvPr/>
        </p:nvSpPr>
        <p:spPr>
          <a:xfrm>
            <a:off x="822960" y="3246120"/>
            <a:ext cx="2636443" cy="731520"/>
          </a:xfrm>
          <a:prstGeom prst="rect">
            <a:avLst/>
          </a:prstGeom>
          <a:noFill/>
        </p:spPr>
        <p:txBody>
          <a:bodyPr wrap="square" anchor="t">
            <a:spAutoFit/>
          </a:bodyPr>
          <a:lstStyle/>
          <a:p>
            <a:pPr algn="ctr">
              <a:lnSpc>
                <a:spcPct val="100000"/>
              </a:lnSpc>
            </a:pPr>
            <a:r>
              <a:rPr sz="1400" b="0">
                <a:solidFill>
                  <a:srgbClr val="545C6E"/>
                </a:solidFill>
                <a:latin typeface="Calibri"/>
              </a:rPr>
              <a:t>runs per arm, so every
figure has an interval</a:t>
            </a:r>
          </a:p>
        </p:txBody>
      </p:sp>
      <p:sp>
        <p:nvSpPr>
          <p:cNvPr id="7" name="TextBox 6"/>
          <p:cNvSpPr txBox="1"/>
          <p:nvPr/>
        </p:nvSpPr>
        <p:spPr>
          <a:xfrm>
            <a:off x="3459403" y="2103120"/>
            <a:ext cx="2636443" cy="1188720"/>
          </a:xfrm>
          <a:prstGeom prst="rect">
            <a:avLst/>
          </a:prstGeom>
          <a:noFill/>
        </p:spPr>
        <p:txBody>
          <a:bodyPr wrap="square" anchor="t">
            <a:spAutoFit/>
          </a:bodyPr>
          <a:lstStyle/>
          <a:p>
            <a:pPr algn="ctr">
              <a:lnSpc>
                <a:spcPct val="100000"/>
              </a:lnSpc>
            </a:pPr>
            <a:r>
              <a:rPr sz="6000" b="1">
                <a:solidFill>
                  <a:srgbClr val="4338CA"/>
                </a:solidFill>
                <a:latin typeface="Calibri"/>
              </a:rPr>
              <a:t>1/20</a:t>
            </a:r>
          </a:p>
        </p:txBody>
      </p:sp>
      <p:sp>
        <p:nvSpPr>
          <p:cNvPr id="8" name="TextBox 7"/>
          <p:cNvSpPr txBox="1"/>
          <p:nvPr/>
        </p:nvSpPr>
        <p:spPr>
          <a:xfrm>
            <a:off x="3459403" y="3246120"/>
            <a:ext cx="2636443" cy="731520"/>
          </a:xfrm>
          <a:prstGeom prst="rect">
            <a:avLst/>
          </a:prstGeom>
          <a:noFill/>
        </p:spPr>
        <p:txBody>
          <a:bodyPr wrap="square" anchor="t">
            <a:spAutoFit/>
          </a:bodyPr>
          <a:lstStyle/>
          <a:p>
            <a:pPr algn="ctr">
              <a:lnSpc>
                <a:spcPct val="100000"/>
              </a:lnSpc>
            </a:pPr>
            <a:r>
              <a:rPr sz="1400" b="0">
                <a:solidFill>
                  <a:srgbClr val="545C6E"/>
                </a:solidFill>
                <a:latin typeface="Calibri"/>
              </a:rPr>
              <a:t>scenarios for the cost
comparison — quota-bound</a:t>
            </a:r>
          </a:p>
        </p:txBody>
      </p:sp>
      <p:sp>
        <p:nvSpPr>
          <p:cNvPr id="9" name="TextBox 8"/>
          <p:cNvSpPr txBox="1"/>
          <p:nvPr/>
        </p:nvSpPr>
        <p:spPr>
          <a:xfrm>
            <a:off x="6095847" y="2103120"/>
            <a:ext cx="2636443" cy="1188720"/>
          </a:xfrm>
          <a:prstGeom prst="rect">
            <a:avLst/>
          </a:prstGeom>
          <a:noFill/>
        </p:spPr>
        <p:txBody>
          <a:bodyPr wrap="square" anchor="t">
            <a:spAutoFit/>
          </a:bodyPr>
          <a:lstStyle/>
          <a:p>
            <a:pPr algn="ctr">
              <a:lnSpc>
                <a:spcPct val="100000"/>
              </a:lnSpc>
            </a:pPr>
            <a:r>
              <a:rPr sz="6000" b="1">
                <a:solidFill>
                  <a:srgbClr val="4338CA"/>
                </a:solidFill>
                <a:latin typeface="Calibri"/>
              </a:rPr>
              <a:t>30</a:t>
            </a:r>
          </a:p>
        </p:txBody>
      </p:sp>
      <p:sp>
        <p:nvSpPr>
          <p:cNvPr id="10" name="TextBox 9"/>
          <p:cNvSpPr txBox="1"/>
          <p:nvPr/>
        </p:nvSpPr>
        <p:spPr>
          <a:xfrm>
            <a:off x="6095847" y="3246120"/>
            <a:ext cx="2636443" cy="731520"/>
          </a:xfrm>
          <a:prstGeom prst="rect">
            <a:avLst/>
          </a:prstGeom>
          <a:noFill/>
        </p:spPr>
        <p:txBody>
          <a:bodyPr wrap="square" anchor="t">
            <a:spAutoFit/>
          </a:bodyPr>
          <a:lstStyle/>
          <a:p>
            <a:pPr algn="ctr">
              <a:lnSpc>
                <a:spcPct val="100000"/>
              </a:lnSpc>
            </a:pPr>
            <a:r>
              <a:rPr sz="1400" b="0">
                <a:solidFill>
                  <a:srgbClr val="545C6E"/>
                </a:solidFill>
                <a:latin typeface="Calibri"/>
              </a:rPr>
              <a:t>recorded API responses,
committed and replayable</a:t>
            </a:r>
          </a:p>
        </p:txBody>
      </p:sp>
      <p:sp>
        <p:nvSpPr>
          <p:cNvPr id="11" name="TextBox 10"/>
          <p:cNvSpPr txBox="1"/>
          <p:nvPr/>
        </p:nvSpPr>
        <p:spPr>
          <a:xfrm>
            <a:off x="8732291" y="2103120"/>
            <a:ext cx="2636443" cy="1188720"/>
          </a:xfrm>
          <a:prstGeom prst="rect">
            <a:avLst/>
          </a:prstGeom>
          <a:noFill/>
        </p:spPr>
        <p:txBody>
          <a:bodyPr wrap="square" anchor="t">
            <a:spAutoFit/>
          </a:bodyPr>
          <a:lstStyle/>
          <a:p>
            <a:pPr algn="ctr">
              <a:lnSpc>
                <a:spcPct val="100000"/>
              </a:lnSpc>
            </a:pPr>
            <a:r>
              <a:rPr sz="6000" b="1">
                <a:solidFill>
                  <a:srgbClr val="4338CA"/>
                </a:solidFill>
                <a:latin typeface="Calibri"/>
              </a:rPr>
              <a:t>393</a:t>
            </a:r>
          </a:p>
        </p:txBody>
      </p:sp>
      <p:sp>
        <p:nvSpPr>
          <p:cNvPr id="12" name="TextBox 11"/>
          <p:cNvSpPr txBox="1"/>
          <p:nvPr/>
        </p:nvSpPr>
        <p:spPr>
          <a:xfrm>
            <a:off x="8732291" y="3246120"/>
            <a:ext cx="2636443" cy="731520"/>
          </a:xfrm>
          <a:prstGeom prst="rect">
            <a:avLst/>
          </a:prstGeom>
          <a:noFill/>
        </p:spPr>
        <p:txBody>
          <a:bodyPr wrap="square" anchor="t">
            <a:spAutoFit/>
          </a:bodyPr>
          <a:lstStyle/>
          <a:p>
            <a:pPr algn="ctr">
              <a:lnSpc>
                <a:spcPct val="100000"/>
              </a:lnSpc>
            </a:pPr>
            <a:r>
              <a:rPr sz="1400" b="0">
                <a:solidFill>
                  <a:srgbClr val="545C6E"/>
                </a:solidFill>
                <a:latin typeface="Calibri"/>
              </a:rPr>
              <a:t>tests, no keys
and no network</a:t>
            </a:r>
          </a:p>
        </p:txBody>
      </p:sp>
      <p:sp>
        <p:nvSpPr>
          <p:cNvPr id="13" name="TextBox 12"/>
          <p:cNvSpPr txBox="1"/>
          <p:nvPr/>
        </p:nvSpPr>
        <p:spPr>
          <a:xfrm>
            <a:off x="822960" y="4937760"/>
            <a:ext cx="10515600" cy="1097280"/>
          </a:xfrm>
          <a:prstGeom prst="rect">
            <a:avLst/>
          </a:prstGeom>
          <a:noFill/>
        </p:spPr>
        <p:txBody>
          <a:bodyPr wrap="square" anchor="t">
            <a:spAutoFit/>
          </a:bodyPr>
          <a:lstStyle/>
          <a:p>
            <a:pPr algn="l">
              <a:lnSpc>
                <a:spcPct val="130000"/>
              </a:lnSpc>
            </a:pPr>
            <a:r>
              <a:rPr sz="1700" b="0">
                <a:solidFill>
                  <a:srgbClr val="545C6E"/>
                </a:solidFill>
                <a:latin typeface="Calibri"/>
              </a:rPr>
              <a:t>Model requests counted from provider callbacks, never by hand.</a:t>
            </a:r>
          </a:p>
          <a:p>
            <a:pPr algn="l">
              <a:lnSpc>
                <a:spcPct val="130000"/>
              </a:lnSpc>
            </a:pPr>
            <a:r>
              <a:rPr sz="1700" b="0">
                <a:solidFill>
                  <a:srgbClr val="545C6E"/>
                </a:solidFill>
                <a:latin typeface="Calibri"/>
              </a:rPr>
              <a:t>Coverage is stated on every chart rather than smoothed over.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RESULT · COST</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The retrieval layer is where the money goes</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fficiency.png"/>
          <p:cNvPicPr>
            <a:picLocks noChangeAspect="1"/>
          </p:cNvPicPr>
          <p:nvPr/>
        </p:nvPicPr>
        <p:blipFill>
          <a:blip r:embed="rId2"/>
          <a:stretch>
            <a:fillRect/>
          </a:stretch>
        </p:blipFill>
        <p:spPr>
          <a:xfrm>
            <a:off x="2692927" y="1783080"/>
            <a:ext cx="6805840" cy="4023360"/>
          </a:xfrm>
          <a:prstGeom prst="rect">
            <a:avLst/>
          </a:prstGeom>
        </p:spPr>
      </p:pic>
      <p:sp>
        <p:nvSpPr>
          <p:cNvPr id="6" name="TextBox 5"/>
          <p:cNvSpPr txBox="1"/>
          <p:nvPr/>
        </p:nvSpPr>
        <p:spPr>
          <a:xfrm>
            <a:off x="822960" y="5943600"/>
            <a:ext cx="10515600" cy="548640"/>
          </a:xfrm>
          <a:prstGeom prst="rect">
            <a:avLst/>
          </a:prstGeom>
          <a:noFill/>
        </p:spPr>
        <p:txBody>
          <a:bodyPr wrap="square" anchor="t">
            <a:spAutoFit/>
          </a:bodyPr>
          <a:lstStyle/>
          <a:p>
            <a:pPr algn="l">
              <a:lnSpc>
                <a:spcPct val="100000"/>
              </a:lnSpc>
            </a:pPr>
            <a:r>
              <a:rPr sz="1600" b="1">
                <a:solidFill>
                  <a:srgbClr val="161A23"/>
                </a:solidFill>
                <a:latin typeface="Calibri"/>
              </a:rPr>
              <a:t>B 120,703 tokens  →  D 7,840.  Same task, same data, same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RESULT · TUNING VS ARCHITECTURE</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Configuration is not the same as design</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uning_effect.png"/>
          <p:cNvPicPr>
            <a:picLocks noChangeAspect="1"/>
          </p:cNvPicPr>
          <p:nvPr/>
        </p:nvPicPr>
        <p:blipFill>
          <a:blip r:embed="rId2"/>
          <a:stretch>
            <a:fillRect/>
          </a:stretch>
        </p:blipFill>
        <p:spPr>
          <a:xfrm>
            <a:off x="-465761" y="1783080"/>
            <a:ext cx="13123217" cy="4023360"/>
          </a:xfrm>
          <a:prstGeom prst="rect">
            <a:avLst/>
          </a:prstGeom>
        </p:spPr>
      </p:pic>
      <p:sp>
        <p:nvSpPr>
          <p:cNvPr id="6" name="TextBox 5"/>
          <p:cNvSpPr txBox="1"/>
          <p:nvPr/>
        </p:nvSpPr>
        <p:spPr>
          <a:xfrm>
            <a:off x="822960" y="5943600"/>
            <a:ext cx="10515600" cy="548640"/>
          </a:xfrm>
          <a:prstGeom prst="rect">
            <a:avLst/>
          </a:prstGeom>
          <a:noFill/>
        </p:spPr>
        <p:txBody>
          <a:bodyPr wrap="square" anchor="t">
            <a:spAutoFit/>
          </a:bodyPr>
          <a:lstStyle/>
          <a:p>
            <a:pPr algn="l">
              <a:lnSpc>
                <a:spcPct val="100000"/>
              </a:lnSpc>
            </a:pPr>
            <a:r>
              <a:rPr sz="1600" b="1">
                <a:solidFill>
                  <a:srgbClr val="161A23"/>
                </a:solidFill>
                <a:latin typeface="Calibri"/>
              </a:rPr>
              <a:t>Tuning alone: 89% fewer tokens. Changing the architecture: 94%.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RESULT · GROUNDEDNESS</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Cheaper, and no less real</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roundedness.png"/>
          <p:cNvPicPr>
            <a:picLocks noChangeAspect="1"/>
          </p:cNvPicPr>
          <p:nvPr/>
        </p:nvPicPr>
        <p:blipFill>
          <a:blip r:embed="rId2"/>
          <a:stretch>
            <a:fillRect/>
          </a:stretch>
        </p:blipFill>
        <p:spPr>
          <a:xfrm>
            <a:off x="-115629" y="1783080"/>
            <a:ext cx="12422953" cy="4023360"/>
          </a:xfrm>
          <a:prstGeom prst="rect">
            <a:avLst/>
          </a:prstGeom>
        </p:spPr>
      </p:pic>
      <p:sp>
        <p:nvSpPr>
          <p:cNvPr id="6" name="TextBox 5"/>
          <p:cNvSpPr txBox="1"/>
          <p:nvPr/>
        </p:nvSpPr>
        <p:spPr>
          <a:xfrm>
            <a:off x="822960" y="5943600"/>
            <a:ext cx="10515600" cy="548640"/>
          </a:xfrm>
          <a:prstGeom prst="rect">
            <a:avLst/>
          </a:prstGeom>
          <a:noFill/>
        </p:spPr>
        <p:txBody>
          <a:bodyPr wrap="square" anchor="t">
            <a:spAutoFit/>
          </a:bodyPr>
          <a:lstStyle/>
          <a:p>
            <a:pPr algn="l">
              <a:lnSpc>
                <a:spcPct val="100000"/>
              </a:lnSpc>
            </a:pPr>
            <a:r>
              <a:rPr sz="1600" b="1">
                <a:solidFill>
                  <a:srgbClr val="161A23"/>
                </a:solidFill>
                <a:latin typeface="Calibri"/>
              </a:rPr>
              <a:t>Prices traceable to retrieved data — A 1.7%  ·  B 22.9%  ·  C 56.3%  ·  D 46.6%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FINDINGS THAT WERE NOT FLATTERING</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Two things I built do not do what I claimed</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5272887" cy="1188720"/>
          </a:xfrm>
          <a:prstGeom prst="rect">
            <a:avLst/>
          </a:prstGeom>
          <a:noFill/>
        </p:spPr>
        <p:txBody>
          <a:bodyPr wrap="square" anchor="t">
            <a:spAutoFit/>
          </a:bodyPr>
          <a:lstStyle/>
          <a:p>
            <a:pPr algn="ctr">
              <a:lnSpc>
                <a:spcPct val="100000"/>
              </a:lnSpc>
            </a:pPr>
            <a:r>
              <a:rPr sz="6000" b="1">
                <a:solidFill>
                  <a:srgbClr val="A85B00"/>
                </a:solidFill>
                <a:latin typeface="Calibri"/>
              </a:rPr>
              <a:t>3/9</a:t>
            </a:r>
          </a:p>
        </p:txBody>
      </p:sp>
      <p:sp>
        <p:nvSpPr>
          <p:cNvPr id="6" name="TextBox 5"/>
          <p:cNvSpPr txBox="1"/>
          <p:nvPr/>
        </p:nvSpPr>
        <p:spPr>
          <a:xfrm>
            <a:off x="822960" y="3246120"/>
            <a:ext cx="5272887" cy="731520"/>
          </a:xfrm>
          <a:prstGeom prst="rect">
            <a:avLst/>
          </a:prstGeom>
          <a:noFill/>
        </p:spPr>
        <p:txBody>
          <a:bodyPr wrap="square" anchor="t">
            <a:spAutoFit/>
          </a:bodyPr>
          <a:lstStyle/>
          <a:p>
            <a:pPr algn="ctr">
              <a:lnSpc>
                <a:spcPct val="100000"/>
              </a:lnSpc>
            </a:pPr>
            <a:r>
              <a:rPr sz="1400" b="0">
                <a:solidFill>
                  <a:srgbClr val="545C6E"/>
                </a:solidFill>
                <a:latin typeface="Calibri"/>
              </a:rPr>
              <a:t>protocol conformance checks pass.
Priority is declared, never honoured</a:t>
            </a:r>
          </a:p>
        </p:txBody>
      </p:sp>
      <p:sp>
        <p:nvSpPr>
          <p:cNvPr id="7" name="TextBox 6"/>
          <p:cNvSpPr txBox="1"/>
          <p:nvPr/>
        </p:nvSpPr>
        <p:spPr>
          <a:xfrm>
            <a:off x="6095847" y="2103120"/>
            <a:ext cx="5272887" cy="1188720"/>
          </a:xfrm>
          <a:prstGeom prst="rect">
            <a:avLst/>
          </a:prstGeom>
          <a:noFill/>
        </p:spPr>
        <p:txBody>
          <a:bodyPr wrap="square" anchor="t">
            <a:spAutoFit/>
          </a:bodyPr>
          <a:lstStyle/>
          <a:p>
            <a:pPr algn="ctr">
              <a:lnSpc>
                <a:spcPct val="100000"/>
              </a:lnSpc>
            </a:pPr>
            <a:r>
              <a:rPr sz="6000" b="1">
                <a:solidFill>
                  <a:srgbClr val="A85B00"/>
                </a:solidFill>
                <a:latin typeface="Calibri"/>
              </a:rPr>
              <a:t>0.643</a:t>
            </a:r>
          </a:p>
        </p:txBody>
      </p:sp>
      <p:sp>
        <p:nvSpPr>
          <p:cNvPr id="8" name="TextBox 7"/>
          <p:cNvSpPr txBox="1"/>
          <p:nvPr/>
        </p:nvSpPr>
        <p:spPr>
          <a:xfrm>
            <a:off x="6095847" y="3246120"/>
            <a:ext cx="5272887" cy="731520"/>
          </a:xfrm>
          <a:prstGeom prst="rect">
            <a:avLst/>
          </a:prstGeom>
          <a:noFill/>
        </p:spPr>
        <p:txBody>
          <a:bodyPr wrap="square" anchor="t">
            <a:spAutoFit/>
          </a:bodyPr>
          <a:lstStyle/>
          <a:p>
            <a:pPr algn="ctr">
              <a:lnSpc>
                <a:spcPct val="100000"/>
              </a:lnSpc>
            </a:pPr>
            <a:r>
              <a:rPr sz="1400" b="0">
                <a:solidFill>
                  <a:srgbClr val="545C6E"/>
                </a:solidFill>
                <a:latin typeface="Calibri"/>
              </a:rPr>
              <a:t>Cohen's kappa on the budget gate.
Moderate, not good</a:t>
            </a:r>
          </a:p>
        </p:txBody>
      </p:sp>
      <p:sp>
        <p:nvSpPr>
          <p:cNvPr id="9" name="TextBox 8"/>
          <p:cNvSpPr txBox="1"/>
          <p:nvPr/>
        </p:nvSpPr>
        <p:spPr>
          <a:xfrm>
            <a:off x="822960" y="4846320"/>
            <a:ext cx="10515600" cy="1280160"/>
          </a:xfrm>
          <a:prstGeom prst="rect">
            <a:avLst/>
          </a:prstGeom>
          <a:noFill/>
        </p:spPr>
        <p:txBody>
          <a:bodyPr wrap="square" anchor="t">
            <a:spAutoFit/>
          </a:bodyPr>
          <a:lstStyle/>
          <a:p>
            <a:pPr algn="l">
              <a:lnSpc>
                <a:spcPct val="125000"/>
              </a:lnSpc>
            </a:pPr>
            <a:r>
              <a:rPr sz="2000" b="1">
                <a:solidFill>
                  <a:srgbClr val="161A23"/>
                </a:solidFill>
                <a:latin typeface="Calibri"/>
              </a:rPr>
              <a:t>Both are reported rather than quietly fixed.</a:t>
            </a:r>
          </a:p>
          <a:p>
            <a:pPr algn="l">
              <a:lnSpc>
                <a:spcPct val="125000"/>
              </a:lnSpc>
            </a:pPr>
            <a:r>
              <a:rPr sz="1600" b="0">
                <a:solidFill>
                  <a:srgbClr val="545C6E"/>
                </a:solidFill>
                <a:latin typeface="Calibri"/>
              </a:rPr>
              <a:t>The gate misses 1 of 2 impossible budgets — recall 0.5, precision 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RISK</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The binding constraint was never difficulty</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30</a:t>
            </a:r>
          </a:p>
        </p:txBody>
      </p:sp>
      <p:sp>
        <p:nvSpPr>
          <p:cNvPr id="6" name="TextBox 5"/>
          <p:cNvSpPr txBox="1"/>
          <p:nvPr/>
        </p:nvSpPr>
        <p:spPr>
          <a:xfrm>
            <a:off x="822960"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flight searches a month.
One search costs two</a:t>
            </a:r>
          </a:p>
        </p:txBody>
      </p:sp>
      <p:sp>
        <p:nvSpPr>
          <p:cNvPr id="7" name="TextBox 6"/>
          <p:cNvSpPr txBox="1"/>
          <p:nvPr/>
        </p:nvSpPr>
        <p:spPr>
          <a:xfrm>
            <a:off x="4338218"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50</a:t>
            </a:r>
          </a:p>
        </p:txBody>
      </p:sp>
      <p:sp>
        <p:nvSpPr>
          <p:cNvPr id="8" name="TextBox 7"/>
          <p:cNvSpPr txBox="1"/>
          <p:nvPr/>
        </p:nvSpPr>
        <p:spPr>
          <a:xfrm>
            <a:off x="4338218"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hotel searches a month.
Free tier, no top-up</a:t>
            </a:r>
          </a:p>
        </p:txBody>
      </p:sp>
      <p:sp>
        <p:nvSpPr>
          <p:cNvPr id="9" name="TextBox 8"/>
          <p:cNvSpPr txBox="1"/>
          <p:nvPr/>
        </p:nvSpPr>
        <p:spPr>
          <a:xfrm>
            <a:off x="7853476" y="2103120"/>
            <a:ext cx="3515258" cy="1188720"/>
          </a:xfrm>
          <a:prstGeom prst="rect">
            <a:avLst/>
          </a:prstGeom>
          <a:noFill/>
        </p:spPr>
        <p:txBody>
          <a:bodyPr wrap="square" anchor="t">
            <a:spAutoFit/>
          </a:bodyPr>
          <a:lstStyle/>
          <a:p>
            <a:pPr algn="ctr">
              <a:lnSpc>
                <a:spcPct val="100000"/>
              </a:lnSpc>
            </a:pPr>
            <a:r>
              <a:rPr sz="6000" b="1">
                <a:solidFill>
                  <a:srgbClr val="A85B00"/>
                </a:solidFill>
                <a:latin typeface="Calibri"/>
              </a:rPr>
              <a:t>30</a:t>
            </a:r>
          </a:p>
        </p:txBody>
      </p:sp>
      <p:sp>
        <p:nvSpPr>
          <p:cNvPr id="10" name="TextBox 9"/>
          <p:cNvSpPr txBox="1"/>
          <p:nvPr/>
        </p:nvSpPr>
        <p:spPr>
          <a:xfrm>
            <a:off x="7853476" y="3246120"/>
            <a:ext cx="3515258" cy="731520"/>
          </a:xfrm>
          <a:prstGeom prst="rect">
            <a:avLst/>
          </a:prstGeom>
          <a:noFill/>
        </p:spPr>
        <p:txBody>
          <a:bodyPr wrap="square" anchor="t">
            <a:spAutoFit/>
          </a:bodyPr>
          <a:lstStyle/>
          <a:p>
            <a:pPr algn="ctr">
              <a:lnSpc>
                <a:spcPct val="100000"/>
              </a:lnSpc>
            </a:pPr>
            <a:r>
              <a:rPr sz="1400" b="0">
                <a:solidFill>
                  <a:srgbClr val="545C6E"/>
                </a:solidFill>
                <a:latin typeface="Calibri"/>
              </a:rPr>
              <a:t>responses recorded once,
replayed for ever</a:t>
            </a:r>
          </a:p>
        </p:txBody>
      </p:sp>
      <p:sp>
        <p:nvSpPr>
          <p:cNvPr id="11" name="TextBox 10"/>
          <p:cNvSpPr txBox="1"/>
          <p:nvPr/>
        </p:nvSpPr>
        <p:spPr>
          <a:xfrm>
            <a:off x="822960" y="4846320"/>
            <a:ext cx="10515600" cy="1280160"/>
          </a:xfrm>
          <a:prstGeom prst="rect">
            <a:avLst/>
          </a:prstGeom>
          <a:noFill/>
        </p:spPr>
        <p:txBody>
          <a:bodyPr wrap="square" anchor="t">
            <a:spAutoFit/>
          </a:bodyPr>
          <a:lstStyle/>
          <a:p>
            <a:pPr algn="l">
              <a:lnSpc>
                <a:spcPct val="125000"/>
              </a:lnSpc>
            </a:pPr>
            <a:r>
              <a:rPr sz="2000" b="1">
                <a:solidFill>
                  <a:srgbClr val="161A23"/>
                </a:solidFill>
                <a:latin typeface="Calibri"/>
              </a:rPr>
              <a:t>Exhausting the quota is not a delay. It is a month-long stop.</a:t>
            </a:r>
          </a:p>
          <a:p>
            <a:pPr algn="l">
              <a:lnSpc>
                <a:spcPct val="125000"/>
              </a:lnSpc>
            </a:pPr>
            <a:r>
              <a:rPr sz="1600" b="0">
                <a:solidFill>
                  <a:srgbClr val="545C6E"/>
                </a:solidFill>
                <a:latin typeface="Calibri"/>
              </a:rPr>
              <a:t>Record-and-replay plus a hard live-call ceiling protected reproducibility — not breadth.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THE ARTEFACT</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A working planner, not only an experiment</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03120"/>
            <a:ext cx="2636443" cy="1188720"/>
          </a:xfrm>
          <a:prstGeom prst="rect">
            <a:avLst/>
          </a:prstGeom>
          <a:noFill/>
        </p:spPr>
        <p:txBody>
          <a:bodyPr wrap="square" anchor="t">
            <a:spAutoFit/>
          </a:bodyPr>
          <a:lstStyle/>
          <a:p>
            <a:pPr algn="ctr">
              <a:lnSpc>
                <a:spcPct val="100000"/>
              </a:lnSpc>
            </a:pPr>
            <a:r>
              <a:rPr sz="6000" b="1">
                <a:solidFill>
                  <a:srgbClr val="4338CA"/>
                </a:solidFill>
                <a:latin typeface="Calibri"/>
              </a:rPr>
              <a:t>8,591</a:t>
            </a:r>
          </a:p>
        </p:txBody>
      </p:sp>
      <p:sp>
        <p:nvSpPr>
          <p:cNvPr id="6" name="TextBox 5"/>
          <p:cNvSpPr txBox="1"/>
          <p:nvPr/>
        </p:nvSpPr>
        <p:spPr>
          <a:xfrm>
            <a:off x="822960" y="3246120"/>
            <a:ext cx="2636443" cy="731520"/>
          </a:xfrm>
          <a:prstGeom prst="rect">
            <a:avLst/>
          </a:prstGeom>
          <a:noFill/>
        </p:spPr>
        <p:txBody>
          <a:bodyPr wrap="square" anchor="t">
            <a:spAutoFit/>
          </a:bodyPr>
          <a:lstStyle/>
          <a:p>
            <a:pPr algn="ctr">
              <a:lnSpc>
                <a:spcPct val="100000"/>
              </a:lnSpc>
            </a:pPr>
            <a:r>
              <a:rPr sz="1400" b="0">
                <a:solidFill>
                  <a:srgbClr val="545C6E"/>
                </a:solidFill>
                <a:latin typeface="Calibri"/>
              </a:rPr>
              <a:t>lines in the system</a:t>
            </a:r>
          </a:p>
        </p:txBody>
      </p:sp>
      <p:sp>
        <p:nvSpPr>
          <p:cNvPr id="7" name="TextBox 6"/>
          <p:cNvSpPr txBox="1"/>
          <p:nvPr/>
        </p:nvSpPr>
        <p:spPr>
          <a:xfrm>
            <a:off x="3459403" y="2103120"/>
            <a:ext cx="2636443" cy="1188720"/>
          </a:xfrm>
          <a:prstGeom prst="rect">
            <a:avLst/>
          </a:prstGeom>
          <a:noFill/>
        </p:spPr>
        <p:txBody>
          <a:bodyPr wrap="square" anchor="t">
            <a:spAutoFit/>
          </a:bodyPr>
          <a:lstStyle/>
          <a:p>
            <a:pPr algn="ctr">
              <a:lnSpc>
                <a:spcPct val="100000"/>
              </a:lnSpc>
            </a:pPr>
            <a:r>
              <a:rPr sz="6000" b="1">
                <a:solidFill>
                  <a:srgbClr val="4338CA"/>
                </a:solidFill>
                <a:latin typeface="Calibri"/>
              </a:rPr>
              <a:t>393</a:t>
            </a:r>
          </a:p>
        </p:txBody>
      </p:sp>
      <p:sp>
        <p:nvSpPr>
          <p:cNvPr id="8" name="TextBox 7"/>
          <p:cNvSpPr txBox="1"/>
          <p:nvPr/>
        </p:nvSpPr>
        <p:spPr>
          <a:xfrm>
            <a:off x="3459403" y="3246120"/>
            <a:ext cx="2636443" cy="731520"/>
          </a:xfrm>
          <a:prstGeom prst="rect">
            <a:avLst/>
          </a:prstGeom>
          <a:noFill/>
        </p:spPr>
        <p:txBody>
          <a:bodyPr wrap="square" anchor="t">
            <a:spAutoFit/>
          </a:bodyPr>
          <a:lstStyle/>
          <a:p>
            <a:pPr algn="ctr">
              <a:lnSpc>
                <a:spcPct val="100000"/>
              </a:lnSpc>
            </a:pPr>
            <a:r>
              <a:rPr sz="1400" b="0">
                <a:solidFill>
                  <a:srgbClr val="545C6E"/>
                </a:solidFill>
                <a:latin typeface="Calibri"/>
              </a:rPr>
              <a:t>tests, all passing</a:t>
            </a:r>
          </a:p>
        </p:txBody>
      </p:sp>
      <p:sp>
        <p:nvSpPr>
          <p:cNvPr id="9" name="TextBox 8"/>
          <p:cNvSpPr txBox="1"/>
          <p:nvPr/>
        </p:nvSpPr>
        <p:spPr>
          <a:xfrm>
            <a:off x="6095847" y="2103120"/>
            <a:ext cx="2636443" cy="1188720"/>
          </a:xfrm>
          <a:prstGeom prst="rect">
            <a:avLst/>
          </a:prstGeom>
          <a:noFill/>
        </p:spPr>
        <p:txBody>
          <a:bodyPr wrap="square" anchor="t">
            <a:spAutoFit/>
          </a:bodyPr>
          <a:lstStyle/>
          <a:p>
            <a:pPr algn="ctr">
              <a:lnSpc>
                <a:spcPct val="100000"/>
              </a:lnSpc>
            </a:pPr>
            <a:r>
              <a:rPr sz="6000" b="1">
                <a:solidFill>
                  <a:srgbClr val="4338CA"/>
                </a:solidFill>
                <a:latin typeface="Calibri"/>
              </a:rPr>
              <a:t>12</a:t>
            </a:r>
          </a:p>
        </p:txBody>
      </p:sp>
      <p:sp>
        <p:nvSpPr>
          <p:cNvPr id="10" name="TextBox 9"/>
          <p:cNvSpPr txBox="1"/>
          <p:nvPr/>
        </p:nvSpPr>
        <p:spPr>
          <a:xfrm>
            <a:off x="6095847" y="3246120"/>
            <a:ext cx="2636443" cy="731520"/>
          </a:xfrm>
          <a:prstGeom prst="rect">
            <a:avLst/>
          </a:prstGeom>
          <a:noFill/>
        </p:spPr>
        <p:txBody>
          <a:bodyPr wrap="square" anchor="t">
            <a:spAutoFit/>
          </a:bodyPr>
          <a:lstStyle/>
          <a:p>
            <a:pPr algn="ctr">
              <a:lnSpc>
                <a:spcPct val="100000"/>
              </a:lnSpc>
            </a:pPr>
            <a:r>
              <a:rPr sz="1400" b="0">
                <a:solidFill>
                  <a:srgbClr val="545C6E"/>
                </a:solidFill>
                <a:latin typeface="Calibri"/>
              </a:rPr>
              <a:t>schema-validated tools</a:t>
            </a:r>
          </a:p>
        </p:txBody>
      </p:sp>
      <p:sp>
        <p:nvSpPr>
          <p:cNvPr id="11" name="TextBox 10"/>
          <p:cNvSpPr txBox="1"/>
          <p:nvPr/>
        </p:nvSpPr>
        <p:spPr>
          <a:xfrm>
            <a:off x="8732291" y="2103120"/>
            <a:ext cx="2636443" cy="1188720"/>
          </a:xfrm>
          <a:prstGeom prst="rect">
            <a:avLst/>
          </a:prstGeom>
          <a:noFill/>
        </p:spPr>
        <p:txBody>
          <a:bodyPr wrap="square" anchor="t">
            <a:spAutoFit/>
          </a:bodyPr>
          <a:lstStyle/>
          <a:p>
            <a:pPr algn="ctr">
              <a:lnSpc>
                <a:spcPct val="100000"/>
              </a:lnSpc>
            </a:pPr>
            <a:r>
              <a:rPr sz="6000" b="1">
                <a:solidFill>
                  <a:srgbClr val="4338CA"/>
                </a:solidFill>
                <a:latin typeface="Calibri"/>
              </a:rPr>
              <a:t>2</a:t>
            </a:r>
          </a:p>
        </p:txBody>
      </p:sp>
      <p:sp>
        <p:nvSpPr>
          <p:cNvPr id="12" name="TextBox 11"/>
          <p:cNvSpPr txBox="1"/>
          <p:nvPr/>
        </p:nvSpPr>
        <p:spPr>
          <a:xfrm>
            <a:off x="8732291" y="3246120"/>
            <a:ext cx="2636443" cy="731520"/>
          </a:xfrm>
          <a:prstGeom prst="rect">
            <a:avLst/>
          </a:prstGeom>
          <a:noFill/>
        </p:spPr>
        <p:txBody>
          <a:bodyPr wrap="square" anchor="t">
            <a:spAutoFit/>
          </a:bodyPr>
          <a:lstStyle/>
          <a:p>
            <a:pPr algn="ctr">
              <a:lnSpc>
                <a:spcPct val="100000"/>
              </a:lnSpc>
            </a:pPr>
            <a:r>
              <a:rPr sz="1400" b="0">
                <a:solidFill>
                  <a:srgbClr val="545C6E"/>
                </a:solidFill>
                <a:latin typeface="Calibri"/>
              </a:rPr>
              <a:t>interfaces — terminal
and browser</a:t>
            </a:r>
          </a:p>
        </p:txBody>
      </p:sp>
      <p:sp>
        <p:nvSpPr>
          <p:cNvPr id="13" name="TextBox 12"/>
          <p:cNvSpPr txBox="1"/>
          <p:nvPr/>
        </p:nvSpPr>
        <p:spPr>
          <a:xfrm>
            <a:off x="822960" y="4846320"/>
            <a:ext cx="10515600" cy="1280160"/>
          </a:xfrm>
          <a:prstGeom prst="rect">
            <a:avLst/>
          </a:prstGeom>
          <a:noFill/>
        </p:spPr>
        <p:txBody>
          <a:bodyPr wrap="square" anchor="t">
            <a:spAutoFit/>
          </a:bodyPr>
          <a:lstStyle/>
          <a:p>
            <a:pPr algn="l">
              <a:lnSpc>
                <a:spcPct val="125000"/>
              </a:lnSpc>
            </a:pPr>
            <a:r>
              <a:rPr sz="2000" b="1">
                <a:solidFill>
                  <a:srgbClr val="161A23"/>
                </a:solidFill>
                <a:latin typeface="Calibri"/>
              </a:rPr>
              <a:t>It refuses a trip it cannot afford, and says what would work.</a:t>
            </a:r>
          </a:p>
          <a:p>
            <a:pPr algn="l">
              <a:lnSpc>
                <a:spcPct val="125000"/>
              </a:lnSpc>
            </a:pPr>
            <a:r>
              <a:rPr sz="1600" b="0">
                <a:solidFill>
                  <a:srgbClr val="545C6E"/>
                </a:solidFill>
                <a:latin typeface="Calibri"/>
              </a:rPr>
              <a:t>Where a route has been recorded it uses the fare really quoted; where it has not, it says the figure is estimated.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457200"/>
            <a:ext cx="10515600" cy="365760"/>
          </a:xfrm>
          <a:prstGeom prst="rect">
            <a:avLst/>
          </a:prstGeom>
          <a:noFill/>
        </p:spPr>
        <p:txBody>
          <a:bodyPr wrap="square" anchor="t">
            <a:spAutoFit/>
          </a:bodyPr>
          <a:lstStyle/>
          <a:p>
            <a:pPr algn="l">
              <a:lnSpc>
                <a:spcPct val="100000"/>
              </a:lnSpc>
            </a:pPr>
            <a:r>
              <a:rPr sz="1200" b="1">
                <a:solidFill>
                  <a:srgbClr val="4338CA"/>
                </a:solidFill>
                <a:latin typeface="Calibri"/>
              </a:rPr>
              <a:t>WHAT I WOULD DO DIFFERENTLY</a:t>
            </a:r>
          </a:p>
        </p:txBody>
      </p:sp>
      <p:sp>
        <p:nvSpPr>
          <p:cNvPr id="3" name="TextBox 2"/>
          <p:cNvSpPr txBox="1"/>
          <p:nvPr/>
        </p:nvSpPr>
        <p:spPr>
          <a:xfrm>
            <a:off x="822960" y="777240"/>
            <a:ext cx="10515600" cy="822960"/>
          </a:xfrm>
          <a:prstGeom prst="rect">
            <a:avLst/>
          </a:prstGeom>
          <a:noFill/>
        </p:spPr>
        <p:txBody>
          <a:bodyPr wrap="square" anchor="t">
            <a:spAutoFit/>
          </a:bodyPr>
          <a:lstStyle/>
          <a:p>
            <a:pPr algn="l">
              <a:lnSpc>
                <a:spcPct val="100000"/>
              </a:lnSpc>
            </a:pPr>
            <a:r>
              <a:rPr sz="3200" b="1">
                <a:solidFill>
                  <a:srgbClr val="161A23"/>
                </a:solidFill>
                <a:latin typeface="Calibri"/>
              </a:rPr>
              <a:t>The ordering mistake, and what it cost</a:t>
            </a:r>
          </a:p>
        </p:txBody>
      </p:sp>
      <p:sp>
        <p:nvSpPr>
          <p:cNvPr id="4" name="Rectangle 3"/>
          <p:cNvSpPr/>
          <p:nvPr/>
        </p:nvSpPr>
        <p:spPr>
          <a:xfrm>
            <a:off x="822960" y="1572768"/>
            <a:ext cx="1005840" cy="34000"/>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11680"/>
            <a:ext cx="10515600" cy="3291840"/>
          </a:xfrm>
          <a:prstGeom prst="rect">
            <a:avLst/>
          </a:prstGeom>
          <a:noFill/>
        </p:spPr>
        <p:txBody>
          <a:bodyPr wrap="square" anchor="t">
            <a:spAutoFit/>
          </a:bodyPr>
          <a:lstStyle/>
          <a:p>
            <a:pPr algn="l">
              <a:lnSpc>
                <a:spcPct val="130000"/>
              </a:lnSpc>
            </a:pPr>
            <a:r>
              <a:rPr sz="2400" b="1">
                <a:solidFill>
                  <a:srgbClr val="4338CA"/>
                </a:solidFill>
                <a:latin typeface="Calibri"/>
              </a:rPr>
              <a:t>Measurement last was the wrong order.</a:t>
            </a:r>
          </a:p>
          <a:p>
            <a:pPr algn="l">
              <a:lnSpc>
                <a:spcPct val="130000"/>
              </a:lnSpc>
            </a:pPr>
            <a:r>
              <a:rPr sz="1000" b="0">
                <a:solidFill>
                  <a:srgbClr val="161A23"/>
                </a:solidFill>
                <a:latin typeface="Calibri"/>
              </a:rPr>
              <a:t/>
            </a:r>
          </a:p>
          <a:p>
            <a:pPr algn="l">
              <a:lnSpc>
                <a:spcPct val="130000"/>
              </a:lnSpc>
            </a:pPr>
            <a:r>
              <a:rPr sz="1700" b="0">
                <a:solidFill>
                  <a:srgbClr val="161A23"/>
                </a:solidFill>
                <a:latin typeface="Calibri"/>
              </a:rPr>
              <a:t>Six agents became three because instrumentation showed where the requests went. That evidence arrived after the architecture was built, so the pivot cost a rebuild.</a:t>
            </a:r>
          </a:p>
          <a:p>
            <a:pPr algn="l">
              <a:lnSpc>
                <a:spcPct val="130000"/>
              </a:lnSpc>
            </a:pPr>
            <a:r>
              <a:rPr sz="800" b="0">
                <a:solidFill>
                  <a:srgbClr val="161A23"/>
                </a:solidFill>
                <a:latin typeface="Calibri"/>
              </a:rPr>
              <a:t/>
            </a:r>
          </a:p>
          <a:p>
            <a:pPr algn="l">
              <a:lnSpc>
                <a:spcPct val="130000"/>
              </a:lnSpc>
            </a:pPr>
            <a:r>
              <a:rPr sz="1900" b="1">
                <a:solidFill>
                  <a:srgbClr val="161A23"/>
                </a:solidFill>
                <a:latin typeface="Calibri"/>
              </a:rPr>
              <a:t>Build the counter first, then the thing being counted.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1B4B"/>
        </a:solidFill>
        <a:effectLst/>
      </p:bgPr>
    </p:bg>
    <p:spTree>
      <p:nvGrpSpPr>
        <p:cNvPr id="1" name=""/>
        <p:cNvGrpSpPr/>
        <p:nvPr/>
      </p:nvGrpSpPr>
      <p:grpSpPr/>
      <p:sp>
        <p:nvSpPr>
          <p:cNvPr id="2" name="TextBox 1"/>
          <p:cNvSpPr txBox="1"/>
          <p:nvPr/>
        </p:nvSpPr>
        <p:spPr>
          <a:xfrm>
            <a:off x="1005840" y="1463040"/>
            <a:ext cx="10241280" cy="457200"/>
          </a:xfrm>
          <a:prstGeom prst="rect">
            <a:avLst/>
          </a:prstGeom>
          <a:noFill/>
        </p:spPr>
        <p:txBody>
          <a:bodyPr wrap="square" anchor="t">
            <a:spAutoFit/>
          </a:bodyPr>
          <a:lstStyle/>
          <a:p>
            <a:pPr algn="l">
              <a:lnSpc>
                <a:spcPct val="100000"/>
              </a:lnSpc>
            </a:pPr>
            <a:r>
              <a:rPr sz="1400" b="1">
                <a:solidFill>
                  <a:srgbClr val="9CA3F5"/>
                </a:solidFill>
                <a:latin typeface="Calibri"/>
              </a:rPr>
              <a:t>CONCLUSION</a:t>
            </a:r>
          </a:p>
        </p:txBody>
      </p:sp>
      <p:sp>
        <p:nvSpPr>
          <p:cNvPr id="3" name="TextBox 2"/>
          <p:cNvSpPr txBox="1"/>
          <p:nvPr/>
        </p:nvSpPr>
        <p:spPr>
          <a:xfrm>
            <a:off x="1005840" y="1920240"/>
            <a:ext cx="10241280" cy="2194560"/>
          </a:xfrm>
          <a:prstGeom prst="rect">
            <a:avLst/>
          </a:prstGeom>
          <a:noFill/>
        </p:spPr>
        <p:txBody>
          <a:bodyPr wrap="square" anchor="t">
            <a:spAutoFit/>
          </a:bodyPr>
          <a:lstStyle/>
          <a:p>
            <a:pPr algn="l">
              <a:lnSpc>
                <a:spcPct val="115000"/>
              </a:lnSpc>
            </a:pPr>
            <a:r>
              <a:rPr sz="3200" b="1">
                <a:solidFill>
                  <a:srgbClr val="FFFFFF"/>
                </a:solidFill>
                <a:latin typeface="Calibri"/>
              </a:rPr>
              <a:t>A model earns its cost where a step</a:t>
            </a:r>
          </a:p>
          <a:p>
            <a:pPr algn="l">
              <a:lnSpc>
                <a:spcPct val="115000"/>
              </a:lnSpc>
            </a:pPr>
            <a:r>
              <a:rPr sz="3200" b="1">
                <a:solidFill>
                  <a:srgbClr val="6EE7DF"/>
                </a:solidFill>
                <a:latin typeface="Calibri"/>
              </a:rPr>
              <a:t>needs a judgement you cannot write as code.</a:t>
            </a:r>
          </a:p>
          <a:p>
            <a:pPr algn="l">
              <a:lnSpc>
                <a:spcPct val="115000"/>
              </a:lnSpc>
            </a:pPr>
            <a:r>
              <a:rPr sz="3200" b="1">
                <a:solidFill>
                  <a:srgbClr val="FFFFFF"/>
                </a:solidFill>
                <a:latin typeface="Calibri"/>
              </a:rPr>
              <a:t>Everywhere else it is a bill.</a:t>
            </a:r>
          </a:p>
        </p:txBody>
      </p:sp>
      <p:sp>
        <p:nvSpPr>
          <p:cNvPr id="4" name="Rectangle 3"/>
          <p:cNvSpPr/>
          <p:nvPr/>
        </p:nvSpPr>
        <p:spPr>
          <a:xfrm>
            <a:off x="1005840" y="4389120"/>
            <a:ext cx="1463040" cy="34000"/>
          </a:xfrm>
          <a:prstGeom prst="rect">
            <a:avLst/>
          </a:prstGeom>
          <a:solidFill>
            <a:srgbClr val="0EA5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709160"/>
            <a:ext cx="10241280" cy="1463040"/>
          </a:xfrm>
          <a:prstGeom prst="rect">
            <a:avLst/>
          </a:prstGeom>
          <a:noFill/>
        </p:spPr>
        <p:txBody>
          <a:bodyPr wrap="square" anchor="t">
            <a:spAutoFit/>
          </a:bodyPr>
          <a:lstStyle/>
          <a:p>
            <a:pPr algn="l">
              <a:lnSpc>
                <a:spcPct val="130000"/>
              </a:lnSpc>
            </a:pPr>
            <a:r>
              <a:rPr sz="1800" b="0">
                <a:solidFill>
                  <a:srgbClr val="C7D2FE"/>
                </a:solidFill>
                <a:latin typeface="Calibri"/>
              </a:rPr>
              <a:t>15x fewer tokens, no loss of groundedness, on 1 scenario measured 5 times.</a:t>
            </a:r>
          </a:p>
          <a:p>
            <a:pPr algn="l">
              <a:lnSpc>
                <a:spcPct val="130000"/>
              </a:lnSpc>
            </a:pPr>
            <a:r>
              <a:rPr sz="800" b="0">
                <a:solidFill>
                  <a:srgbClr val="FFFFFF"/>
                </a:solidFill>
                <a:latin typeface="Calibri"/>
              </a:rPr>
              <a:t/>
            </a:r>
          </a:p>
          <a:p>
            <a:pPr algn="l">
              <a:lnSpc>
                <a:spcPct val="130000"/>
              </a:lnSpc>
            </a:pPr>
            <a:r>
              <a:rPr sz="1500" b="0">
                <a:solidFill>
                  <a:srgbClr val="9CA3F5"/>
                </a:solidFill>
                <a:latin typeface="Calibri"/>
              </a:rPr>
              <a:t>Breadth is the gap. Everything needed to close it is committed and runs without credentials.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
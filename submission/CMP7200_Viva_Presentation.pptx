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One idea: AI is worth paying for when a step needs thinking, and is a waste of money when it does not. I built four versions of the same planner that differ only in how they fetch data, measured all four, and the differences are large.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gives agents tools. Nobody asks which jobs actually need one. Reading "leaving on the fifteenth for two adults" needs thinking. Calling a flight API with a date does not. The agent version used 20.6 AI calls per trip; mine uses 2.0. The text sent differs by about 15 times, because every step re-sends the whole conversation and every tool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task, same prompts where they overlap, same tool server, same message system, same AI model. Only the way data is fetched changes between the four versions. That is what makes the comparison fair.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demonstrating live. Ask it for six nights in London on three thousand dollars and it declines, tells you the shortfall, and offers a shorter trip or a nearer city. It also marks which prices are measured and which are estimated, because the built-in price table was 52% below a real fare on the one route where both were known.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started as six agents and became three, because measuring showed most of the AI calls were being spent on fetching data. You cannot write a rule that understands any phrasing a person might use, and you cannot write a rule that makes a day pleasant. You absolutely can write a rule that calls a flight API.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what makes the result defensible. Just tuning the six agents, without changing the design at all, cut the text sent by 89%. So if I had only compared B against D I would have been mixing two different effects together and claiming credit for both.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heart of the argument. An agent that skips a tool still writes a confident, well-formatted itinerary, so you cannot tell by looking. B never once fetched attractions or restaurants and still produced a full plan. That is why I measure groundedness rather than reading the output and judging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one takes the request, two turns words into fields, three fetches the data, four writes the plan. My question lives entirely in layer three. One honest detail: the shipped version calls the tool functions directly rather than over the network protocol. The protocol is genuinely used, but only by the six-agent versions, and Section 7.2 of the report says 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weakness first: only 1 of 20 trips for the cost comparison, because the free plans allow thirty flight and fifty hotel searches a month. What I did instead: the two questions that need no API - does the message system behave as designed, and does the budget check work - were tested on all twenty, and both found real problems.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120,703 tokens and 20.6 AI calls per trip. Three agents with normal code: 7,840 and 2.0. The ranges from the repeated runs do not overlap, which is why I report this as a real difference and not as noise.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finding that weakens my own headline. Cutting each agent's tool list and step limit, without touching the design, removed 89% of the cost. So most of B's expense was bad configuration, not the architecture. What is left over is the part only the design change reaches, and that is what I claim.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Saving money would be pointless if the plan got vaguer. A is the control and scores 1.7% - a confident itinerary invented from nothing, which is exactly what this measure exists to catch. It caught a real one: my first working run produced a complete plan while every single tool call was silently failing.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of 9 checks fail. Message priority is declared and never actually used. Permissions are declared and never enforced. On the budget check, precision is 100% and recall 50%. Saying this out loud is the point: an evaluation that only confirms its author is not an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limits were fully used up during development. The protection was built before the four versions were: 30 saved replies mean a marker with no keys can reproduce every number in the report. What it could not do is create requests I never made, so cost coverage stayed at 1 of 20 trips. Appendix N has the full register - three of eight risks happened, including the AI model being withdrawn mid-project.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"so what?", this is the answer. The industry adds agents and tools by default. This project is a worked example of asking which steps deserve one, measuring the answer, and finding that the honest answer is "fewer than you think".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answer to the likely question. I built the tool server first because nothing works without it, then the messaging, then the agents, and the measuring last. That order is why my first end-to-end run produced a plan with no real data in it and nothing noticed. Reversed, the six-to- three change would have been a design decision instead of a rewrite.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on the claim and its limit together. The effect is large and the sample is narrow, and both are in the abstract. The saved replies, the test harness and the twenty trips are all committed, so the next person - or me next month when the limits reset - can widen it without rebuilding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7373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MSc DISSERTATION  ·  VIVA VOCE</a:t>
            </a:r>
          </a:p>
        </p:txBody>
      </p:sp>
      <p:sp>
        <p:nvSpPr>
          <p:cNvPr id="3" name="TextBox 2"/>
          <p:cNvSpPr txBox="1"/>
          <p:nvPr/>
        </p:nvSpPr>
        <p:spPr>
          <a:xfrm>
            <a:off x="1005840" y="2194560"/>
            <a:ext cx="10241280" cy="1737360"/>
          </a:xfrm>
          <a:prstGeom prst="rect">
            <a:avLst/>
          </a:prstGeom>
          <a:noFill/>
        </p:spPr>
        <p:txBody>
          <a:bodyPr wrap="square" anchor="t">
            <a:spAutoFit/>
          </a:bodyPr>
          <a:lstStyle/>
          <a:p>
            <a:pPr algn="l">
              <a:lnSpc>
                <a:spcPct val="110000"/>
              </a:lnSpc>
            </a:pPr>
            <a:r>
              <a:rPr sz="4200" b="1">
                <a:solidFill>
                  <a:srgbClr val="FFFFFF"/>
                </a:solidFill>
                <a:latin typeface="Calibri"/>
              </a:rPr>
              <a:t>When is AI worth its cost</a:t>
            </a:r>
          </a:p>
          <a:p>
            <a:pPr algn="l">
              <a:lnSpc>
                <a:spcPct val="110000"/>
              </a:lnSpc>
            </a:pPr>
            <a:r>
              <a:rPr sz="4200" b="1">
                <a:solidFill>
                  <a:srgbClr val="6EE7DF"/>
                </a:solidFill>
                <a:latin typeface="Calibri"/>
              </a:rPr>
              <a:t>in a travel planning system?</a:t>
            </a:r>
          </a:p>
        </p:txBody>
      </p:sp>
      <p:sp>
        <p:nvSpPr>
          <p:cNvPr id="4" name="Rectangle 3"/>
          <p:cNvSpPr/>
          <p:nvPr/>
        </p:nvSpPr>
        <p:spPr>
          <a:xfrm>
            <a:off x="1005840" y="411480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480560"/>
            <a:ext cx="10241280" cy="1280160"/>
          </a:xfrm>
          <a:prstGeom prst="rect">
            <a:avLst/>
          </a:prstGeom>
          <a:noFill/>
        </p:spPr>
        <p:txBody>
          <a:bodyPr wrap="square" anchor="t">
            <a:spAutoFit/>
          </a:bodyPr>
          <a:lstStyle/>
          <a:p>
            <a:pPr algn="l">
              <a:lnSpc>
                <a:spcPct val="100000"/>
              </a:lnSpc>
            </a:pPr>
            <a:r>
              <a:rPr sz="1800" b="0">
                <a:solidFill>
                  <a:srgbClr val="C7D2FE"/>
                </a:solidFill>
                <a:latin typeface="Calibri"/>
              </a:rPr>
              <a:t>I built the same travel planner four different ways and measured all four.</a:t>
            </a:r>
          </a:p>
          <a:p>
            <a:pPr algn="l">
              <a:lnSpc>
                <a:spcPct val="100000"/>
              </a:lnSpc>
            </a:pPr>
            <a:r>
              <a:rPr sz="800" b="0">
                <a:solidFill>
                  <a:srgbClr val="FFFFFF"/>
                </a:solidFill>
                <a:latin typeface="Calibri"/>
              </a:rPr>
              <a:t/>
            </a:r>
          </a:p>
          <a:p>
            <a:pPr algn="l">
              <a:lnSpc>
                <a:spcPct val="100000"/>
              </a:lnSpc>
            </a:pPr>
            <a:r>
              <a:rPr sz="1300" b="0">
                <a:solidFill>
                  <a:srgbClr val="9CA3F5"/>
                </a:solidFill>
                <a:latin typeface="Calibri"/>
              </a:rPr>
              <a:t>Student 25182589   ·   CMP7200 — Individual Master's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PROBLEM</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AI is being used for jobs that do not need it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21</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AI calls to plan one trip
when agents fetch the data</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AI calls for the same trip
when normal code fetches it</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15x</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more text sent to the AI,
for the same finished plan</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100" b="1">
                <a:solidFill>
                  <a:srgbClr val="161A23"/>
                </a:solidFill>
                <a:latin typeface="Calibri"/>
              </a:rPr>
              <a:t>Looking up a flight price needs no thinking. It is one web request.</a:t>
            </a:r>
          </a:p>
          <a:p>
            <a:pPr algn="l">
              <a:lnSpc>
                <a:spcPct val="125000"/>
              </a:lnSpc>
            </a:pPr>
            <a:r>
              <a:rPr sz="1700" b="0">
                <a:solidFill>
                  <a:srgbClr val="545C6E"/>
                </a:solidFill>
                <a:latin typeface="Calibri"/>
              </a:rPr>
              <a:t>But if an AI agent does the looking up, you pay for every step it takes to decide.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1280160" y="2011680"/>
            <a:ext cx="9601200" cy="2560320"/>
          </a:xfrm>
          <a:prstGeom prst="rect">
            <a:avLst/>
          </a:prstGeom>
          <a:noFill/>
        </p:spPr>
        <p:txBody>
          <a:bodyPr wrap="square" anchor="t">
            <a:spAutoFit/>
          </a:bodyPr>
          <a:lstStyle/>
          <a:p>
            <a:pPr algn="l">
              <a:lnSpc>
                <a:spcPct val="115000"/>
              </a:lnSpc>
            </a:pPr>
            <a:r>
              <a:rPr sz="2600" b="0">
                <a:solidFill>
                  <a:srgbClr val="8A91A0"/>
                </a:solidFill>
                <a:latin typeface="Calibri"/>
              </a:rPr>
              <a:t>My question</a:t>
            </a:r>
          </a:p>
          <a:p>
            <a:pPr algn="l">
              <a:lnSpc>
                <a:spcPct val="115000"/>
              </a:lnSpc>
            </a:pPr>
            <a:r>
              <a:rPr sz="4000" b="1">
                <a:solidFill>
                  <a:srgbClr val="4338CA"/>
                </a:solidFill>
                <a:latin typeface="Calibri"/>
              </a:rPr>
              <a:t>Which steps really need AI,</a:t>
            </a:r>
          </a:p>
          <a:p>
            <a:pPr algn="l">
              <a:lnSpc>
                <a:spcPct val="115000"/>
              </a:lnSpc>
            </a:pPr>
            <a:r>
              <a:rPr sz="4000" b="1">
                <a:solidFill>
                  <a:srgbClr val="4338CA"/>
                </a:solidFill>
                <a:latin typeface="Calibri"/>
              </a:rPr>
              <a:t>and which are just expensive?</a:t>
            </a:r>
          </a:p>
        </p:txBody>
      </p:sp>
      <p:sp>
        <p:nvSpPr>
          <p:cNvPr id="3" name="Rectangle 2"/>
          <p:cNvSpPr/>
          <p:nvPr/>
        </p:nvSpPr>
        <p:spPr>
          <a:xfrm>
            <a:off x="1280160" y="4846320"/>
            <a:ext cx="182880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5120640"/>
            <a:ext cx="9601200" cy="731520"/>
          </a:xfrm>
          <a:prstGeom prst="rect">
            <a:avLst/>
          </a:prstGeom>
          <a:noFill/>
        </p:spPr>
        <p:txBody>
          <a:bodyPr wrap="square" anchor="t">
            <a:spAutoFit/>
          </a:bodyPr>
          <a:lstStyle/>
          <a:p>
            <a:pPr algn="l">
              <a:lnSpc>
                <a:spcPct val="100000"/>
              </a:lnSpc>
            </a:pPr>
            <a:r>
              <a:rPr sz="1600" b="0">
                <a:solidFill>
                  <a:srgbClr val="545C6E"/>
                </a:solidFill>
                <a:latin typeface="Calibri"/>
              </a:rPr>
              <a:t>Everything else is kept identical. Only the data-fetching changes.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WHAT IT DOES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 working travel planner, not just an experiment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600" cy="2194560"/>
        </p:xfrm>
        <a:graphic>
          <a:graphicData uri="http://schemas.openxmlformats.org/drawingml/2006/table">
            <a:tbl>
              <a:tblPr firstRow="1" bandRow="1">
                <a:tableStyleId>{5C22544A-7EE6-4342-B048-85BDC9FD1C3A}</a:tableStyleId>
              </a:tblPr>
              <a:tblGrid>
                <a:gridCol w="1752600"/>
                <a:gridCol w="8763000"/>
              </a:tblGrid>
              <a:tr h="365760">
                <a:tc>
                  <a:txBody>
                    <a:bodyPr/>
                    <a:lstStyle/>
                    <a:p>
                      <a:r>
                        <a:rPr sz="1300" b="1">
                          <a:solidFill>
                            <a:srgbClr val="FFFFFF"/>
                          </a:solidFill>
                          <a:latin typeface="Calibri"/>
                        </a:rPr>
                        <a:t>The user</a:t>
                      </a:r>
                    </a:p>
                  </a:txBody>
                  <a:tcPr>
                    <a:solidFill>
                      <a:srgbClr val="4338CA"/>
                    </a:solidFill>
                  </a:tcPr>
                </a:tc>
                <a:tc>
                  <a:txBody>
                    <a:bodyPr/>
                    <a:lstStyle/>
                    <a:p>
                      <a:r>
                        <a:rPr sz="1300" b="1">
                          <a:solidFill>
                            <a:srgbClr val="FFFFFF"/>
                          </a:solidFill>
                          <a:latin typeface="Calibri"/>
                        </a:rPr>
                        <a:t>What happens</a:t>
                      </a:r>
                    </a:p>
                  </a:txBody>
                  <a:tcPr>
                    <a:solidFill>
                      <a:srgbClr val="4338CA"/>
                    </a:solidFill>
                  </a:tcPr>
                </a:tc>
              </a:tr>
              <a:tr h="365760">
                <a:tc>
                  <a:txBody>
                    <a:bodyPr/>
                    <a:lstStyle/>
                    <a:p>
                      <a:r>
                        <a:rPr sz="1300" b="0">
                          <a:solidFill>
                            <a:srgbClr val="161A23"/>
                          </a:solidFill>
                          <a:latin typeface="Calibri"/>
                        </a:rPr>
                        <a:t>Fills one form</a:t>
                      </a:r>
                    </a:p>
                  </a:txBody>
                  <a:tcPr>
                    <a:solidFill>
                      <a:srgbClr val="FFFFFF"/>
                    </a:solidFill>
                  </a:tcPr>
                </a:tc>
                <a:tc>
                  <a:txBody>
                    <a:bodyPr/>
                    <a:lstStyle/>
                    <a:p>
                      <a:r>
                        <a:rPr sz="1300" b="0">
                          <a:solidFill>
                            <a:srgbClr val="161A23"/>
                          </a:solidFill>
                          <a:latin typeface="Calibri"/>
                        </a:rPr>
                        <a:t>Where from, where to, dates, how many people, budget, interests</a:t>
                      </a:r>
                    </a:p>
                  </a:txBody>
                  <a:tcPr>
                    <a:solidFill>
                      <a:srgbClr val="FFFFFF"/>
                    </a:solidFill>
                  </a:tcPr>
                </a:tc>
              </a:tr>
              <a:tr h="365760">
                <a:tc>
                  <a:txBody>
                    <a:bodyPr/>
                    <a:lstStyle/>
                    <a:p>
                      <a:r>
                        <a:rPr sz="1300" b="0">
                          <a:solidFill>
                            <a:srgbClr val="161A23"/>
                          </a:solidFill>
                          <a:latin typeface="Calibri"/>
                        </a:rPr>
                        <a:t>Presses one button</a:t>
                      </a:r>
                    </a:p>
                  </a:txBody>
                  <a:tcPr>
                    <a:solidFill>
                      <a:srgbClr val="F7F8FC"/>
                    </a:solidFill>
                  </a:tcPr>
                </a:tc>
                <a:tc>
                  <a:txBody>
                    <a:bodyPr/>
                    <a:lstStyle/>
                    <a:p>
                      <a:r>
                        <a:rPr sz="1300" b="0">
                          <a:solidFill>
                            <a:srgbClr val="161A23"/>
                          </a:solidFill>
                          <a:latin typeface="Calibri"/>
                        </a:rPr>
                        <a:t>Seven steps run and update live on screen as each finishes</a:t>
                      </a:r>
                    </a:p>
                  </a:txBody>
                  <a:tcPr>
                    <a:solidFill>
                      <a:srgbClr val="F7F8FC"/>
                    </a:solidFill>
                  </a:tcPr>
                </a:tc>
              </a:tr>
              <a:tr h="365760">
                <a:tc>
                  <a:txBody>
                    <a:bodyPr/>
                    <a:lstStyle/>
                    <a:p>
                      <a:r>
                        <a:rPr sz="1300" b="0">
                          <a:solidFill>
                            <a:srgbClr val="161A23"/>
                          </a:solidFill>
                          <a:latin typeface="Calibri"/>
                        </a:rPr>
                        <a:t>Sees the plan</a:t>
                      </a:r>
                    </a:p>
                  </a:txBody>
                  <a:tcPr>
                    <a:solidFill>
                      <a:srgbClr val="FFFFFF"/>
                    </a:solidFill>
                  </a:tcPr>
                </a:tc>
                <a:tc>
                  <a:txBody>
                    <a:bodyPr/>
                    <a:lstStyle/>
                    <a:p>
                      <a:r>
                        <a:rPr sz="1300" b="0">
                          <a:solidFill>
                            <a:srgbClr val="161A23"/>
                          </a:solidFill>
                          <a:latin typeface="Calibri"/>
                        </a:rPr>
                        <a:t>A day-by-day itinerary in tabs: flights, hotels, each day, budget, tips</a:t>
                      </a:r>
                    </a:p>
                  </a:txBody>
                  <a:tcPr>
                    <a:solidFill>
                      <a:srgbClr val="FFFFFF"/>
                    </a:solidFill>
                  </a:tcPr>
                </a:tc>
              </a:tr>
              <a:tr h="365760">
                <a:tc>
                  <a:txBody>
                    <a:bodyPr/>
                    <a:lstStyle/>
                    <a:p>
                      <a:r>
                        <a:rPr sz="1300" b="0">
                          <a:solidFill>
                            <a:srgbClr val="161A23"/>
                          </a:solidFill>
                          <a:latin typeface="Calibri"/>
                        </a:rPr>
                        <a:t>Can trust the prices</a:t>
                      </a:r>
                    </a:p>
                  </a:txBody>
                  <a:tcPr>
                    <a:solidFill>
                      <a:srgbClr val="F7F8FC"/>
                    </a:solidFill>
                  </a:tcPr>
                </a:tc>
                <a:tc>
                  <a:txBody>
                    <a:bodyPr/>
                    <a:lstStyle/>
                    <a:p>
                      <a:r>
                        <a:rPr sz="1300" b="0">
                          <a:solidFill>
                            <a:srgbClr val="161A23"/>
                          </a:solidFill>
                          <a:latin typeface="Calibri"/>
                        </a:rPr>
                        <a:t>Real fares from live travel APIs. If a price is a guess, it says so</a:t>
                      </a:r>
                    </a:p>
                  </a:txBody>
                  <a:tcPr>
                    <a:solidFill>
                      <a:srgbClr val="F7F8FC"/>
                    </a:solidFill>
                  </a:tcPr>
                </a:tc>
              </a:tr>
              <a:tr h="365760">
                <a:tc>
                  <a:txBody>
                    <a:bodyPr/>
                    <a:lstStyle/>
                    <a:p>
                      <a:r>
                        <a:rPr sz="1300" b="0">
                          <a:solidFill>
                            <a:srgbClr val="161A23"/>
                          </a:solidFill>
                          <a:latin typeface="Calibri"/>
                        </a:rPr>
                        <a:t>Gets told the truth</a:t>
                      </a:r>
                    </a:p>
                  </a:txBody>
                  <a:tcPr>
                    <a:solidFill>
                      <a:srgbClr val="FFFFFF"/>
                    </a:solidFill>
                  </a:tcPr>
                </a:tc>
                <a:tc>
                  <a:txBody>
                    <a:bodyPr/>
                    <a:lstStyle/>
                    <a:p>
                      <a:r>
                        <a:rPr sz="1300" b="0">
                          <a:solidFill>
                            <a:srgbClr val="161A23"/>
                          </a:solidFill>
                          <a:latin typeface="Calibri"/>
                        </a:rPr>
                        <a:t>If the budget cannot cover the trip, it refuses and says what would work</a:t>
                      </a:r>
                    </a:p>
                  </a:txBody>
                  <a:tcPr>
                    <a:solidFill>
                      <a:srgbClr val="FFFFFF"/>
                    </a:solidFill>
                  </a:tcPr>
                </a:tc>
              </a:tr>
            </a:tbl>
          </a:graphicData>
        </a:graphic>
      </p:graphicFrame>
      <p:sp>
        <p:nvSpPr>
          <p:cNvPr id="6" name="TextBox 5"/>
          <p:cNvSpPr txBox="1"/>
          <p:nvPr/>
        </p:nvSpPr>
        <p:spPr>
          <a:xfrm>
            <a:off x="822960" y="5212080"/>
            <a:ext cx="10515600" cy="822960"/>
          </a:xfrm>
          <a:prstGeom prst="rect">
            <a:avLst/>
          </a:prstGeom>
          <a:noFill/>
        </p:spPr>
        <p:txBody>
          <a:bodyPr wrap="square" anchor="t">
            <a:spAutoFit/>
          </a:bodyPr>
          <a:lstStyle/>
          <a:p>
            <a:pPr algn="l">
              <a:lnSpc>
                <a:spcPct val="100000"/>
              </a:lnSpc>
            </a:pPr>
            <a:r>
              <a:rPr sz="1700" b="0">
                <a:solidFill>
                  <a:srgbClr val="545C6E"/>
                </a:solidFill>
                <a:latin typeface="Calibri"/>
              </a:rPr>
              <a:t>There is also a terminal version, and every step is narrated as it runs.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Three use AI. Four steps do not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9" cy="1828800"/>
        </p:xfrm>
        <a:graphic>
          <a:graphicData uri="http://schemas.openxmlformats.org/drawingml/2006/table">
            <a:tbl>
              <a:tblPr firstRow="1" bandRow="1">
                <a:tableStyleId>{5C22544A-7EE6-4342-B048-85BDC9FD1C3A}</a:tableStyleId>
              </a:tblPr>
              <a:tblGrid>
                <a:gridCol w="491383"/>
                <a:gridCol w="3341405"/>
                <a:gridCol w="786213"/>
                <a:gridCol w="5896598"/>
              </a:tblGrid>
              <a:tr h="365760">
                <a:tc>
                  <a:txBody>
                    <a:bodyPr/>
                    <a:lstStyle/>
                    <a:p>
                      <a:r>
                        <a:rPr sz="1300" b="1">
                          <a:solidFill>
                            <a:srgbClr val="FFFFFF"/>
                          </a:solidFill>
                          <a:latin typeface="Calibri"/>
                        </a:rPr>
                        <a:t>Step</a:t>
                      </a:r>
                    </a:p>
                  </a:txBody>
                  <a:tcPr>
                    <a:solidFill>
                      <a:srgbClr val="4338CA"/>
                    </a:solidFill>
                  </a:tcPr>
                </a:tc>
                <a:tc>
                  <a:txBody>
                    <a:bodyPr/>
                    <a:lstStyle/>
                    <a:p>
                      <a:r>
                        <a:rPr sz="1300" b="1">
                          <a:solidFill>
                            <a:srgbClr val="FFFFFF"/>
                          </a:solidFill>
                          <a:latin typeface="Calibri"/>
                        </a:rPr>
                        <a:t>Who does it</a:t>
                      </a:r>
                    </a:p>
                  </a:txBody>
                  <a:tcPr>
                    <a:solidFill>
                      <a:srgbClr val="4338CA"/>
                    </a:solidFill>
                  </a:tcPr>
                </a:tc>
                <a:tc>
                  <a:txBody>
                    <a:bodyPr/>
                    <a:lstStyle/>
                    <a:p>
                      <a:r>
                        <a:rPr sz="1300" b="1">
                          <a:solidFill>
                            <a:srgbClr val="FFFFFF"/>
                          </a:solidFill>
                          <a:latin typeface="Calibri"/>
                        </a:rPr>
                        <a:t>AI?</a:t>
                      </a:r>
                    </a:p>
                  </a:txBody>
                  <a:tcPr>
                    <a:solidFill>
                      <a:srgbClr val="4338CA"/>
                    </a:solidFill>
                  </a:tcPr>
                </a:tc>
                <a:tc>
                  <a:txBody>
                    <a:bodyPr/>
                    <a:lstStyle/>
                    <a:p>
                      <a:r>
                        <a:rPr sz="1300" b="1">
                          <a:solidFill>
                            <a:srgbClr val="FFFFFF"/>
                          </a:solidFill>
                          <a:latin typeface="Calibri"/>
                        </a:rPr>
                        <a:t>Why</a:t>
                      </a:r>
                    </a:p>
                  </a:txBody>
                  <a:tcPr>
                    <a:solidFill>
                      <a:srgbClr val="4338CA"/>
                    </a:solidFill>
                  </a:tcPr>
                </a:tc>
              </a:tr>
              <a:tr h="365760">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Conversation agent</a:t>
                      </a:r>
                    </a:p>
                  </a:txBody>
                  <a:tcPr>
                    <a:solidFill>
                      <a:srgbClr val="FFFFFF"/>
                    </a:solidFill>
                  </a:tcPr>
                </a:tc>
                <a:tc>
                  <a:txBody>
                    <a:bodyPr/>
                    <a:lstStyle/>
                    <a:p>
                      <a:r>
                        <a:rPr sz="1300" b="0">
                          <a:solidFill>
                            <a:srgbClr val="161A23"/>
                          </a:solidFill>
                          <a:latin typeface="Calibri"/>
                        </a:rPr>
                        <a:t>YES</a:t>
                      </a:r>
                    </a:p>
                  </a:txBody>
                  <a:tcPr>
                    <a:solidFill>
                      <a:srgbClr val="FFFFFF"/>
                    </a:solidFill>
                  </a:tcPr>
                </a:tc>
                <a:tc>
                  <a:txBody>
                    <a:bodyPr/>
                    <a:lstStyle/>
                    <a:p>
                      <a:r>
                        <a:rPr sz="1300" b="0">
                          <a:solidFill>
                            <a:srgbClr val="161A23"/>
                          </a:solidFill>
                          <a:latin typeface="Calibri"/>
                        </a:rPr>
                        <a:t>People write requests in a thousand different ways</a:t>
                      </a:r>
                    </a:p>
                  </a:txBody>
                  <a:tcPr>
                    <a:solidFill>
                      <a:srgbClr val="FFFFFF"/>
                    </a:solidFill>
                  </a:tcPr>
                </a:tc>
              </a:tr>
              <a:tr h="365760">
                <a:tc>
                  <a:txBody>
                    <a:bodyPr/>
                    <a:lstStyle/>
                    <a:p>
                      <a:r>
                        <a:rPr sz="1300" b="0">
                          <a:solidFill>
                            <a:srgbClr val="161A23"/>
                          </a:solidFill>
                          <a:latin typeface="Calibri"/>
                        </a:rPr>
                        <a:t>2</a:t>
                      </a:r>
                    </a:p>
                  </a:txBody>
                  <a:tcPr>
                    <a:solidFill>
                      <a:srgbClr val="F7F8FC"/>
                    </a:solidFill>
                  </a:tcPr>
                </a:tc>
                <a:tc>
                  <a:txBody>
                    <a:bodyPr/>
                    <a:lstStyle/>
                    <a:p>
                      <a:r>
                        <a:rPr sz="1300" b="0">
                          <a:solidFill>
                            <a:srgbClr val="161A23"/>
                          </a:solidFill>
                          <a:latin typeface="Calibri"/>
                        </a:rPr>
                        <a:t>Preferences agent</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Turns that writing into exact fields, then checks the budget</a:t>
                      </a:r>
                    </a:p>
                  </a:txBody>
                  <a:tcPr>
                    <a:solidFill>
                      <a:srgbClr val="F7F8FC"/>
                    </a:solidFill>
                  </a:tcPr>
                </a:tc>
              </a:tr>
              <a:tr h="365760">
                <a:tc>
                  <a:txBody>
                    <a:bodyPr/>
                    <a:lstStyle/>
                    <a:p>
                      <a:r>
                        <a:rPr sz="1300" b="0">
                          <a:solidFill>
                            <a:srgbClr val="161A23"/>
                          </a:solidFill>
                          <a:latin typeface="Calibri"/>
                        </a:rPr>
                        <a:t>3</a:t>
                      </a:r>
                    </a:p>
                  </a:txBody>
                  <a:tcPr>
                    <a:solidFill>
                      <a:srgbClr val="FFFFFF"/>
                    </a:solidFill>
                  </a:tcPr>
                </a:tc>
                <a:tc>
                  <a:txBody>
                    <a:bodyPr/>
                    <a:lstStyle/>
                    <a:p>
                      <a:r>
                        <a:rPr sz="1300" b="0">
                          <a:solidFill>
                            <a:srgbClr val="161A23"/>
                          </a:solidFill>
                          <a:latin typeface="Calibri"/>
                        </a:rPr>
                        <a:t>Flights, hotels, attractions, restaurants</a:t>
                      </a:r>
                    </a:p>
                  </a:txBody>
                  <a:tcPr>
                    <a:solidFill>
                      <a:srgbClr val="FFFFFF"/>
                    </a:solidFill>
                  </a:tcPr>
                </a:tc>
                <a:tc>
                  <a:txBody>
                    <a:bodyPr/>
                    <a:lstStyle/>
                    <a:p>
                      <a:r>
                        <a:rPr sz="1300" b="0">
                          <a:solidFill>
                            <a:srgbClr val="161A23"/>
                          </a:solidFill>
                          <a:latin typeface="Calibri"/>
                        </a:rPr>
                        <a:t>no</a:t>
                      </a:r>
                    </a:p>
                  </a:txBody>
                  <a:tcPr>
                    <a:solidFill>
                      <a:srgbClr val="FFFFFF"/>
                    </a:solidFill>
                  </a:tcPr>
                </a:tc>
                <a:tc>
                  <a:txBody>
                    <a:bodyPr/>
                    <a:lstStyle/>
                    <a:p>
                      <a:r>
                        <a:rPr sz="1300" b="0">
                          <a:solidFill>
                            <a:srgbClr val="161A23"/>
                          </a:solidFill>
                          <a:latin typeface="Calibri"/>
                        </a:rPr>
                        <a:t>One correct request each. An IF statement decides, not AI</a:t>
                      </a:r>
                    </a:p>
                  </a:txBody>
                  <a:tcPr>
                    <a:solidFill>
                      <a:srgbClr val="FFFFFF"/>
                    </a:solidFill>
                  </a:tcPr>
                </a:tc>
              </a:tr>
              <a:tr h="365760">
                <a:tc>
                  <a:txBody>
                    <a:bodyPr/>
                    <a:lstStyle/>
                    <a:p>
                      <a:r>
                        <a:rPr sz="1300" b="0">
                          <a:solidFill>
                            <a:srgbClr val="161A23"/>
                          </a:solidFill>
                          <a:latin typeface="Calibri"/>
                        </a:rPr>
                        <a:t>4</a:t>
                      </a:r>
                    </a:p>
                  </a:txBody>
                  <a:tcPr>
                    <a:solidFill>
                      <a:srgbClr val="F7F8FC"/>
                    </a:solidFill>
                  </a:tcPr>
                </a:tc>
                <a:tc>
                  <a:txBody>
                    <a:bodyPr/>
                    <a:lstStyle/>
                    <a:p>
                      <a:r>
                        <a:rPr sz="1300" b="0">
                          <a:solidFill>
                            <a:srgbClr val="161A23"/>
                          </a:solidFill>
                          <a:latin typeface="Calibri"/>
                        </a:rPr>
                        <a:t>Itinerary agent</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Deciding what to do on which day needs judgement</a:t>
                      </a:r>
                    </a:p>
                  </a:txBody>
                  <a:tcPr>
                    <a:solidFill>
                      <a:srgbClr val="F7F8FC"/>
                    </a:solidFill>
                  </a:tcPr>
                </a:tc>
              </a:tr>
            </a:tbl>
          </a:graphicData>
        </a:graphic>
      </p:graphicFrame>
      <p:sp>
        <p:nvSpPr>
          <p:cNvPr id="6" name="TextBox 5"/>
          <p:cNvSpPr txBox="1"/>
          <p:nvPr/>
        </p:nvSpPr>
        <p:spPr>
          <a:xfrm>
            <a:off x="822960" y="5120640"/>
            <a:ext cx="10515600" cy="1005840"/>
          </a:xfrm>
          <a:prstGeom prst="rect">
            <a:avLst/>
          </a:prstGeom>
          <a:noFill/>
        </p:spPr>
        <p:txBody>
          <a:bodyPr wrap="square" anchor="t">
            <a:spAutoFit/>
          </a:bodyPr>
          <a:lstStyle/>
          <a:p>
            <a:pPr algn="l">
              <a:lnSpc>
                <a:spcPct val="125000"/>
              </a:lnSpc>
            </a:pPr>
            <a:r>
              <a:rPr sz="2000" b="1">
                <a:solidFill>
                  <a:srgbClr val="161A23"/>
                </a:solidFill>
                <a:latin typeface="Calibri"/>
              </a:rPr>
              <a:t>The test for every step: could I write this as ordinary code?</a:t>
            </a:r>
          </a:p>
          <a:p>
            <a:pPr algn="l">
              <a:lnSpc>
                <a:spcPct val="125000"/>
              </a:lnSpc>
            </a:pPr>
            <a:r>
              <a:rPr sz="1700" b="0">
                <a:solidFill>
                  <a:srgbClr val="545C6E"/>
                </a:solidFill>
                <a:latin typeface="Calibri"/>
              </a:rPr>
              <a:t>If yes, no AI. Two steps out of six need thinking. That is the whole design.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FOUR VERSIONS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Only one thing changes: who fetches the data</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3144852"/>
                <a:gridCol w="1965532"/>
                <a:gridCol w="4913831"/>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How it works</a:t>
                      </a:r>
                    </a:p>
                  </a:txBody>
                  <a:tcPr>
                    <a:solidFill>
                      <a:srgbClr val="4338CA"/>
                    </a:solidFill>
                  </a:tcPr>
                </a:tc>
                <a:tc>
                  <a:txBody>
                    <a:bodyPr/>
                    <a:lstStyle/>
                    <a:p>
                      <a:r>
                        <a:rPr sz="1300" b="1">
                          <a:solidFill>
                            <a:srgbClr val="FFFFFF"/>
                          </a:solidFill>
                          <a:latin typeface="Calibri"/>
                        </a:rPr>
                        <a:t>Who fetches</a:t>
                      </a:r>
                    </a:p>
                  </a:txBody>
                  <a:tcPr>
                    <a:solidFill>
                      <a:srgbClr val="4338CA"/>
                    </a:solidFill>
                  </a:tcPr>
                </a:tc>
                <a:tc>
                  <a:txBody>
                    <a:bodyPr/>
                    <a:lstStyle/>
                    <a:p>
                      <a:r>
                        <a:rPr sz="1300" b="1">
                          <a:solidFill>
                            <a:srgbClr val="FFFFFF"/>
                          </a:solidFill>
                          <a:latin typeface="Calibri"/>
                        </a:rPr>
                        <a:t>Why I built it</a:t>
                      </a:r>
                    </a:p>
                  </a:txBody>
                  <a:tcPr>
                    <a:solidFill>
                      <a:srgbClr val="4338CA"/>
                    </a:solidFill>
                  </a:tcPr>
                </a:tc>
              </a:tr>
              <a:tr h="365760">
                <a:tc>
                  <a:txBody>
                    <a:bodyPr/>
                    <a:lstStyle/>
                    <a:p>
                      <a:r>
                        <a:rPr sz="1300" b="0">
                          <a:solidFill>
                            <a:srgbClr val="161A23"/>
                          </a:solidFill>
                          <a:latin typeface="Calibri"/>
                        </a:rPr>
                        <a:t>A</a:t>
                      </a:r>
                    </a:p>
                  </a:txBody>
                  <a:tcPr>
                    <a:solidFill>
                      <a:srgbClr val="FFFFFF"/>
                    </a:solidFill>
                  </a:tcPr>
                </a:tc>
                <a:tc>
                  <a:txBody>
                    <a:bodyPr/>
                    <a:lstStyle/>
                    <a:p>
                      <a:r>
                        <a:rPr sz="1300" b="0">
                          <a:solidFill>
                            <a:srgbClr val="161A23"/>
                          </a:solidFill>
                          <a:latin typeface="Calibri"/>
                        </a:rPr>
                        <a:t>One AI call, no tools</a:t>
                      </a:r>
                    </a:p>
                  </a:txBody>
                  <a:tcPr>
                    <a:solidFill>
                      <a:srgbClr val="FFFFFF"/>
                    </a:solidFill>
                  </a:tcPr>
                </a:tc>
                <a:tc>
                  <a:txBody>
                    <a:bodyPr/>
                    <a:lstStyle/>
                    <a:p>
                      <a:r>
                        <a:rPr sz="1300" b="0">
                          <a:solidFill>
                            <a:srgbClr val="161A23"/>
                          </a:solidFill>
                          <a:latin typeface="Calibri"/>
                        </a:rPr>
                        <a:t>nobody</a:t>
                      </a:r>
                    </a:p>
                  </a:txBody>
                  <a:tcPr>
                    <a:solidFill>
                      <a:srgbClr val="FFFFFF"/>
                    </a:solidFill>
                  </a:tcPr>
                </a:tc>
                <a:tc>
                  <a:txBody>
                    <a:bodyPr/>
                    <a:lstStyle/>
                    <a:p>
                      <a:r>
                        <a:rPr sz="1300" b="0">
                          <a:solidFill>
                            <a:srgbClr val="161A23"/>
                          </a:solidFill>
                          <a:latin typeface="Calibri"/>
                        </a:rPr>
                        <a:t>The floor. Shows what AI alone produces with no real data</a:t>
                      </a:r>
                    </a:p>
                  </a:txBody>
                  <a:tcPr>
                    <a:solidFill>
                      <a:srgbClr val="FFFFFF"/>
                    </a:solidFill>
                  </a:tcPr>
                </a:tc>
              </a:tr>
              <a:tr h="365760">
                <a:tc>
                  <a:txBody>
                    <a:bodyPr/>
                    <a:lstStyle/>
                    <a:p>
                      <a:r>
                        <a:rPr sz="1300" b="0">
                          <a:solidFill>
                            <a:srgbClr val="161A23"/>
                          </a:solidFill>
                          <a:latin typeface="Calibri"/>
                        </a:rPr>
                        <a:t>B</a:t>
                      </a:r>
                    </a:p>
                  </a:txBody>
                  <a:tcPr>
                    <a:solidFill>
                      <a:srgbClr val="F7F8FC"/>
                    </a:solidFill>
                  </a:tcPr>
                </a:tc>
                <a:tc>
                  <a:txBody>
                    <a:bodyPr/>
                    <a:lstStyle/>
                    <a:p>
                      <a:r>
                        <a:rPr sz="1300" b="0">
                          <a:solidFill>
                            <a:srgbClr val="161A23"/>
                          </a:solidFill>
                          <a:latin typeface="Calibri"/>
                        </a:rPr>
                        <a:t>Six agents, first attempt</a:t>
                      </a:r>
                    </a:p>
                  </a:txBody>
                  <a:tcPr>
                    <a:solidFill>
                      <a:srgbClr val="F7F8FC"/>
                    </a:solidFill>
                  </a:tcPr>
                </a:tc>
                <a:tc>
                  <a:txBody>
                    <a:bodyPr/>
                    <a:lstStyle/>
                    <a:p>
                      <a:r>
                        <a:rPr sz="1300" b="0">
                          <a:solidFill>
                            <a:srgbClr val="161A23"/>
                          </a:solidFill>
                          <a:latin typeface="Calibri"/>
                        </a:rPr>
                        <a:t>each agent decides</a:t>
                      </a:r>
                    </a:p>
                  </a:txBody>
                  <a:tcPr>
                    <a:solidFill>
                      <a:srgbClr val="F7F8FC"/>
                    </a:solidFill>
                  </a:tcPr>
                </a:tc>
                <a:tc>
                  <a:txBody>
                    <a:bodyPr/>
                    <a:lstStyle/>
                    <a:p>
                      <a:r>
                        <a:rPr sz="1300" b="0">
                          <a:solidFill>
                            <a:srgbClr val="161A23"/>
                          </a:solidFill>
                          <a:latin typeface="Calibri"/>
                        </a:rPr>
                        <a:t>My original proposal, untuned. The honest starting point</a:t>
                      </a:r>
                    </a:p>
                  </a:txBody>
                  <a:tcPr>
                    <a:solidFill>
                      <a:srgbClr val="F7F8FC"/>
                    </a:solidFill>
                  </a:tcPr>
                </a:tc>
              </a:tr>
              <a:tr h="365760">
                <a:tc>
                  <a:txBody>
                    <a:bodyPr/>
                    <a:lstStyle/>
                    <a:p>
                      <a:r>
                        <a:rPr sz="1300" b="0">
                          <a:solidFill>
                            <a:srgbClr val="161A23"/>
                          </a:solidFill>
                          <a:latin typeface="Calibri"/>
                        </a:rPr>
                        <a:t>C</a:t>
                      </a:r>
                    </a:p>
                  </a:txBody>
                  <a:tcPr>
                    <a:solidFill>
                      <a:srgbClr val="FFFFFF"/>
                    </a:solidFill>
                  </a:tcPr>
                </a:tc>
                <a:tc>
                  <a:txBody>
                    <a:bodyPr/>
                    <a:lstStyle/>
                    <a:p>
                      <a:r>
                        <a:rPr sz="1300" b="0">
                          <a:solidFill>
                            <a:srgbClr val="161A23"/>
                          </a:solidFill>
                          <a:latin typeface="Calibri"/>
                        </a:rPr>
                        <a:t>Same six agents, tuned properly</a:t>
                      </a:r>
                    </a:p>
                  </a:txBody>
                  <a:tcPr>
                    <a:solidFill>
                      <a:srgbClr val="FFFFFF"/>
                    </a:solidFill>
                  </a:tcPr>
                </a:tc>
                <a:tc>
                  <a:txBody>
                    <a:bodyPr/>
                    <a:lstStyle/>
                    <a:p>
                      <a:r>
                        <a:rPr sz="1300" b="0">
                          <a:solidFill>
                            <a:srgbClr val="161A23"/>
                          </a:solidFill>
                          <a:latin typeface="Calibri"/>
                        </a:rPr>
                        <a:t>each agent decides</a:t>
                      </a:r>
                    </a:p>
                  </a:txBody>
                  <a:tcPr>
                    <a:solidFill>
                      <a:srgbClr val="FFFFFF"/>
                    </a:solidFill>
                  </a:tcPr>
                </a:tc>
                <a:tc>
                  <a:txBody>
                    <a:bodyPr/>
                    <a:lstStyle/>
                    <a:p>
                      <a:r>
                        <a:rPr sz="1300" b="0">
                          <a:solidFill>
                            <a:srgbClr val="161A23"/>
                          </a:solidFill>
                          <a:latin typeface="Calibri"/>
                        </a:rPr>
                        <a:t>Proves the gain is the design, not just better settings</a:t>
                      </a:r>
                    </a:p>
                  </a:txBody>
                  <a:tcPr>
                    <a:solidFill>
                      <a:srgbClr val="FFFFFF"/>
                    </a:solidFill>
                  </a:tcPr>
                </a:tc>
              </a:tr>
              <a:tr h="365760">
                <a:tc>
                  <a:txBody>
                    <a:bodyPr/>
                    <a:lstStyle/>
                    <a:p>
                      <a:r>
                        <a:rPr sz="1300" b="0">
                          <a:solidFill>
                            <a:srgbClr val="161A23"/>
                          </a:solidFill>
                          <a:latin typeface="Calibri"/>
                        </a:rPr>
                        <a:t>D</a:t>
                      </a:r>
                    </a:p>
                  </a:txBody>
                  <a:tcPr>
                    <a:solidFill>
                      <a:srgbClr val="F7F8FC"/>
                    </a:solidFill>
                  </a:tcPr>
                </a:tc>
                <a:tc>
                  <a:txBody>
                    <a:bodyPr/>
                    <a:lstStyle/>
                    <a:p>
                      <a:r>
                        <a:rPr sz="1300" b="0">
                          <a:solidFill>
                            <a:srgbClr val="161A23"/>
                          </a:solidFill>
                          <a:latin typeface="Calibri"/>
                        </a:rPr>
                        <a:t>Three agents, normal code fetches</a:t>
                      </a:r>
                    </a:p>
                  </a:txBody>
                  <a:tcPr>
                    <a:solidFill>
                      <a:srgbClr val="F7F8FC"/>
                    </a:solidFill>
                  </a:tcPr>
                </a:tc>
                <a:tc>
                  <a:txBody>
                    <a:bodyPr/>
                    <a:lstStyle/>
                    <a:p>
                      <a:r>
                        <a:rPr sz="1300" b="0">
                          <a:solidFill>
                            <a:srgbClr val="161A23"/>
                          </a:solidFill>
                          <a:latin typeface="Calibri"/>
                        </a:rPr>
                        <a:t>normal code</a:t>
                      </a:r>
                    </a:p>
                  </a:txBody>
                  <a:tcPr>
                    <a:solidFill>
                      <a:srgbClr val="F7F8FC"/>
                    </a:solidFill>
                  </a:tcPr>
                </a:tc>
                <a:tc>
                  <a:txBody>
                    <a:bodyPr/>
                    <a:lstStyle/>
                    <a:p>
                      <a:r>
                        <a:rPr sz="1300" b="0">
                          <a:solidFill>
                            <a:srgbClr val="161A23"/>
                          </a:solidFill>
                          <a:latin typeface="Calibri"/>
                        </a:rPr>
                        <a:t>What I ship. This is the idea being tested</a:t>
                      </a:r>
                    </a:p>
                  </a:txBody>
                  <a:tcPr>
                    <a:solidFill>
                      <a:srgbClr val="F7F8FC"/>
                    </a:solidFill>
                  </a:tcPr>
                </a:tc>
              </a:tr>
            </a:tbl>
          </a:graphicData>
        </a:graphic>
      </p:graphicFrame>
      <p:sp>
        <p:nvSpPr>
          <p:cNvPr id="6" name="TextBox 5"/>
          <p:cNvSpPr txBox="1"/>
          <p:nvPr/>
        </p:nvSpPr>
        <p:spPr>
          <a:xfrm>
            <a:off x="822960" y="5120640"/>
            <a:ext cx="10515600" cy="914400"/>
          </a:xfrm>
          <a:prstGeom prst="rect">
            <a:avLst/>
          </a:prstGeom>
          <a:noFill/>
        </p:spPr>
        <p:txBody>
          <a:bodyPr wrap="square" anchor="t">
            <a:spAutoFit/>
          </a:bodyPr>
          <a:lstStyle/>
          <a:p>
            <a:pPr algn="l">
              <a:lnSpc>
                <a:spcPct val="100000"/>
              </a:lnSpc>
            </a:pPr>
            <a:r>
              <a:rPr sz="1800" b="1">
                <a:solidFill>
                  <a:srgbClr val="4338CA"/>
                </a:solidFill>
                <a:latin typeface="Calibri"/>
              </a:rPr>
              <a:t>C is the important one: without it, someone could say D only won because B was set up badly.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WHAT WENT WRONG IN EACH VERSION</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Measured, not guessed. This is why D exists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9" cy="1828800"/>
        </p:xfrm>
        <a:graphic>
          <a:graphicData uri="http://schemas.openxmlformats.org/drawingml/2006/table">
            <a:tbl>
              <a:tblPr firstRow="1" bandRow="1">
                <a:tableStyleId>{5C22544A-7EE6-4342-B048-85BDC9FD1C3A}</a:tableStyleId>
              </a:tblPr>
              <a:tblGrid>
                <a:gridCol w="477981"/>
                <a:gridCol w="10037618"/>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The problem I measured</a:t>
                      </a:r>
                    </a:p>
                  </a:txBody>
                  <a:tcPr>
                    <a:solidFill>
                      <a:srgbClr val="4338CA"/>
                    </a:solidFill>
                  </a:tcPr>
                </a:tc>
              </a:tr>
              <a:tr h="365760">
                <a:tc>
                  <a:txBody>
                    <a:bodyPr/>
                    <a:lstStyle/>
                    <a:p>
                      <a:r>
                        <a:rPr sz="1300" b="0">
                          <a:solidFill>
                            <a:srgbClr val="161A23"/>
                          </a:solidFill>
                          <a:latin typeface="Calibri"/>
                        </a:rPr>
                        <a:t>A</a:t>
                      </a:r>
                    </a:p>
                  </a:txBody>
                  <a:tcPr>
                    <a:solidFill>
                      <a:srgbClr val="FFFFFF"/>
                    </a:solidFill>
                  </a:tcPr>
                </a:tc>
                <a:tc>
                  <a:txBody>
                    <a:bodyPr/>
                    <a:lstStyle/>
                    <a:p>
                      <a:r>
                        <a:rPr sz="1300" b="0">
                          <a:solidFill>
                            <a:srgbClr val="161A23"/>
                          </a:solidFill>
                          <a:latin typeface="Calibri"/>
                        </a:rPr>
                        <a:t>No tools at all, so it invents everything. Only 1.7% of its prices matched a real fare</a:t>
                      </a:r>
                    </a:p>
                  </a:txBody>
                  <a:tcPr>
                    <a:solidFill>
                      <a:srgbClr val="FFFFFF"/>
                    </a:solidFill>
                  </a:tcPr>
                </a:tc>
              </a:tr>
              <a:tr h="365760">
                <a:tc>
                  <a:txBody>
                    <a:bodyPr/>
                    <a:lstStyle/>
                    <a:p>
                      <a:r>
                        <a:rPr sz="1300" b="0">
                          <a:solidFill>
                            <a:srgbClr val="161A23"/>
                          </a:solidFill>
                          <a:latin typeface="Calibri"/>
                        </a:rPr>
                        <a:t>B</a:t>
                      </a:r>
                    </a:p>
                  </a:txBody>
                  <a:tcPr>
                    <a:solidFill>
                      <a:srgbClr val="F7F8FC"/>
                    </a:solidFill>
                  </a:tcPr>
                </a:tc>
                <a:tc>
                  <a:txBody>
                    <a:bodyPr/>
                    <a:lstStyle/>
                    <a:p>
                      <a:r>
                        <a:rPr sz="1300" b="0">
                          <a:solidFill>
                            <a:srgbClr val="161A23"/>
                          </a:solidFill>
                          <a:latin typeface="Calibri"/>
                        </a:rPr>
                        <a:t>Skipped its own tools: never called the attractions or restaurant tool once. Twice produced broken output it had to redo</a:t>
                      </a:r>
                    </a:p>
                  </a:txBody>
                  <a:tcPr>
                    <a:solidFill>
                      <a:srgbClr val="F7F8FC"/>
                    </a:solidFill>
                  </a:tcPr>
                </a:tc>
              </a:tr>
              <a:tr h="365760">
                <a:tc>
                  <a:txBody>
                    <a:bodyPr/>
                    <a:lstStyle/>
                    <a:p>
                      <a:r>
                        <a:rPr sz="1300" b="0">
                          <a:solidFill>
                            <a:srgbClr val="161A23"/>
                          </a:solidFill>
                          <a:latin typeface="Calibri"/>
                        </a:rPr>
                        <a:t>C</a:t>
                      </a:r>
                    </a:p>
                  </a:txBody>
                  <a:tcPr>
                    <a:solidFill>
                      <a:srgbClr val="FFFFFF"/>
                    </a:solidFill>
                  </a:tcPr>
                </a:tc>
                <a:tc>
                  <a:txBody>
                    <a:bodyPr/>
                    <a:lstStyle/>
                    <a:p>
                      <a:r>
                        <a:rPr sz="1300" b="0">
                          <a:solidFill>
                            <a:srgbClr val="161A23"/>
                          </a:solidFill>
                          <a:latin typeface="Calibri"/>
                        </a:rPr>
                        <a:t>Better, but still unreliable: never called the flight tool at all on the recorded run</a:t>
                      </a:r>
                    </a:p>
                  </a:txBody>
                  <a:tcPr>
                    <a:solidFill>
                      <a:srgbClr val="FFFFFF"/>
                    </a:solidFill>
                  </a:tcPr>
                </a:tc>
              </a:tr>
              <a:tr h="365760">
                <a:tc>
                  <a:txBody>
                    <a:bodyPr/>
                    <a:lstStyle/>
                    <a:p>
                      <a:r>
                        <a:rPr sz="1300" b="0">
                          <a:solidFill>
                            <a:srgbClr val="161A23"/>
                          </a:solidFill>
                          <a:latin typeface="Calibri"/>
                        </a:rPr>
                        <a:t>D</a:t>
                      </a:r>
                    </a:p>
                  </a:txBody>
                  <a:tcPr>
                    <a:solidFill>
                      <a:srgbClr val="F7F8FC"/>
                    </a:solidFill>
                  </a:tcPr>
                </a:tc>
                <a:tc>
                  <a:txBody>
                    <a:bodyPr/>
                    <a:lstStyle/>
                    <a:p>
                      <a:r>
                        <a:rPr sz="1300" b="0">
                          <a:solidFill>
                            <a:srgbClr val="161A23"/>
                          </a:solidFill>
                          <a:latin typeface="Calibri"/>
                        </a:rPr>
                        <a:t>Always makes exactly the same 5 requests, because code decides, not AI. Nothing gets skipped</a:t>
                      </a:r>
                    </a:p>
                  </a:txBody>
                  <a:tcPr>
                    <a:solidFill>
                      <a:srgbClr val="F7F8FC"/>
                    </a:solidFill>
                  </a:tcPr>
                </a:tc>
              </a:tr>
            </a:tbl>
          </a:graphicData>
        </a:graphic>
      </p:graphicFrame>
      <p:sp>
        <p:nvSpPr>
          <p:cNvPr id="6" name="TextBox 5"/>
          <p:cNvSpPr txBox="1"/>
          <p:nvPr/>
        </p:nvSpPr>
        <p:spPr>
          <a:xfrm>
            <a:off x="822960" y="4937760"/>
            <a:ext cx="10515600" cy="1188720"/>
          </a:xfrm>
          <a:prstGeom prst="rect">
            <a:avLst/>
          </a:prstGeom>
          <a:noFill/>
        </p:spPr>
        <p:txBody>
          <a:bodyPr wrap="square" anchor="t">
            <a:spAutoFit/>
          </a:bodyPr>
          <a:lstStyle/>
          <a:p>
            <a:pPr algn="l">
              <a:lnSpc>
                <a:spcPct val="125000"/>
              </a:lnSpc>
            </a:pPr>
            <a:r>
              <a:rPr sz="2000" b="1">
                <a:solidFill>
                  <a:srgbClr val="A85B00"/>
                </a:solidFill>
                <a:latin typeface="Calibri"/>
              </a:rPr>
              <a:t>The pattern: when AI decides which tools to call, it sometimes does not call them.</a:t>
            </a:r>
          </a:p>
          <a:p>
            <a:pPr algn="l">
              <a:lnSpc>
                <a:spcPct val="125000"/>
              </a:lnSpc>
            </a:pPr>
            <a:r>
              <a:rPr sz="1700" b="0">
                <a:solidFill>
                  <a:srgbClr val="545C6E"/>
                </a:solidFill>
                <a:latin typeface="Calibri"/>
              </a:rPr>
              <a:t>The plan still looks finished. That is what makes it dangerous.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HOW IT IS BUILT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Four layers. Only the third one changes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2"/>
          <a:stretch>
            <a:fillRect/>
          </a:stretch>
        </p:blipFill>
        <p:spPr>
          <a:xfrm>
            <a:off x="2903513" y="1828800"/>
            <a:ext cx="6384669" cy="42976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HOW I MEASURED IT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Repeated runs, and no keys needed to check</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5</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runs of each version,
so every number has a range</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1/20</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trips measured for cost.
The API limits stopped me</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30</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saved API replies, so anyone
can repeat this for free</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403</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automated tests,
no keys, no internet</a:t>
            </a:r>
          </a:p>
        </p:txBody>
      </p:sp>
      <p:sp>
        <p:nvSpPr>
          <p:cNvPr id="13" name="TextBox 12"/>
          <p:cNvSpPr txBox="1"/>
          <p:nvPr/>
        </p:nvSpPr>
        <p:spPr>
          <a:xfrm>
            <a:off x="822960" y="4937760"/>
            <a:ext cx="10515600" cy="1097280"/>
          </a:xfrm>
          <a:prstGeom prst="rect">
            <a:avLst/>
          </a:prstGeom>
          <a:noFill/>
        </p:spPr>
        <p:txBody>
          <a:bodyPr wrap="square" anchor="t">
            <a:spAutoFit/>
          </a:bodyPr>
          <a:lstStyle/>
          <a:p>
            <a:pPr algn="l">
              <a:lnSpc>
                <a:spcPct val="130000"/>
              </a:lnSpc>
            </a:pPr>
            <a:r>
              <a:rPr sz="1700" b="0">
                <a:solidFill>
                  <a:srgbClr val="545C6E"/>
                </a:solidFill>
                <a:latin typeface="Calibri"/>
              </a:rPr>
              <a:t>AI calls are counted by the system itself, never by hand.</a:t>
            </a:r>
          </a:p>
          <a:p>
            <a:pPr algn="l">
              <a:lnSpc>
                <a:spcPct val="130000"/>
              </a:lnSpc>
            </a:pPr>
            <a:r>
              <a:rPr sz="1700" b="0">
                <a:solidFill>
                  <a:srgbClr val="545C6E"/>
                </a:solidFill>
                <a:latin typeface="Calibri"/>
              </a:rPr>
              <a:t>The limited coverage is printed on every chart, not hidden.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1  ·  COST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Fetching data is where the money goes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fficiency.png"/>
          <p:cNvPicPr>
            <a:picLocks noChangeAspect="1"/>
          </p:cNvPicPr>
          <p:nvPr/>
        </p:nvPicPr>
        <p:blipFill>
          <a:blip r:embed="rId2"/>
          <a:stretch>
            <a:fillRect/>
          </a:stretch>
        </p:blipFill>
        <p:spPr>
          <a:xfrm>
            <a:off x="2692927" y="1783080"/>
            <a:ext cx="6805840"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B sent 120,703 units of text.  D sent 7,840.  Same trip, same data, same 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2  ·  SETTINGS VS DESIGN</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Answering the obvious objection</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uning_effect.png"/>
          <p:cNvPicPr>
            <a:picLocks noChangeAspect="1"/>
          </p:cNvPicPr>
          <p:nvPr/>
        </p:nvPicPr>
        <p:blipFill>
          <a:blip r:embed="rId2"/>
          <a:stretch>
            <a:fillRect/>
          </a:stretch>
        </p:blipFill>
        <p:spPr>
          <a:xfrm>
            <a:off x="-465761" y="1783080"/>
            <a:ext cx="13123217"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Just better settings: 89% less text.  Changing the design: 94%.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3  ·  IS THE PLAN REAL?</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Cheaper, and no less accurate</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oundedness.png"/>
          <p:cNvPicPr>
            <a:picLocks noChangeAspect="1"/>
          </p:cNvPicPr>
          <p:nvPr/>
        </p:nvPicPr>
        <p:blipFill>
          <a:blip r:embed="rId2"/>
          <a:stretch>
            <a:fillRect/>
          </a:stretch>
        </p:blipFill>
        <p:spPr>
          <a:xfrm>
            <a:off x="-115629" y="1783080"/>
            <a:ext cx="12422953"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Prices that match a real fare:  A 1.7%  ·  B 22.9%  ·  C 56.3%  ·  D 46.6%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PROBLEMS IN MY OWN SYSTEM</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Found by measuring it, and reported not hidden</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3/9</a:t>
            </a:r>
          </a:p>
        </p:txBody>
      </p:sp>
      <p:sp>
        <p:nvSpPr>
          <p:cNvPr id="6" name="TextBox 5"/>
          <p:cNvSpPr txBox="1"/>
          <p:nvPr/>
        </p:nvSpPr>
        <p:spPr>
          <a:xfrm>
            <a:off x="822960"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design checks pass.
Six things I claimed, that do not happen</a:t>
            </a:r>
          </a:p>
        </p:txBody>
      </p:sp>
      <p:sp>
        <p:nvSpPr>
          <p:cNvPr id="7" name="TextBox 6"/>
          <p:cNvSpPr txBox="1"/>
          <p:nvPr/>
        </p:nvSpPr>
        <p:spPr>
          <a:xfrm>
            <a:off x="6095847"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50%</a:t>
            </a:r>
          </a:p>
        </p:txBody>
      </p:sp>
      <p:sp>
        <p:nvSpPr>
          <p:cNvPr id="8" name="TextBox 7"/>
          <p:cNvSpPr txBox="1"/>
          <p:nvPr/>
        </p:nvSpPr>
        <p:spPr>
          <a:xfrm>
            <a:off x="6095847"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of impossible budgets caught.
It misses the other half</a:t>
            </a:r>
          </a:p>
        </p:txBody>
      </p:sp>
      <p:sp>
        <p:nvSpPr>
          <p:cNvPr id="9" name="TextBox 8"/>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Both are in the report, with the evidence.</a:t>
            </a:r>
          </a:p>
          <a:p>
            <a:pPr algn="l">
              <a:lnSpc>
                <a:spcPct val="125000"/>
              </a:lnSpc>
            </a:pPr>
            <a:r>
              <a:rPr sz="1600" b="0">
                <a:solidFill>
                  <a:srgbClr val="545C6E"/>
                </a:solidFill>
                <a:latin typeface="Calibri"/>
              </a:rPr>
              <a:t>The budget check never wrongly refuses a workable trip (precision 100%), but it lets 1 impossible one through. Agreement score 0.643 - moderate, not good.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BIGGEST RISK</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It was never the coding</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flight searches a month.
One search costs two</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50</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hotel searches a month.
Free plan, cannot buy more</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replies saved once,
reused for ever</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Running out is not a delay. It is a month of waiting.</a:t>
            </a:r>
          </a:p>
          <a:p>
            <a:pPr algn="l">
              <a:lnSpc>
                <a:spcPct val="125000"/>
              </a:lnSpc>
            </a:pPr>
            <a:r>
              <a:rPr sz="1600" b="0">
                <a:solidFill>
                  <a:srgbClr val="545C6E"/>
                </a:solidFill>
                <a:latin typeface="Calibri"/>
              </a:rPr>
              <a:t>So I saved every reply to disk before building anything. That is why you can repeat my results with no API keys at 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WHY THIS MATTERS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Beyond one travel planner</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9" cy="1828800"/>
        </p:xfrm>
        <a:graphic>
          <a:graphicData uri="http://schemas.openxmlformats.org/drawingml/2006/table">
            <a:tbl>
              <a:tblPr firstRow="1" bandRow="1">
                <a:tableStyleId>{5C22544A-7EE6-4342-B048-85BDC9FD1C3A}</a:tableStyleId>
              </a:tblPr>
              <a:tblGrid>
                <a:gridCol w="477981"/>
                <a:gridCol w="10037618"/>
              </a:tblGrid>
              <a:tr h="365760">
                <a:tc>
                  <a:txBody>
                    <a:bodyPr/>
                    <a:lstStyle/>
                    <a:p>
                      <a:r>
                        <a:rPr sz="1400" b="1">
                          <a:solidFill>
                            <a:srgbClr val="FFFFFF"/>
                          </a:solidFill>
                          <a:latin typeface="Calibri"/>
                        </a:rPr>
                        <a:t> </a:t>
                      </a:r>
                    </a:p>
                  </a:txBody>
                  <a:tcPr>
                    <a:solidFill>
                      <a:srgbClr val="4338CA"/>
                    </a:solidFill>
                  </a:tcPr>
                </a:tc>
                <a:tc>
                  <a:txBody>
                    <a:bodyPr/>
                    <a:lstStyle/>
                    <a:p>
                      <a:r>
                        <a:rPr sz="1400" b="1">
                          <a:solidFill>
                            <a:srgbClr val="FFFFFF"/>
                          </a:solidFill>
                          <a:latin typeface="Calibri"/>
                        </a:rPr>
                        <a:t>What this project shows</a:t>
                      </a:r>
                    </a:p>
                  </a:txBody>
                  <a:tcPr>
                    <a:solidFill>
                      <a:srgbClr val="4338CA"/>
                    </a:solidFill>
                  </a:tcPr>
                </a:tc>
              </a:tr>
              <a:tr h="365760">
                <a:tc>
                  <a:txBody>
                    <a:bodyPr/>
                    <a:lstStyle/>
                    <a:p>
                      <a:r>
                        <a:rPr sz="1400" b="0">
                          <a:solidFill>
                            <a:srgbClr val="161A23"/>
                          </a:solidFill>
                          <a:latin typeface="Calibri"/>
                        </a:rPr>
                        <a:t>1</a:t>
                      </a:r>
                    </a:p>
                  </a:txBody>
                  <a:tcPr>
                    <a:solidFill>
                      <a:srgbClr val="FFFFFF"/>
                    </a:solidFill>
                  </a:tcPr>
                </a:tc>
                <a:tc>
                  <a:txBody>
                    <a:bodyPr/>
                    <a:lstStyle/>
                    <a:p>
                      <a:r>
                        <a:rPr sz="1400" b="0">
                          <a:solidFill>
                            <a:srgbClr val="161A23"/>
                          </a:solidFill>
                          <a:latin typeface="Calibri"/>
                        </a:rPr>
                        <a:t>AI agents are expensive by default, and most of the cost is spent on work that needs no intelligence</a:t>
                      </a:r>
                    </a:p>
                  </a:txBody>
                  <a:tcPr>
                    <a:solidFill>
                      <a:srgbClr val="FFFFFF"/>
                    </a:solidFill>
                  </a:tcPr>
                </a:tc>
              </a:tr>
              <a:tr h="365760">
                <a:tc>
                  <a:txBody>
                    <a:bodyPr/>
                    <a:lstStyle/>
                    <a:p>
                      <a:r>
                        <a:rPr sz="1400" b="0">
                          <a:solidFill>
                            <a:srgbClr val="161A23"/>
                          </a:solidFill>
                          <a:latin typeface="Calibri"/>
                        </a:rPr>
                        <a:t>2</a:t>
                      </a:r>
                    </a:p>
                  </a:txBody>
                  <a:tcPr>
                    <a:solidFill>
                      <a:srgbClr val="F7F8FC"/>
                    </a:solidFill>
                  </a:tcPr>
                </a:tc>
                <a:tc>
                  <a:txBody>
                    <a:bodyPr/>
                    <a:lstStyle/>
                    <a:p>
                      <a:r>
                        <a:rPr sz="1400" b="0">
                          <a:solidFill>
                            <a:srgbClr val="161A23"/>
                          </a:solidFill>
                          <a:latin typeface="Calibri"/>
                        </a:rPr>
                        <a:t>Giving an agent a tool does not mean it will use it. Mine skipped tools and still produced confident plans</a:t>
                      </a:r>
                    </a:p>
                  </a:txBody>
                  <a:tcPr>
                    <a:solidFill>
                      <a:srgbClr val="F7F8FC"/>
                    </a:solidFill>
                  </a:tcPr>
                </a:tc>
              </a:tr>
              <a:tr h="365760">
                <a:tc>
                  <a:txBody>
                    <a:bodyPr/>
                    <a:lstStyle/>
                    <a:p>
                      <a:r>
                        <a:rPr sz="1400" b="0">
                          <a:solidFill>
                            <a:srgbClr val="161A23"/>
                          </a:solidFill>
                          <a:latin typeface="Calibri"/>
                        </a:rPr>
                        <a:t>3</a:t>
                      </a:r>
                    </a:p>
                  </a:txBody>
                  <a:tcPr>
                    <a:solidFill>
                      <a:srgbClr val="FFFFFF"/>
                    </a:solidFill>
                  </a:tcPr>
                </a:tc>
                <a:tc>
                  <a:txBody>
                    <a:bodyPr/>
                    <a:lstStyle/>
                    <a:p>
                      <a:r>
                        <a:rPr sz="1400" b="0">
                          <a:solidFill>
                            <a:srgbClr val="161A23"/>
                          </a:solidFill>
                          <a:latin typeface="Calibri"/>
                        </a:rPr>
                        <a:t>You cannot tell a made-up plan from a real one by reading it. It has to be measured</a:t>
                      </a:r>
                    </a:p>
                  </a:txBody>
                  <a:tcPr>
                    <a:solidFill>
                      <a:srgbClr val="FFFFFF"/>
                    </a:solidFill>
                  </a:tcPr>
                </a:tc>
              </a:tr>
              <a:tr h="365760">
                <a:tc>
                  <a:txBody>
                    <a:bodyPr/>
                    <a:lstStyle/>
                    <a:p>
                      <a:r>
                        <a:rPr sz="1400" b="0">
                          <a:solidFill>
                            <a:srgbClr val="161A23"/>
                          </a:solidFill>
                          <a:latin typeface="Calibri"/>
                        </a:rPr>
                        <a:t>4</a:t>
                      </a:r>
                    </a:p>
                  </a:txBody>
                  <a:tcPr>
                    <a:solidFill>
                      <a:srgbClr val="F7F8FC"/>
                    </a:solidFill>
                  </a:tcPr>
                </a:tc>
                <a:tc>
                  <a:txBody>
                    <a:bodyPr/>
                    <a:lstStyle/>
                    <a:p>
                      <a:r>
                        <a:rPr sz="1400" b="0">
                          <a:solidFill>
                            <a:srgbClr val="161A23"/>
                          </a:solidFill>
                          <a:latin typeface="Calibri"/>
                        </a:rPr>
                        <a:t>The same result comes out cheaper AND just as accurate, so there is no trade-off being hidden here</a:t>
                      </a:r>
                    </a:p>
                  </a:txBody>
                  <a:tcPr>
                    <a:solidFill>
                      <a:srgbClr val="F7F8FC"/>
                    </a:solidFill>
                  </a:tcPr>
                </a:tc>
              </a:tr>
            </a:tbl>
          </a:graphicData>
        </a:graphic>
      </p:graphicFrame>
      <p:sp>
        <p:nvSpPr>
          <p:cNvPr id="6" name="TextBox 5"/>
          <p:cNvSpPr txBox="1"/>
          <p:nvPr/>
        </p:nvSpPr>
        <p:spPr>
          <a:xfrm>
            <a:off x="822960" y="5029200"/>
            <a:ext cx="10515600" cy="1005840"/>
          </a:xfrm>
          <a:prstGeom prst="rect">
            <a:avLst/>
          </a:prstGeom>
          <a:noFill/>
        </p:spPr>
        <p:txBody>
          <a:bodyPr wrap="square" anchor="t">
            <a:spAutoFit/>
          </a:bodyPr>
          <a:lstStyle/>
          <a:p>
            <a:pPr algn="l">
              <a:lnSpc>
                <a:spcPct val="100000"/>
              </a:lnSpc>
            </a:pPr>
            <a:r>
              <a:rPr sz="1900" b="1">
                <a:solidFill>
                  <a:srgbClr val="4338CA"/>
                </a:solidFill>
                <a:latin typeface="Calibri"/>
              </a:rPr>
              <a:t>Anyone building with AI agents faces this choice. Most do not measure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WHAT I WOULD DO DIFFERENTLY</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mistake, and what it cost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11680"/>
            <a:ext cx="10515600" cy="3291840"/>
          </a:xfrm>
          <a:prstGeom prst="rect">
            <a:avLst/>
          </a:prstGeom>
          <a:noFill/>
        </p:spPr>
        <p:txBody>
          <a:bodyPr wrap="square" anchor="t">
            <a:spAutoFit/>
          </a:bodyPr>
          <a:lstStyle/>
          <a:p>
            <a:pPr algn="l">
              <a:lnSpc>
                <a:spcPct val="130000"/>
              </a:lnSpc>
            </a:pPr>
            <a:r>
              <a:rPr sz="2400" b="1">
                <a:solidFill>
                  <a:srgbClr val="4338CA"/>
                </a:solidFill>
                <a:latin typeface="Calibri"/>
              </a:rPr>
              <a:t>I built the measuring last. It should have been first.</a:t>
            </a:r>
          </a:p>
          <a:p>
            <a:pPr algn="l">
              <a:lnSpc>
                <a:spcPct val="130000"/>
              </a:lnSpc>
            </a:pPr>
            <a:r>
              <a:rPr sz="1000" b="0">
                <a:solidFill>
                  <a:srgbClr val="161A23"/>
                </a:solidFill>
                <a:latin typeface="Calibri"/>
              </a:rPr>
              <a:t/>
            </a:r>
          </a:p>
          <a:p>
            <a:pPr algn="l">
              <a:lnSpc>
                <a:spcPct val="130000"/>
              </a:lnSpc>
            </a:pPr>
            <a:r>
              <a:rPr sz="1700" b="0">
                <a:solidFill>
                  <a:srgbClr val="161A23"/>
                </a:solidFill>
                <a:latin typeface="Calibri"/>
              </a:rPr>
              <a:t>Six agents became three only because measuring showed where the cost was going. That evidence arrived after the system was already built, so changing it meant rebuilding.</a:t>
            </a:r>
          </a:p>
          <a:p>
            <a:pPr algn="l">
              <a:lnSpc>
                <a:spcPct val="130000"/>
              </a:lnSpc>
            </a:pPr>
            <a:r>
              <a:rPr sz="800" b="0">
                <a:solidFill>
                  <a:srgbClr val="161A23"/>
                </a:solidFill>
                <a:latin typeface="Calibri"/>
              </a:rPr>
              <a:t/>
            </a:r>
          </a:p>
          <a:p>
            <a:pPr algn="l">
              <a:lnSpc>
                <a:spcPct val="130000"/>
              </a:lnSpc>
            </a:pPr>
            <a:r>
              <a:rPr sz="1900" b="1">
                <a:solidFill>
                  <a:srgbClr val="161A23"/>
                </a:solidFill>
                <a:latin typeface="Calibri"/>
              </a:rPr>
              <a:t>Build the counter before the thing being counted.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46304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IN ONE SENTENCE</a:t>
            </a:r>
          </a:p>
        </p:txBody>
      </p:sp>
      <p:sp>
        <p:nvSpPr>
          <p:cNvPr id="3" name="TextBox 2"/>
          <p:cNvSpPr txBox="1"/>
          <p:nvPr/>
        </p:nvSpPr>
        <p:spPr>
          <a:xfrm>
            <a:off x="1005840" y="1920240"/>
            <a:ext cx="10241280" cy="2194560"/>
          </a:xfrm>
          <a:prstGeom prst="rect">
            <a:avLst/>
          </a:prstGeom>
          <a:noFill/>
        </p:spPr>
        <p:txBody>
          <a:bodyPr wrap="square" anchor="t">
            <a:spAutoFit/>
          </a:bodyPr>
          <a:lstStyle/>
          <a:p>
            <a:pPr algn="l">
              <a:lnSpc>
                <a:spcPct val="120000"/>
              </a:lnSpc>
            </a:pPr>
            <a:r>
              <a:rPr sz="3400" b="1">
                <a:solidFill>
                  <a:srgbClr val="FFFFFF"/>
                </a:solidFill>
                <a:latin typeface="Calibri"/>
              </a:rPr>
              <a:t>Use AI where a step needs thinking.</a:t>
            </a:r>
          </a:p>
          <a:p>
            <a:pPr algn="l">
              <a:lnSpc>
                <a:spcPct val="120000"/>
              </a:lnSpc>
            </a:pPr>
            <a:r>
              <a:rPr sz="3400" b="1">
                <a:solidFill>
                  <a:srgbClr val="6EE7DF"/>
                </a:solidFill>
                <a:latin typeface="Calibri"/>
              </a:rPr>
              <a:t>Everywhere else, it is just a bill.</a:t>
            </a:r>
          </a:p>
        </p:txBody>
      </p:sp>
      <p:sp>
        <p:nvSpPr>
          <p:cNvPr id="4" name="Rectangle 3"/>
          <p:cNvSpPr/>
          <p:nvPr/>
        </p:nvSpPr>
        <p:spPr>
          <a:xfrm>
            <a:off x="1005840" y="429768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617720"/>
            <a:ext cx="10241280" cy="1463040"/>
          </a:xfrm>
          <a:prstGeom prst="rect">
            <a:avLst/>
          </a:prstGeom>
          <a:noFill/>
        </p:spPr>
        <p:txBody>
          <a:bodyPr wrap="square" anchor="t">
            <a:spAutoFit/>
          </a:bodyPr>
          <a:lstStyle/>
          <a:p>
            <a:pPr algn="l">
              <a:lnSpc>
                <a:spcPct val="130000"/>
              </a:lnSpc>
            </a:pPr>
            <a:r>
              <a:rPr sz="1800" b="0">
                <a:solidFill>
                  <a:srgbClr val="C7D2FE"/>
                </a:solidFill>
                <a:latin typeface="Calibri"/>
              </a:rPr>
              <a:t>15x cheaper, no loss of accuracy, measured on 1 trip run 5 times.</a:t>
            </a:r>
          </a:p>
          <a:p>
            <a:pPr algn="l">
              <a:lnSpc>
                <a:spcPct val="130000"/>
              </a:lnSpc>
            </a:pPr>
            <a:r>
              <a:rPr sz="800" b="0">
                <a:solidFill>
                  <a:srgbClr val="FFFFFF"/>
                </a:solidFill>
                <a:latin typeface="Calibri"/>
              </a:rPr>
              <a:t/>
            </a:r>
          </a:p>
          <a:p>
            <a:pPr algn="l">
              <a:lnSpc>
                <a:spcPct val="130000"/>
              </a:lnSpc>
            </a:pPr>
            <a:r>
              <a:rPr sz="1500" b="0">
                <a:solidFill>
                  <a:srgbClr val="9CA3F5"/>
                </a:solidFill>
                <a:latin typeface="Calibri"/>
              </a:rPr>
              <a:t>Narrow coverage is the gap. Everything needed to widen it is saved and runs without keys.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
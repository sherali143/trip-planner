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 slides. A working travel planner, and one question inside it: which parts of it really need AI? I built it four ways and measured all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agents. Two of them read what the traveller wrote, three look things up, and one writes the plan. Keep this slide up while naming them - the next four slides all refer back to these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Approach A shows what happens when AI plans a trip with no access to real travel data. It produced a confident, well-written itinerary and 1.7% of the prices in it matched anything real. Every other approach has to beat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was my original proposal. The hotel agent has eight tools and is allowed ten thinking steps, and every step is a separate AI call that re-sends the conversation and all eight tool descriptions. It took 20.6 AI calls and 372 seconds, gave broken output twice, and never once called the attractions or the restaurant tool - while still producing a plan that looked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Approach C is Approach B done properly, and it exists so nobody can say D only won because B was set up badly. Instead of handing the AI twelve thousand characters of hotel data, it gets three lines - Theodora Pension $33 10/10, and so on. Settings alone removed 89% of the tokens. Being honest about that is what makes the next slide believable.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that ships. AI understands the request, Python fetches the data, AI writes the plan. No agent holds a search tool in the measured run, so it makes exactly 5 searches every time in the same order - an IF statement decides rather than a model, so nothing can be skipped, which is exactly what B and C both did. If asked about the four helper tools in the web app: they are on the coordinator for the interactive path, and the measured arm strips them so the comparison is clean.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last row carefully. C is 56% and D is 47%, and their ranges overlap, so I cannot claim D is better grounded and I do not. What does not overlap is the token count. The claim is cheaper and faster with no measurable penalty - a smaller claim than the numbers first suggest, and the only one the data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 worth demonstrating. The seven step rows tick over live as each finishes, so the page never looks frozen. And the budget check: it works out the cheapest this trip could possibly cost, using the real recorded fare rather than a built-in table - the table said $350 and the API returned $734 - then refuses and offers a shorter trip, a bigger budget, or a nearer 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findings from three comparisons: A against the rest shows tools are essential, B against C shows setup matters, C against D shows that removing AI from the searching costs nothing in quality. 403 tests and 30 saved API replies mean anyone can check all of it without an API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9CA3F5"/>
                </a:solidFill>
                <a:latin typeface="Calibri"/>
              </a:rPr>
              <a:t>MSc DISSERTATION  ·  VIVA VOCE  ·  CMP7200 — Individual Master's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AI Trip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C7D2FE"/>
                </a:solidFill>
                <a:latin typeface="Calibri"/>
              </a:rPr>
              <a:t>You type where you want to go. It gives you a day-by-day plan with real flight and hotel prices.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697480"/>
            <a:ext cx="1280160" cy="3400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493776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0B46A"/>
                </a:solidFill>
                <a:latin typeface="Calibri"/>
              </a:rPr>
              <a:t>THE PROBLEM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A trip needs flights, hotels, places to visit and a budget that adds up.</a:t>
            </a:r>
          </a:p>
          <a:p>
            <a:pPr algn="l">
              <a:lnSpc>
                <a:spcPct val="125000"/>
              </a:lnSpc>
            </a:pPr>
            <a:r>
              <a:rPr sz="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One AI doing all of it is slow, expensive, and makes prices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108960"/>
            <a:ext cx="50292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6EE7DF"/>
                </a:solidFill>
                <a:latin typeface="Calibri"/>
              </a:rPr>
              <a:t>MY SOLUTION</a:t>
            </a:r>
          </a:p>
          <a:p>
            <a:pPr algn="l">
              <a:lnSpc>
                <a:spcPct val="125000"/>
              </a:lnSpc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FFFFFF"/>
                </a:solidFill>
                <a:latin typeface="Calibri"/>
              </a:rPr>
              <a:t>Split the job between several small agents, each with one clear task.</a:t>
            </a:r>
          </a:p>
          <a:p>
            <a:pPr algn="l">
              <a:lnSpc>
                <a:spcPct val="125000"/>
              </a:lnSpc>
            </a:pPr>
            <a:r>
              <a:rPr sz="4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EE7DF"/>
                </a:solidFill>
                <a:latin typeface="Calibri"/>
              </a:rPr>
              <a:t>Then give AI only to the agents that need to think.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CA3F5"/>
                </a:solidFill>
                <a:latin typeface="Calibri"/>
              </a:rPr>
              <a:t>Student 25182589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1  ·  THE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Each one has a name and one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155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4666"/>
                <a:gridCol w="6620933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Travel Conversation Assistant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Asks the traveller for anything missing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Travel Preferences Extractor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Turns those words into exact fields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Flight Search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Looks up flights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Hotel Search Specialist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Looks up hotels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Activities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Looks up places to visit and places to 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Itinerary Coordinator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Writes the final day-by-day plan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5778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545C6E"/>
                </a:solidFill>
                <a:latin typeface="Calibri"/>
              </a:rPr>
              <a:t>Six agents. The next four slides show which of them each approach uses, and what tools each one is given.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2  ·  APPROACH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One AI on its own. No agents, no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15599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84133"/>
                <a:gridCol w="2531533"/>
                <a:gridCol w="3699933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How many 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Which 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none — just one AI 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1089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161A23"/>
                </a:solidFill>
                <a:latin typeface="Calibri"/>
              </a:rPr>
              <a:t>The AI writes the whole plan from what it already knows. It cannot look anything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AI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393192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1.7%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50749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of its prices were real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3476" y="393192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27s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3476" y="50749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to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A85B00"/>
                </a:solidFill>
                <a:latin typeface="Calibri"/>
              </a:rPr>
              <a:t>So it makes the prices up. This is the baseline everything else has to beat.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3  ·  APPROACH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Six agents. Each one picks its own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965960"/>
          <a:ext cx="105155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9083"/>
                <a:gridCol w="860367"/>
                <a:gridCol w="6596149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Which 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Travel Preferences Extractor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Flight Search Specialist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search_comprehensive_flights,  search_round_trip_flights,  search_internet,  calculate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Hotel Search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search_hotels_comprehensive,  search_accommodations_with_location,  search_hotel_destination,  search_hotels_by_dest_id,  get_hotel_reviews,  get_attractions_near_hotel,  search_internet,  calculate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Activities Specialist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search_attractions,  search_restaurants,  search_internet,  calculate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Itinerary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calculate,  search_internet,  search_attractions,  search_restaurants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A23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61A23"/>
                </a:solidFill>
                <a:latin typeface="Calibri"/>
              </a:rPr>
              <a:t>It used 21 AI calls and took 372 seconds to plan one trip.</a:t>
            </a:r>
          </a:p>
          <a:p>
            <a:pPr algn="l">
              <a:lnSpc>
                <a:spcPct val="125000"/>
              </a:lnSpc>
            </a:pPr>
            <a:r>
              <a:rPr sz="1700" b="1">
                <a:solidFill>
                  <a:srgbClr val="A85B00"/>
                </a:solidFill>
                <a:latin typeface="Calibri"/>
              </a:rPr>
              <a:t>Too much freedom: the agents keep thinking and searching — and they still never called two of their own tools.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4  ·  APPROACH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The same six agents, but set up properly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5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9083"/>
                <a:gridCol w="860367"/>
                <a:gridCol w="6596149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Which 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Travel Preferences Extractor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Flight Search Specialist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distilled_search_flights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Hotel Search Specialist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distilled_search_hotels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Activities Specialist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distilled_search_attractions,  distilled_search_restaurants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Itinerary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61A23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5720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61A23"/>
                </a:solidFill>
                <a:latin typeface="Calibri"/>
              </a:rPr>
              <a:t>Three changes: fewer tools each, only 3 thinking steps instead of 15, and the AI is shown the best 3 results instead of 12,000 characters.</a:t>
            </a:r>
          </a:p>
          <a:p>
            <a:pPr algn="l">
              <a:lnSpc>
                <a:spcPct val="120000"/>
              </a:lnSpc>
            </a:pPr>
            <a:r>
              <a:rPr sz="500" b="0">
                <a:solidFill>
                  <a:srgbClr val="161A2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2000" b="1">
                <a:solidFill>
                  <a:srgbClr val="4338CA"/>
                </a:solidFill>
                <a:latin typeface="Calibri"/>
              </a:rPr>
              <a:t>Result: 89% less text sent, and 10 AI calls instead of 21.</a:t>
            </a:r>
          </a:p>
          <a:p>
            <a:pPr algn="l">
              <a:lnSpc>
                <a:spcPct val="120000"/>
              </a:lnSpc>
            </a:pPr>
            <a:r>
              <a:rPr sz="1700" b="1">
                <a:solidFill>
                  <a:srgbClr val="A85B00"/>
                </a:solidFill>
                <a:latin typeface="Calibri"/>
              </a:rPr>
              <a:t>Worth saying out loud: most of B's cost was bad setup, not the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5  ·  APPROACH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Three agents. Plain Python does the searching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59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9083"/>
                <a:gridCol w="860367"/>
                <a:gridCol w="6596149"/>
              </a:tblGrid>
              <a:tr h="36576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Which tools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Travel Conversation Assistant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Travel Preferences Extractor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Itinerary Coordinator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none — the data is handed to it already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61A23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3886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61A23"/>
                </a:solidFill>
                <a:latin typeface="Calibri"/>
              </a:rPr>
              <a:t>The three search agents are gone. Plain Python fetches the flights, hotels, attractions and restaurants.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45C6E"/>
                </a:solidFill>
                <a:latin typeface="Calibri"/>
              </a:rPr>
              <a:t>(In the web app the coordinator keeps 4 helper tools — calculate, search_internet, search_attractions, search_restaurants. The measured run removes them.)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338CA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AI calls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38218" y="489204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338CA"/>
                </a:solidFill>
                <a:latin typeface="Calibri"/>
              </a:rPr>
              <a:t>23s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38218" y="603504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to finish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53476" y="489204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4338CA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53476" y="603504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searches, every single 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545C6E"/>
                </a:solidFill>
                <a:latin typeface="Calibri"/>
              </a:rPr>
              <a:t>Once we know the place and the dates, there is nothing left for AI to decide.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6  ·  ALL FOUR SIDE BY 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Each one run 5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011680"/>
          <a:ext cx="10515597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6678"/>
                <a:gridCol w="1877785"/>
                <a:gridCol w="1877785"/>
                <a:gridCol w="1877785"/>
                <a:gridCol w="206556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  one AI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  6 agents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  6 tuned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  3 agents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Tools given to agents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AI calls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Text sent to the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4,644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120,703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13,521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7,840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Cost per trip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$0.0170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$0.1859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$0.0313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$0.0179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372s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37s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Prices that were real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23%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61A2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>
                    <a:solidFill>
                      <a:srgbClr val="F7F8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545C6E"/>
                </a:solidFill>
                <a:latin typeface="Calibri"/>
              </a:rPr>
              <a:t>Being honest: D is not more accurate than C — their ranges overlap.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4338CA"/>
                </a:solidFill>
                <a:latin typeface="Calibri"/>
              </a:rPr>
              <a:t>What D is: 1.7x cheaper than C and 15x cheaper than B, with no drop in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338CA"/>
                </a:solidFill>
                <a:latin typeface="Calibri"/>
              </a:rPr>
              <a:t>7  ·  WHAT THE USER SEES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61A23"/>
                </a:solidFill>
                <a:latin typeface="Calibri"/>
              </a:rPr>
              <a:t>And the check that stops an impossible trip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572768"/>
            <a:ext cx="1005840" cy="34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7605" y="1737360"/>
            <a:ext cx="5416484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498348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$800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traveller asked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8218" y="498348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$837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8218" y="612648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cheapest it can be 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3476" y="4983480"/>
            <a:ext cx="3515258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1">
                <a:solidFill>
                  <a:srgbClr val="A85B00"/>
                </a:solidFill>
                <a:latin typeface="Calibri"/>
              </a:rPr>
              <a:t>REFUSED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53476" y="612648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545C6E"/>
                </a:solidFill>
                <a:latin typeface="Calibri"/>
              </a:rPr>
              <a:t>with three ways to fix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B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280160"/>
            <a:ext cx="10241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CA3F5"/>
                </a:solidFill>
                <a:latin typeface="Calibri"/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37360"/>
            <a:ext cx="102412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AI decides what the user wants and how to show it.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6EE7DF"/>
                </a:solidFill>
                <a:latin typeface="Calibri"/>
              </a:rPr>
              <a:t>Python decides what data to fetch.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3749039"/>
            <a:ext cx="1463040" cy="34000"/>
          </a:xfrm>
          <a:prstGeom prst="rect">
            <a:avLst/>
          </a:prstGeom>
          <a:solidFill>
            <a:srgbClr val="0EA5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4069080"/>
            <a:ext cx="102412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9CA3F5"/>
                </a:solidFill>
                <a:latin typeface="Calibri"/>
              </a:rPr>
              <a:t>WHAT I FOUND</a:t>
            </a:r>
          </a:p>
          <a:p>
            <a:pPr algn="l">
              <a:lnSpc>
                <a:spcPct val="125000"/>
              </a:lnSpc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C7D2FE"/>
                </a:solidFill>
                <a:latin typeface="Calibri"/>
              </a:rPr>
              <a:t>1.  Without tools, AI makes travel prices up. Tools are essential.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C7D2FE"/>
                </a:solidFill>
                <a:latin typeface="Calibri"/>
              </a:rPr>
              <a:t>2.  Setup matters hugely — settings alone saved 89% of the cost.</a:t>
            </a:r>
          </a:p>
          <a:p>
            <a:pPr algn="l">
              <a:lnSpc>
                <a:spcPct val="125000"/>
              </a:lnSpc>
            </a:pPr>
            <a:r>
              <a:rPr sz="1700" b="0">
                <a:solidFill>
                  <a:srgbClr val="6EE7DF"/>
                </a:solidFill>
                <a:latin typeface="Calibri"/>
              </a:rPr>
              <a:t>3.  Taking AI out of the searching is cheaper and faster, and just as accurate.</a:t>
            </a:r>
          </a:p>
          <a:p>
            <a:pPr algn="l">
              <a:lnSpc>
                <a:spcPct val="125000"/>
              </a:lnSpc>
            </a:pPr>
            <a:r>
              <a:rPr sz="5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9CA3F5"/>
                </a:solidFill>
                <a:latin typeface="Calibri"/>
              </a:rPr>
              <a:t>Honest gap: only 1 of 20 trips measured for cost, because of the free API limits.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
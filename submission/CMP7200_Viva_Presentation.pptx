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Twelve slides. A working travel planner, and one research question inside it: which parts actually need AI? I built it four ways and measured all four.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scenario every one of the four approaches is given, word for word, so nothing in the comparison depends on phrasing. Jobs 1 to 3 need judgement - there is no single right way to read a sentence. Jobs 4 to 7 are fixed once you know the destination and the dates. Job 8 needs judgement again.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test for each agent: could I write its job as ordinary code? You cannot write a rule that understands any way a person might phrase a request, and you cannot write a rule that makes a day pleasant. You can absolutely write a rule that calls a flight API with a date.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 is the one that makes this honest. Without it, someone could say D only won because B was configured badly - and they would be partly right, which is the finding on slide 7.</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it plainly: Approach A is the baseline. It shows what happens when AI plans a trip with no access to real travel data. It produced a fluent, confident itinerary and 1.7% of the prices in it matched anything real. Every other approach has to beat this, and if one of them did not, the tool layer would not be earning its place.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was my original proposal. The agents can keep thinking, and every step re-sends the conversation and all the tool descriptions. On the recorded run it took 20.6 AI calls and 372 seconds, produced malformed output twice that its own loop had to retry, and never called the attractions or the restaurant tool once - while still writing a complete-looking plan.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Instead of handing the AI 12,000 characters of hotel data, C trims it to three lines - Theodora Pension $33 10/10, Hotel Sultania $41 9/10, and so on. Configuration alone removed 89% of the tokens. Being honest about that is what makes the next slide's claim defensible rather than inflated.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one-sentence version of the whole project: AI decides what the user wants and how to present it; Python decides what data needs fetching. It makes exactly 5 requests every time, in the same order, because an IF statement decides rather than a model. Nothing can be skipped, and 2 AI calls do the whole trip.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question most likely to catch someone out, so it is on a slide rather than left to memory. It is also stated in Section 7.2 of the report as a limitation rather than glossed over: the two protocols the project is named for are less load-bearing in the shipped version than the proposal implied.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last row carefully. C scores 56% and D 47%, and their intervals overlap, so I cannot claim D is better grounded - and I do not. What does not overlap is the token count. The claim is therefore cheaper and faster with no measurable penalty, which is a smaller claim than the numbers first suggest and the only one the data supports.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worth demonstrating. The seven step rows tick over live as each finishes, so the page never looks frozen. And the budget check: it works out the cheapest this trip could possibly cost, using the real recorded fare rather than a built-in table - the table said $350 and the API returned $734 - then refuses and offers a shorter trip, a bigger budget, or a nearer city.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Land the claim and its limits together. The three findings map onto three comparisons: A against the rest shows tools are essential; B against C shows configuration matters; C against D shows removing AI from deterministic lookup is free money. 403 tests and 30 saved API replies mean anyone can check all of it without a single API key.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822960" y="548640"/>
            <a:ext cx="10515600" cy="365760"/>
          </a:xfrm>
          <a:prstGeom prst="rect">
            <a:avLst/>
          </a:prstGeom>
          <a:noFill/>
        </p:spPr>
        <p:txBody>
          <a:bodyPr wrap="square" anchor="t">
            <a:spAutoFit/>
          </a:bodyPr>
          <a:lstStyle/>
          <a:p>
            <a:pPr algn="l">
              <a:lnSpc>
                <a:spcPct val="100000"/>
              </a:lnSpc>
            </a:pPr>
            <a:r>
              <a:rPr sz="1200" b="1">
                <a:solidFill>
                  <a:srgbClr val="9CA3F5"/>
                </a:solidFill>
                <a:latin typeface="Calibri"/>
              </a:rPr>
              <a:t>MSc DISSERTATION  ·  VIVA VOCE  ·  CMP7200 — Individual Master's Project</a:t>
            </a:r>
          </a:p>
        </p:txBody>
      </p:sp>
      <p:sp>
        <p:nvSpPr>
          <p:cNvPr id="3" name="TextBox 2"/>
          <p:cNvSpPr txBox="1"/>
          <p:nvPr/>
        </p:nvSpPr>
        <p:spPr>
          <a:xfrm>
            <a:off x="822960" y="960120"/>
            <a:ext cx="10515600" cy="1005840"/>
          </a:xfrm>
          <a:prstGeom prst="rect">
            <a:avLst/>
          </a:prstGeom>
          <a:noFill/>
        </p:spPr>
        <p:txBody>
          <a:bodyPr wrap="square" anchor="t">
            <a:spAutoFit/>
          </a:bodyPr>
          <a:lstStyle/>
          <a:p>
            <a:pPr algn="l">
              <a:lnSpc>
                <a:spcPct val="100000"/>
              </a:lnSpc>
            </a:pPr>
            <a:r>
              <a:rPr sz="4600" b="1">
                <a:solidFill>
                  <a:srgbClr val="FFFFFF"/>
                </a:solidFill>
                <a:latin typeface="Calibri"/>
              </a:rPr>
              <a:t>AI Trip Planner</a:t>
            </a:r>
          </a:p>
        </p:txBody>
      </p:sp>
      <p:sp>
        <p:nvSpPr>
          <p:cNvPr id="4" name="TextBox 3"/>
          <p:cNvSpPr txBox="1"/>
          <p:nvPr/>
        </p:nvSpPr>
        <p:spPr>
          <a:xfrm>
            <a:off x="822960" y="1965960"/>
            <a:ext cx="10515600" cy="548640"/>
          </a:xfrm>
          <a:prstGeom prst="rect">
            <a:avLst/>
          </a:prstGeom>
          <a:noFill/>
        </p:spPr>
        <p:txBody>
          <a:bodyPr wrap="square" anchor="t">
            <a:spAutoFit/>
          </a:bodyPr>
          <a:lstStyle/>
          <a:p>
            <a:pPr algn="l">
              <a:lnSpc>
                <a:spcPct val="100000"/>
              </a:lnSpc>
            </a:pPr>
            <a:r>
              <a:rPr sz="1700" b="0">
                <a:solidFill>
                  <a:srgbClr val="C7D2FE"/>
                </a:solidFill>
                <a:latin typeface="Calibri"/>
              </a:rPr>
              <a:t>You type where you want to go. It gives you a day-by-day plan with real flight and hotel prices.</a:t>
            </a:r>
          </a:p>
        </p:txBody>
      </p:sp>
      <p:sp>
        <p:nvSpPr>
          <p:cNvPr id="5" name="Rectangle 4"/>
          <p:cNvSpPr/>
          <p:nvPr/>
        </p:nvSpPr>
        <p:spPr>
          <a:xfrm>
            <a:off x="822960" y="2697480"/>
            <a:ext cx="128016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3108960"/>
            <a:ext cx="4937760" cy="2286000"/>
          </a:xfrm>
          <a:prstGeom prst="rect">
            <a:avLst/>
          </a:prstGeom>
          <a:noFill/>
        </p:spPr>
        <p:txBody>
          <a:bodyPr wrap="square" anchor="t">
            <a:spAutoFit/>
          </a:bodyPr>
          <a:lstStyle/>
          <a:p>
            <a:pPr algn="l">
              <a:lnSpc>
                <a:spcPct val="125000"/>
              </a:lnSpc>
            </a:pPr>
            <a:r>
              <a:rPr sz="1300" b="1">
                <a:solidFill>
                  <a:srgbClr val="F0B46A"/>
                </a:solidFill>
                <a:latin typeface="Calibri"/>
              </a:rPr>
              <a:t>THE PROBLEM</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A trip needs flights, hotels, places to visit and a budget that adds up.</a:t>
            </a:r>
          </a:p>
          <a:p>
            <a:pPr algn="l">
              <a:lnSpc>
                <a:spcPct val="125000"/>
              </a:lnSpc>
            </a:pPr>
            <a:r>
              <a:rPr sz="400" b="0">
                <a:solidFill>
                  <a:srgbClr val="FFFFFF"/>
                </a:solidFill>
                <a:latin typeface="Calibri"/>
              </a:rPr>
              <a:t/>
            </a:r>
          </a:p>
          <a:p>
            <a:pPr algn="l">
              <a:lnSpc>
                <a:spcPct val="125000"/>
              </a:lnSpc>
            </a:pPr>
            <a:r>
              <a:rPr sz="1700" b="0">
                <a:solidFill>
                  <a:srgbClr val="FFFFFF"/>
                </a:solidFill>
                <a:latin typeface="Calibri"/>
              </a:rPr>
              <a:t>One AI doing all of it is slow, expensive, and makes prices up.</a:t>
            </a:r>
          </a:p>
        </p:txBody>
      </p:sp>
      <p:sp>
        <p:nvSpPr>
          <p:cNvPr id="7" name="TextBox 6"/>
          <p:cNvSpPr txBox="1"/>
          <p:nvPr/>
        </p:nvSpPr>
        <p:spPr>
          <a:xfrm>
            <a:off x="6309360" y="3108960"/>
            <a:ext cx="5029200" cy="2286000"/>
          </a:xfrm>
          <a:prstGeom prst="rect">
            <a:avLst/>
          </a:prstGeom>
          <a:noFill/>
        </p:spPr>
        <p:txBody>
          <a:bodyPr wrap="square" anchor="t">
            <a:spAutoFit/>
          </a:bodyPr>
          <a:lstStyle/>
          <a:p>
            <a:pPr algn="l">
              <a:lnSpc>
                <a:spcPct val="125000"/>
              </a:lnSpc>
            </a:pPr>
            <a:r>
              <a:rPr sz="1300" b="1">
                <a:solidFill>
                  <a:srgbClr val="6EE7DF"/>
                </a:solidFill>
                <a:latin typeface="Calibri"/>
              </a:rPr>
              <a:t>MY SOLUTION</a:t>
            </a:r>
          </a:p>
          <a:p>
            <a:pPr algn="l">
              <a:lnSpc>
                <a:spcPct val="125000"/>
              </a:lnSpc>
            </a:pPr>
            <a:r>
              <a:rPr sz="600" b="0">
                <a:solidFill>
                  <a:srgbClr val="FFFFFF"/>
                </a:solidFill>
                <a:latin typeface="Calibri"/>
              </a:rPr>
              <a:t/>
            </a:r>
          </a:p>
          <a:p>
            <a:pPr algn="l">
              <a:lnSpc>
                <a:spcPct val="125000"/>
              </a:lnSpc>
            </a:pPr>
            <a:r>
              <a:rPr sz="1700" b="0">
                <a:solidFill>
                  <a:srgbClr val="FFFFFF"/>
                </a:solidFill>
                <a:latin typeface="Calibri"/>
              </a:rPr>
              <a:t>Split the job between several small agents, each with one clear task.</a:t>
            </a:r>
          </a:p>
          <a:p>
            <a:pPr algn="l">
              <a:lnSpc>
                <a:spcPct val="125000"/>
              </a:lnSpc>
            </a:pPr>
            <a:r>
              <a:rPr sz="400" b="0">
                <a:solidFill>
                  <a:srgbClr val="FFFFFF"/>
                </a:solidFill>
                <a:latin typeface="Calibri"/>
              </a:rPr>
              <a:t/>
            </a:r>
          </a:p>
          <a:p>
            <a:pPr algn="l">
              <a:lnSpc>
                <a:spcPct val="125000"/>
              </a:lnSpc>
            </a:pPr>
            <a:r>
              <a:rPr sz="1700" b="0">
                <a:solidFill>
                  <a:srgbClr val="6EE7DF"/>
                </a:solidFill>
                <a:latin typeface="Calibri"/>
              </a:rPr>
              <a:t>Then give AI only to the agents that need to think.</a:t>
            </a:r>
          </a:p>
        </p:txBody>
      </p:sp>
      <p:sp>
        <p:nvSpPr>
          <p:cNvPr id="8" name="TextBox 7"/>
          <p:cNvSpPr txBox="1"/>
          <p:nvPr/>
        </p:nvSpPr>
        <p:spPr>
          <a:xfrm>
            <a:off x="822960" y="5806440"/>
            <a:ext cx="10515600" cy="457200"/>
          </a:xfrm>
          <a:prstGeom prst="rect">
            <a:avLst/>
          </a:prstGeom>
          <a:noFill/>
        </p:spPr>
        <p:txBody>
          <a:bodyPr wrap="square" anchor="t">
            <a:spAutoFit/>
          </a:bodyPr>
          <a:lstStyle/>
          <a:p>
            <a:pPr algn="l">
              <a:lnSpc>
                <a:spcPct val="100000"/>
              </a:lnSpc>
            </a:pPr>
            <a:r>
              <a:rPr sz="1200" b="0">
                <a:solidFill>
                  <a:srgbClr val="9CA3F5"/>
                </a:solidFill>
                <a:latin typeface="Calibri"/>
              </a:rPr>
              <a:t>Student 25182589</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1  ·  WHAT THE SYSTEM HAS TO DO</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One request, eight jobs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874519"/>
            <a:ext cx="10515600" cy="685800"/>
          </a:xfrm>
          <a:prstGeom prst="roundRect">
            <a:avLst/>
          </a:prstGeom>
          <a:solidFill>
            <a:srgbClr val="F7F8FC"/>
          </a:solidFill>
          <a:ln w="15875">
            <a:solidFill>
              <a:srgbClr val="E3E7F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0">
                <a:solidFill>
                  <a:srgbClr val="545C6E"/>
                </a:solidFill>
                <a:latin typeface="Calibri"/>
              </a:rPr>
              <a:t>"I want to plan a trip from Lahore to Istanbul for 4 nights, departing 2026-08-15. Budget is $800 for one person. I like history, food, and shopping."</a:t>
            </a:r>
          </a:p>
        </p:txBody>
      </p:sp>
      <p:graphicFrame>
        <p:nvGraphicFramePr>
          <p:cNvPr id="6" name="Table 5"/>
          <p:cNvGraphicFramePr>
            <a:graphicFrameLocks noGrp="1"/>
          </p:cNvGraphicFramePr>
          <p:nvPr/>
        </p:nvGraphicFramePr>
        <p:xfrm>
          <a:off x="822960" y="2834640"/>
          <a:ext cx="10515600" cy="1828800"/>
        </p:xfrm>
        <a:graphic>
          <a:graphicData uri="http://schemas.openxmlformats.org/drawingml/2006/table">
            <a:tbl>
              <a:tblPr firstRow="1" bandRow="1">
                <a:tableStyleId>{5C22544A-7EE6-4342-B048-85BDC9FD1C3A}</a:tableStyleId>
              </a:tblPr>
              <a:tblGrid>
                <a:gridCol w="3108960"/>
                <a:gridCol w="3291840"/>
                <a:gridCol w="4114800"/>
              </a:tblGrid>
              <a:tr h="365760">
                <a:tc>
                  <a:txBody>
                    <a:bodyPr/>
                    <a:lstStyle/>
                    <a:p>
                      <a:r>
                        <a:rPr sz="1350" b="1">
                          <a:solidFill>
                            <a:srgbClr val="FFFFFF"/>
                          </a:solidFill>
                          <a:latin typeface="Calibri"/>
                        </a:rPr>
                        <a:t>Understand the request</a:t>
                      </a:r>
                    </a:p>
                  </a:txBody>
                  <a:tcPr>
                    <a:solidFill>
                      <a:srgbClr val="4338CA"/>
                    </a:solidFill>
                  </a:tcPr>
                </a:tc>
                <a:tc>
                  <a:txBody>
                    <a:bodyPr/>
                    <a:lstStyle/>
                    <a:p>
                      <a:r>
                        <a:rPr sz="1350" b="1">
                          <a:solidFill>
                            <a:srgbClr val="FFFFFF"/>
                          </a:solidFill>
                          <a:latin typeface="Calibri"/>
                        </a:rPr>
                        <a:t>Get real information</a:t>
                      </a:r>
                    </a:p>
                  </a:txBody>
                  <a:tcPr>
                    <a:solidFill>
                      <a:srgbClr val="4338CA"/>
                    </a:solidFill>
                  </a:tcPr>
                </a:tc>
                <a:tc>
                  <a:txBody>
                    <a:bodyPr/>
                    <a:lstStyle/>
                    <a:p>
                      <a:r>
                        <a:rPr sz="1350" b="1">
                          <a:solidFill>
                            <a:srgbClr val="FFFFFF"/>
                          </a:solidFill>
                          <a:latin typeface="Calibri"/>
                        </a:rPr>
                        <a:t>Then</a:t>
                      </a:r>
                    </a:p>
                  </a:txBody>
                  <a:tcPr>
                    <a:solidFill>
                      <a:srgbClr val="4338CA"/>
                    </a:solidFill>
                  </a:tcPr>
                </a:tc>
              </a:tr>
              <a:tr h="365760">
                <a:tc>
                  <a:txBody>
                    <a:bodyPr/>
                    <a:lstStyle/>
                    <a:p>
                      <a:r>
                        <a:rPr sz="1350" b="0">
                          <a:solidFill>
                            <a:srgbClr val="161A23"/>
                          </a:solidFill>
                          <a:latin typeface="Calibri"/>
                        </a:rPr>
                        <a:t>1  Lahore to Istanbul</a:t>
                      </a:r>
                    </a:p>
                  </a:txBody>
                  <a:tcPr>
                    <a:solidFill>
                      <a:srgbClr val="FFFFFF"/>
                    </a:solidFill>
                  </a:tcPr>
                </a:tc>
                <a:tc>
                  <a:txBody>
                    <a:bodyPr/>
                    <a:lstStyle/>
                    <a:p>
                      <a:r>
                        <a:rPr sz="1350" b="0">
                          <a:solidFill>
                            <a:srgbClr val="161A23"/>
                          </a:solidFill>
                          <a:latin typeface="Calibri"/>
                        </a:rPr>
                        <a:t>4  Find real flights</a:t>
                      </a:r>
                    </a:p>
                  </a:txBody>
                  <a:tcPr>
                    <a:solidFill>
                      <a:srgbClr val="FFFFFF"/>
                    </a:solidFill>
                  </a:tcPr>
                </a:tc>
                <a:tc>
                  <a:txBody>
                    <a:bodyPr/>
                    <a:lstStyle/>
                    <a:p>
                      <a:r>
                        <a:rPr sz="1350" b="0">
                          <a:solidFill>
                            <a:srgbClr val="161A23"/>
                          </a:solidFill>
                          <a:latin typeface="Calibri"/>
                        </a:rPr>
                        <a:t>8  Build the day-by-day plan</a:t>
                      </a:r>
                    </a:p>
                  </a:txBody>
                  <a:tcPr>
                    <a:solidFill>
                      <a:srgbClr val="FFFFFF"/>
                    </a:solidFill>
                  </a:tcPr>
                </a:tc>
              </a:tr>
              <a:tr h="365760">
                <a:tc>
                  <a:txBody>
                    <a:bodyPr/>
                    <a:lstStyle/>
                    <a:p>
                      <a:r>
                        <a:rPr sz="1350" b="0">
                          <a:solidFill>
                            <a:srgbClr val="161A23"/>
                          </a:solidFill>
                          <a:latin typeface="Calibri"/>
                        </a:rPr>
                        <a:t>2  The dates</a:t>
                      </a:r>
                    </a:p>
                  </a:txBody>
                  <a:tcPr>
                    <a:solidFill>
                      <a:srgbClr val="F7F8FC"/>
                    </a:solidFill>
                  </a:tcPr>
                </a:tc>
                <a:tc>
                  <a:txBody>
                    <a:bodyPr/>
                    <a:lstStyle/>
                    <a:p>
                      <a:r>
                        <a:rPr sz="1350" b="0">
                          <a:solidFill>
                            <a:srgbClr val="161A23"/>
                          </a:solidFill>
                          <a:latin typeface="Calibri"/>
                        </a:rPr>
                        <a:t>5  Find real hotels</a:t>
                      </a:r>
                    </a:p>
                  </a:txBody>
                  <a:tcPr>
                    <a:solidFill>
                      <a:srgbClr val="F7F8FC"/>
                    </a:solidFill>
                  </a:tcPr>
                </a:tc>
                <a:tc>
                  <a:txBody>
                    <a:bodyPr/>
                    <a:lstStyle/>
                    <a:p>
                      <a:r>
                        <a:rPr sz="1350" b="0">
                          <a:solidFill>
                            <a:srgbClr val="161A23"/>
                          </a:solidFill>
                          <a:latin typeface="Calibri"/>
                        </a:rPr>
                        <a:t> </a:t>
                      </a:r>
                    </a:p>
                  </a:txBody>
                  <a:tcPr>
                    <a:solidFill>
                      <a:srgbClr val="F7F8FC"/>
                    </a:solidFill>
                  </a:tcPr>
                </a:tc>
              </a:tr>
              <a:tr h="365760">
                <a:tc>
                  <a:txBody>
                    <a:bodyPr/>
                    <a:lstStyle/>
                    <a:p>
                      <a:r>
                        <a:rPr sz="1350" b="0">
                          <a:solidFill>
                            <a:srgbClr val="161A23"/>
                          </a:solidFill>
                          <a:latin typeface="Calibri"/>
                        </a:rPr>
                        <a:t>3  The budget</a:t>
                      </a:r>
                    </a:p>
                  </a:txBody>
                  <a:tcPr>
                    <a:solidFill>
                      <a:srgbClr val="FFFFFF"/>
                    </a:solidFill>
                  </a:tcPr>
                </a:tc>
                <a:tc>
                  <a:txBody>
                    <a:bodyPr/>
                    <a:lstStyle/>
                    <a:p>
                      <a:r>
                        <a:rPr sz="1350" b="0">
                          <a:solidFill>
                            <a:srgbClr val="161A23"/>
                          </a:solidFill>
                          <a:latin typeface="Calibri"/>
                        </a:rPr>
                        <a:t>6  Find real attractions</a:t>
                      </a:r>
                    </a:p>
                  </a:txBody>
                  <a:tcPr>
                    <a:solidFill>
                      <a:srgbClr val="FFFFFF"/>
                    </a:solidFill>
                  </a:tcPr>
                </a:tc>
                <a:tc>
                  <a:txBody>
                    <a:bodyPr/>
                    <a:lstStyle/>
                    <a:p>
                      <a:r>
                        <a:rPr sz="1350" b="0">
                          <a:solidFill>
                            <a:srgbClr val="161A23"/>
                          </a:solidFill>
                          <a:latin typeface="Calibri"/>
                        </a:rPr>
                        <a:t> </a:t>
                      </a:r>
                    </a:p>
                  </a:txBody>
                  <a:tcPr>
                    <a:solidFill>
                      <a:srgbClr val="FFFFFF"/>
                    </a:solidFill>
                  </a:tcPr>
                </a:tc>
              </a:tr>
              <a:tr h="365760">
                <a:tc>
                  <a:txBody>
                    <a:bodyPr/>
                    <a:lstStyle/>
                    <a:p>
                      <a:r>
                        <a:rPr sz="1350" b="0">
                          <a:solidFill>
                            <a:srgbClr val="161A23"/>
                          </a:solidFill>
                          <a:latin typeface="Calibri"/>
                        </a:rPr>
                        <a:t> </a:t>
                      </a:r>
                    </a:p>
                  </a:txBody>
                  <a:tcPr>
                    <a:solidFill>
                      <a:srgbClr val="F7F8FC"/>
                    </a:solidFill>
                  </a:tcPr>
                </a:tc>
                <a:tc>
                  <a:txBody>
                    <a:bodyPr/>
                    <a:lstStyle/>
                    <a:p>
                      <a:r>
                        <a:rPr sz="1350" b="0">
                          <a:solidFill>
                            <a:srgbClr val="161A23"/>
                          </a:solidFill>
                          <a:latin typeface="Calibri"/>
                        </a:rPr>
                        <a:t>7  Find real restaurants</a:t>
                      </a:r>
                    </a:p>
                  </a:txBody>
                  <a:tcPr>
                    <a:solidFill>
                      <a:srgbClr val="F7F8FC"/>
                    </a:solidFill>
                  </a:tcPr>
                </a:tc>
                <a:tc>
                  <a:txBody>
                    <a:bodyPr/>
                    <a:lstStyle/>
                    <a:p>
                      <a:r>
                        <a:rPr sz="1350" b="0">
                          <a:solidFill>
                            <a:srgbClr val="161A23"/>
                          </a:solidFill>
                          <a:latin typeface="Calibri"/>
                        </a:rPr>
                        <a:t> </a:t>
                      </a:r>
                    </a:p>
                  </a:txBody>
                  <a:tcPr>
                    <a:solidFill>
                      <a:srgbClr val="F7F8FC"/>
                    </a:solidFill>
                  </a:tcPr>
                </a:tc>
              </a:tr>
            </a:tbl>
          </a:graphicData>
        </a:graphic>
      </p:graphicFrame>
      <p:sp>
        <p:nvSpPr>
          <p:cNvPr id="7" name="TextBox 6"/>
          <p:cNvSpPr txBox="1"/>
          <p:nvPr/>
        </p:nvSpPr>
        <p:spPr>
          <a:xfrm>
            <a:off x="822960" y="5029200"/>
            <a:ext cx="10515600" cy="1280160"/>
          </a:xfrm>
          <a:prstGeom prst="rect">
            <a:avLst/>
          </a:prstGeom>
          <a:noFill/>
        </p:spPr>
        <p:txBody>
          <a:bodyPr wrap="square" anchor="t">
            <a:spAutoFit/>
          </a:bodyPr>
          <a:lstStyle/>
          <a:p>
            <a:pPr algn="l">
              <a:lnSpc>
                <a:spcPct val="130000"/>
              </a:lnSpc>
            </a:pPr>
            <a:r>
              <a:rPr sz="1600" b="0">
                <a:solidFill>
                  <a:srgbClr val="545C6E"/>
                </a:solidFill>
                <a:latin typeface="Calibri"/>
              </a:rPr>
              <a:t>So the real question is:</a:t>
            </a:r>
          </a:p>
          <a:p>
            <a:pPr algn="l">
              <a:lnSpc>
                <a:spcPct val="130000"/>
              </a:lnSpc>
            </a:pPr>
            <a:r>
              <a:rPr sz="2100" b="1">
                <a:solidFill>
                  <a:srgbClr val="4338CA"/>
                </a:solidFill>
                <a:latin typeface="Calibri"/>
              </a:rPr>
              <a:t>Should AI decide when to search for flights and hotels, or should normal code just do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2  ·  THE AGENTS WE USE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Each has a name and one job</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2560320"/>
        </p:xfrm>
        <a:graphic>
          <a:graphicData uri="http://schemas.openxmlformats.org/drawingml/2006/table">
            <a:tbl>
              <a:tblPr firstRow="1" bandRow="1">
                <a:tableStyleId>{5C22544A-7EE6-4342-B048-85BDC9FD1C3A}</a:tableStyleId>
              </a:tblPr>
              <a:tblGrid>
                <a:gridCol w="3250276"/>
                <a:gridCol w="4397432"/>
                <a:gridCol w="2867890"/>
              </a:tblGrid>
              <a:tr h="365760">
                <a:tc>
                  <a:txBody>
                    <a:bodyPr/>
                    <a:lstStyle/>
                    <a:p>
                      <a:r>
                        <a:rPr sz="1300" b="1">
                          <a:solidFill>
                            <a:srgbClr val="FFFFFF"/>
                          </a:solidFill>
                          <a:latin typeface="Calibri"/>
                        </a:rPr>
                        <a:t>Agent</a:t>
                      </a:r>
                    </a:p>
                  </a:txBody>
                  <a:tcPr>
                    <a:solidFill>
                      <a:srgbClr val="4338CA"/>
                    </a:solidFill>
                  </a:tcPr>
                </a:tc>
                <a:tc>
                  <a:txBody>
                    <a:bodyPr/>
                    <a:lstStyle/>
                    <a:p>
                      <a:r>
                        <a:rPr sz="1300" b="1">
                          <a:solidFill>
                            <a:srgbClr val="FFFFFF"/>
                          </a:solidFill>
                          <a:latin typeface="Calibri"/>
                        </a:rPr>
                        <a:t>What it does</a:t>
                      </a:r>
                    </a:p>
                  </a:txBody>
                  <a:tcPr>
                    <a:solidFill>
                      <a:srgbClr val="4338CA"/>
                    </a:solidFill>
                  </a:tcPr>
                </a:tc>
                <a:tc>
                  <a:txBody>
                    <a:bodyPr/>
                    <a:lstStyle/>
                    <a:p>
                      <a:r>
                        <a:rPr sz="1300" b="1">
                          <a:solidFill>
                            <a:srgbClr val="FFFFFF"/>
                          </a:solidFill>
                          <a:latin typeface="Calibri"/>
                        </a:rPr>
                        <a:t>Needs AI?</a:t>
                      </a:r>
                    </a:p>
                  </a:txBody>
                  <a:tcPr>
                    <a:solidFill>
                      <a:srgbClr val="4338CA"/>
                    </a:solidFill>
                  </a:tcPr>
                </a:tc>
              </a:tr>
              <a:tr h="365760">
                <a:tc>
                  <a:txBody>
                    <a:bodyPr/>
                    <a:lstStyle/>
                    <a:p>
                      <a:r>
                        <a:rPr sz="1300" b="0">
                          <a:solidFill>
                            <a:srgbClr val="161A23"/>
                          </a:solidFill>
                          <a:latin typeface="Calibri"/>
                        </a:rPr>
                        <a:t>Travel Conversation Assistant</a:t>
                      </a:r>
                    </a:p>
                  </a:txBody>
                  <a:tcPr>
                    <a:solidFill>
                      <a:srgbClr val="FFFFFF"/>
                    </a:solidFill>
                  </a:tcPr>
                </a:tc>
                <a:tc>
                  <a:txBody>
                    <a:bodyPr/>
                    <a:lstStyle/>
                    <a:p>
                      <a:r>
                        <a:rPr sz="1300" b="0">
                          <a:solidFill>
                            <a:srgbClr val="161A23"/>
                          </a:solidFill>
                          <a:latin typeface="Calibri"/>
                        </a:rPr>
                        <a:t>Asks for anything missing</a:t>
                      </a:r>
                    </a:p>
                  </a:txBody>
                  <a:tcPr>
                    <a:solidFill>
                      <a:srgbClr val="FFFFFF"/>
                    </a:solidFill>
                  </a:tcPr>
                </a:tc>
                <a:tc>
                  <a:txBody>
                    <a:bodyPr/>
                    <a:lstStyle/>
                    <a:p>
                      <a:r>
                        <a:rPr sz="1300" b="0">
                          <a:solidFill>
                            <a:srgbClr val="161A23"/>
                          </a:solidFill>
                          <a:latin typeface="Calibri"/>
                        </a:rPr>
                        <a:t>Yes - people write in many ways</a:t>
                      </a:r>
                    </a:p>
                  </a:txBody>
                  <a:tcPr>
                    <a:solidFill>
                      <a:srgbClr val="FFFFFF"/>
                    </a:solidFill>
                  </a:tcPr>
                </a:tc>
              </a:tr>
              <a:tr h="365760">
                <a:tc>
                  <a:txBody>
                    <a:bodyPr/>
                    <a:lstStyle/>
                    <a:p>
                      <a:r>
                        <a:rPr sz="1300" b="0">
                          <a:solidFill>
                            <a:srgbClr val="161A23"/>
                          </a:solidFill>
                          <a:latin typeface="Calibri"/>
                        </a:rPr>
                        <a:t>Travel Preferences Extractor</a:t>
                      </a:r>
                    </a:p>
                  </a:txBody>
                  <a:tcPr>
                    <a:solidFill>
                      <a:srgbClr val="F7F8FC"/>
                    </a:solidFill>
                  </a:tcPr>
                </a:tc>
                <a:tc>
                  <a:txBody>
                    <a:bodyPr/>
                    <a:lstStyle/>
                    <a:p>
                      <a:r>
                        <a:rPr sz="1300" b="0">
                          <a:solidFill>
                            <a:srgbClr val="161A23"/>
                          </a:solidFill>
                          <a:latin typeface="Calibri"/>
                        </a:rPr>
                        <a:t>Turns those words into exact fields</a:t>
                      </a:r>
                    </a:p>
                  </a:txBody>
                  <a:tcPr>
                    <a:solidFill>
                      <a:srgbClr val="F7F8FC"/>
                    </a:solidFill>
                  </a:tcPr>
                </a:tc>
                <a:tc>
                  <a:txBody>
                    <a:bodyPr/>
                    <a:lstStyle/>
                    <a:p>
                      <a:r>
                        <a:rPr sz="1300" b="0">
                          <a:solidFill>
                            <a:srgbClr val="161A23"/>
                          </a:solidFill>
                          <a:latin typeface="Calibri"/>
                        </a:rPr>
                        <a:t>Yes - same reason</a:t>
                      </a:r>
                    </a:p>
                  </a:txBody>
                  <a:tcPr>
                    <a:solidFill>
                      <a:srgbClr val="F7F8FC"/>
                    </a:solidFill>
                  </a:tcPr>
                </a:tc>
              </a:tr>
              <a:tr h="365760">
                <a:tc>
                  <a:txBody>
                    <a:bodyPr/>
                    <a:lstStyle/>
                    <a:p>
                      <a:r>
                        <a:rPr sz="1300" b="0">
                          <a:solidFill>
                            <a:srgbClr val="161A23"/>
                          </a:solidFill>
                          <a:latin typeface="Calibri"/>
                        </a:rPr>
                        <a:t>Flight Search Specialist</a:t>
                      </a:r>
                    </a:p>
                  </a:txBody>
                  <a:tcPr>
                    <a:solidFill>
                      <a:srgbClr val="FFFFFF"/>
                    </a:solidFill>
                  </a:tcPr>
                </a:tc>
                <a:tc>
                  <a:txBody>
                    <a:bodyPr/>
                    <a:lstStyle/>
                    <a:p>
                      <a:r>
                        <a:rPr sz="1300" b="0">
                          <a:solidFill>
                            <a:srgbClr val="161A23"/>
                          </a:solidFill>
                          <a:latin typeface="Calibri"/>
                        </a:rPr>
                        <a:t>Looks up flights</a:t>
                      </a:r>
                    </a:p>
                  </a:txBody>
                  <a:tcPr>
                    <a:solidFill>
                      <a:srgbClr val="FFFFFF"/>
                    </a:solidFill>
                  </a:tcPr>
                </a:tc>
                <a:tc>
                  <a:txBody>
                    <a:bodyPr/>
                    <a:lstStyle/>
                    <a:p>
                      <a:r>
                        <a:rPr sz="1300" b="0">
                          <a:solidFill>
                            <a:srgbClr val="161A23"/>
                          </a:solidFill>
                          <a:latin typeface="Calibri"/>
                        </a:rPr>
                        <a:t>No</a:t>
                      </a:r>
                    </a:p>
                  </a:txBody>
                  <a:tcPr>
                    <a:solidFill>
                      <a:srgbClr val="FFFFFF"/>
                    </a:solidFill>
                  </a:tcPr>
                </a:tc>
              </a:tr>
              <a:tr h="365760">
                <a:tc>
                  <a:txBody>
                    <a:bodyPr/>
                    <a:lstStyle/>
                    <a:p>
                      <a:r>
                        <a:rPr sz="1300" b="0">
                          <a:solidFill>
                            <a:srgbClr val="161A23"/>
                          </a:solidFill>
                          <a:latin typeface="Calibri"/>
                        </a:rPr>
                        <a:t>Hotel Search Specialist</a:t>
                      </a:r>
                    </a:p>
                  </a:txBody>
                  <a:tcPr>
                    <a:solidFill>
                      <a:srgbClr val="F7F8FC"/>
                    </a:solidFill>
                  </a:tcPr>
                </a:tc>
                <a:tc>
                  <a:txBody>
                    <a:bodyPr/>
                    <a:lstStyle/>
                    <a:p>
                      <a:r>
                        <a:rPr sz="1300" b="0">
                          <a:solidFill>
                            <a:srgbClr val="161A23"/>
                          </a:solidFill>
                          <a:latin typeface="Calibri"/>
                        </a:rPr>
                        <a:t>Looks up hotels</a:t>
                      </a:r>
                    </a:p>
                  </a:txBody>
                  <a:tcPr>
                    <a:solidFill>
                      <a:srgbClr val="F7F8FC"/>
                    </a:solidFill>
                  </a:tcPr>
                </a:tc>
                <a:tc>
                  <a:txBody>
                    <a:bodyPr/>
                    <a:lstStyle/>
                    <a:p>
                      <a:r>
                        <a:rPr sz="1300" b="0">
                          <a:solidFill>
                            <a:srgbClr val="161A23"/>
                          </a:solidFill>
                          <a:latin typeface="Calibri"/>
                        </a:rPr>
                        <a:t>No</a:t>
                      </a:r>
                    </a:p>
                  </a:txBody>
                  <a:tcPr>
                    <a:solidFill>
                      <a:srgbClr val="F7F8FC"/>
                    </a:solidFill>
                  </a:tcPr>
                </a:tc>
              </a:tr>
              <a:tr h="365760">
                <a:tc>
                  <a:txBody>
                    <a:bodyPr/>
                    <a:lstStyle/>
                    <a:p>
                      <a:r>
                        <a:rPr sz="1300" b="0">
                          <a:solidFill>
                            <a:srgbClr val="161A23"/>
                          </a:solidFill>
                          <a:latin typeface="Calibri"/>
                        </a:rPr>
                        <a:t>Activities Specialist</a:t>
                      </a:r>
                    </a:p>
                  </a:txBody>
                  <a:tcPr>
                    <a:solidFill>
                      <a:srgbClr val="FFFFFF"/>
                    </a:solidFill>
                  </a:tcPr>
                </a:tc>
                <a:tc>
                  <a:txBody>
                    <a:bodyPr/>
                    <a:lstStyle/>
                    <a:p>
                      <a:r>
                        <a:rPr sz="1300" b="0">
                          <a:solidFill>
                            <a:srgbClr val="161A23"/>
                          </a:solidFill>
                          <a:latin typeface="Calibri"/>
                        </a:rPr>
                        <a:t>Looks up places to visit and eat</a:t>
                      </a:r>
                    </a:p>
                  </a:txBody>
                  <a:tcPr>
                    <a:solidFill>
                      <a:srgbClr val="FFFFFF"/>
                    </a:solidFill>
                  </a:tcPr>
                </a:tc>
                <a:tc>
                  <a:txBody>
                    <a:bodyPr/>
                    <a:lstStyle/>
                    <a:p>
                      <a:r>
                        <a:rPr sz="1300" b="0">
                          <a:solidFill>
                            <a:srgbClr val="161A23"/>
                          </a:solidFill>
                          <a:latin typeface="Calibri"/>
                        </a:rPr>
                        <a:t>No</a:t>
                      </a:r>
                    </a:p>
                  </a:txBody>
                  <a:tcPr>
                    <a:solidFill>
                      <a:srgbClr val="FFFFFF"/>
                    </a:solidFill>
                  </a:tcPr>
                </a:tc>
              </a:tr>
              <a:tr h="365760">
                <a:tc>
                  <a:txBody>
                    <a:bodyPr/>
                    <a:lstStyle/>
                    <a:p>
                      <a:r>
                        <a:rPr sz="1300" b="0">
                          <a:solidFill>
                            <a:srgbClr val="161A23"/>
                          </a:solidFill>
                          <a:latin typeface="Calibri"/>
                        </a:rPr>
                        <a:t>Itinerary Coordinator</a:t>
                      </a:r>
                    </a:p>
                  </a:txBody>
                  <a:tcPr>
                    <a:solidFill>
                      <a:srgbClr val="F7F8FC"/>
                    </a:solidFill>
                  </a:tcPr>
                </a:tc>
                <a:tc>
                  <a:txBody>
                    <a:bodyPr/>
                    <a:lstStyle/>
                    <a:p>
                      <a:r>
                        <a:rPr sz="1300" b="0">
                          <a:solidFill>
                            <a:srgbClr val="161A23"/>
                          </a:solidFill>
                          <a:latin typeface="Calibri"/>
                        </a:rPr>
                        <a:t>Writes the day-by-day plan</a:t>
                      </a:r>
                    </a:p>
                  </a:txBody>
                  <a:tcPr>
                    <a:solidFill>
                      <a:srgbClr val="F7F8FC"/>
                    </a:solidFill>
                  </a:tcPr>
                </a:tc>
                <a:tc>
                  <a:txBody>
                    <a:bodyPr/>
                    <a:lstStyle/>
                    <a:p>
                      <a:r>
                        <a:rPr sz="1300" b="0">
                          <a:solidFill>
                            <a:srgbClr val="161A23"/>
                          </a:solidFill>
                          <a:latin typeface="Calibri"/>
                        </a:rPr>
                        <a:t>Yes - which day, what order</a:t>
                      </a:r>
                    </a:p>
                  </a:txBody>
                  <a:tcPr>
                    <a:solidFill>
                      <a:srgbClr val="F7F8FC"/>
                    </a:solidFill>
                  </a:tcPr>
                </a:tc>
              </a:tr>
            </a:tbl>
          </a:graphicData>
        </a:graphic>
      </p:graphicFrame>
      <p:sp>
        <p:nvSpPr>
          <p:cNvPr id="6" name="TextBox 5"/>
          <p:cNvSpPr txBox="1"/>
          <p:nvPr/>
        </p:nvSpPr>
        <p:spPr>
          <a:xfrm>
            <a:off x="822960" y="5394960"/>
            <a:ext cx="10515600" cy="822960"/>
          </a:xfrm>
          <a:prstGeom prst="rect">
            <a:avLst/>
          </a:prstGeom>
          <a:noFill/>
        </p:spPr>
        <p:txBody>
          <a:bodyPr wrap="square" anchor="t">
            <a:spAutoFit/>
          </a:bodyPr>
          <a:lstStyle/>
          <a:p>
            <a:pPr algn="l">
              <a:lnSpc>
                <a:spcPct val="100000"/>
              </a:lnSpc>
            </a:pPr>
            <a:r>
              <a:rPr sz="1900" b="1">
                <a:solidFill>
                  <a:srgbClr val="4338CA"/>
                </a:solidFill>
                <a:latin typeface="Calibri"/>
              </a:rPr>
              <a:t>Looking something up does not need thinking. Only three of the six really need AI.</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3  ·  I BUILT IT FOUR WAYS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Same request, same data</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382385"/>
                <a:gridCol w="1911927"/>
                <a:gridCol w="3728258"/>
                <a:gridCol w="860367"/>
                <a:gridCol w="3632661"/>
              </a:tblGrid>
              <a:tr h="365760">
                <a:tc>
                  <a:txBody>
                    <a:bodyPr/>
                    <a:lstStyle/>
                    <a:p>
                      <a:r>
                        <a:rPr sz="1300" b="1">
                          <a:solidFill>
                            <a:srgbClr val="FFFFFF"/>
                          </a:solidFill>
                          <a:latin typeface="Calibri"/>
                        </a:rPr>
                        <a:t> </a:t>
                      </a:r>
                    </a:p>
                  </a:txBody>
                  <a:tcPr>
                    <a:solidFill>
                      <a:srgbClr val="4338CA"/>
                    </a:solidFill>
                  </a:tcPr>
                </a:tc>
                <a:tc>
                  <a:txBody>
                    <a:bodyPr/>
                    <a:lstStyle/>
                    <a:p>
                      <a:r>
                        <a:rPr sz="1300" b="1">
                          <a:solidFill>
                            <a:srgbClr val="FFFFFF"/>
                          </a:solidFill>
                          <a:latin typeface="Calibri"/>
                        </a:rPr>
                        <a:t>Name</a:t>
                      </a:r>
                    </a:p>
                  </a:txBody>
                  <a:tcPr>
                    <a:solidFill>
                      <a:srgbClr val="4338CA"/>
                    </a:solidFill>
                  </a:tcPr>
                </a:tc>
                <a:tc>
                  <a:txBody>
                    <a:bodyPr/>
                    <a:lstStyle/>
                    <a:p>
                      <a:r>
                        <a:rPr sz="1300" b="1">
                          <a:solidFill>
                            <a:srgbClr val="FFFFFF"/>
                          </a:solidFill>
                          <a:latin typeface="Calibri"/>
                        </a:rPr>
                        <a:t>Simple meaning</a:t>
                      </a:r>
                    </a:p>
                  </a:txBody>
                  <a:tcPr>
                    <a:solidFill>
                      <a:srgbClr val="4338CA"/>
                    </a:solidFill>
                  </a:tcPr>
                </a:tc>
                <a:tc>
                  <a:txBody>
                    <a:bodyPr/>
                    <a:lstStyle/>
                    <a:p>
                      <a:r>
                        <a:rPr sz="1300" b="1">
                          <a:solidFill>
                            <a:srgbClr val="FFFFFF"/>
                          </a:solidFill>
                          <a:latin typeface="Calibri"/>
                        </a:rPr>
                        <a:t>Agents</a:t>
                      </a:r>
                    </a:p>
                  </a:txBody>
                  <a:tcPr>
                    <a:solidFill>
                      <a:srgbClr val="4338CA"/>
                    </a:solidFill>
                  </a:tcPr>
                </a:tc>
                <a:tc>
                  <a:txBody>
                    <a:bodyPr/>
                    <a:lstStyle/>
                    <a:p>
                      <a:r>
                        <a:rPr sz="1300" b="1">
                          <a:solidFill>
                            <a:srgbClr val="FFFFFF"/>
                          </a:solidFill>
                          <a:latin typeface="Calibri"/>
                        </a:rPr>
                        <a:t>Who fetches the data</a:t>
                      </a:r>
                    </a:p>
                  </a:txBody>
                  <a:tcPr>
                    <a:solidFill>
                      <a:srgbClr val="4338CA"/>
                    </a:solidFill>
                  </a:tcPr>
                </a:tc>
              </a:tr>
              <a:tr h="365760">
                <a:tc>
                  <a:txBody>
                    <a:bodyPr/>
                    <a:lstStyle/>
                    <a:p>
                      <a:r>
                        <a:rPr sz="1300" b="0">
                          <a:solidFill>
                            <a:srgbClr val="161A23"/>
                          </a:solidFill>
                          <a:latin typeface="Calibri"/>
                        </a:rPr>
                        <a:t>A</a:t>
                      </a:r>
                    </a:p>
                  </a:txBody>
                  <a:tcPr>
                    <a:solidFill>
                      <a:srgbClr val="FFFFFF"/>
                    </a:solidFill>
                  </a:tcPr>
                </a:tc>
                <a:tc>
                  <a:txBody>
                    <a:bodyPr/>
                    <a:lstStyle/>
                    <a:p>
                      <a:r>
                        <a:rPr sz="1300" b="0">
                          <a:solidFill>
                            <a:srgbClr val="161A23"/>
                          </a:solidFill>
                          <a:latin typeface="Calibri"/>
                        </a:rPr>
                        <a:t>Single AI</a:t>
                      </a:r>
                    </a:p>
                  </a:txBody>
                  <a:tcPr>
                    <a:solidFill>
                      <a:srgbClr val="FFFFFF"/>
                    </a:solidFill>
                  </a:tcPr>
                </a:tc>
                <a:tc>
                  <a:txBody>
                    <a:bodyPr/>
                    <a:lstStyle/>
                    <a:p>
                      <a:r>
                        <a:rPr sz="1300" b="0">
                          <a:solidFill>
                            <a:srgbClr val="161A23"/>
                          </a:solidFill>
                          <a:latin typeface="Calibri"/>
                        </a:rPr>
                        <a:t>AI answers from its own knowledge</a:t>
                      </a:r>
                    </a:p>
                  </a:txBody>
                  <a:tcPr>
                    <a:solidFill>
                      <a:srgbClr val="FFFFFF"/>
                    </a:solidFill>
                  </a:tcPr>
                </a:tc>
                <a:tc>
                  <a:txBody>
                    <a:bodyPr/>
                    <a:lstStyle/>
                    <a:p>
                      <a:r>
                        <a:rPr sz="1300" b="0">
                          <a:solidFill>
                            <a:srgbClr val="161A23"/>
                          </a:solidFill>
                          <a:latin typeface="Calibri"/>
                        </a:rPr>
                        <a:t>1</a:t>
                      </a:r>
                    </a:p>
                  </a:txBody>
                  <a:tcPr>
                    <a:solidFill>
                      <a:srgbClr val="FFFFFF"/>
                    </a:solidFill>
                  </a:tcPr>
                </a:tc>
                <a:tc>
                  <a:txBody>
                    <a:bodyPr/>
                    <a:lstStyle/>
                    <a:p>
                      <a:r>
                        <a:rPr sz="1300" b="0">
                          <a:solidFill>
                            <a:srgbClr val="161A23"/>
                          </a:solidFill>
                          <a:latin typeface="Calibri"/>
                        </a:rPr>
                        <a:t>nobody - no APIs at all</a:t>
                      </a:r>
                    </a:p>
                  </a:txBody>
                  <a:tcPr>
                    <a:solidFill>
                      <a:srgbClr val="FFFFFF"/>
                    </a:solidFill>
                  </a:tcPr>
                </a:tc>
              </a:tr>
              <a:tr h="365760">
                <a:tc>
                  <a:txBody>
                    <a:bodyPr/>
                    <a:lstStyle/>
                    <a:p>
                      <a:r>
                        <a:rPr sz="1300" b="0">
                          <a:solidFill>
                            <a:srgbClr val="161A23"/>
                          </a:solidFill>
                          <a:latin typeface="Calibri"/>
                        </a:rPr>
                        <a:t>B</a:t>
                      </a:r>
                    </a:p>
                  </a:txBody>
                  <a:tcPr>
                    <a:solidFill>
                      <a:srgbClr val="F7F8FC"/>
                    </a:solidFill>
                  </a:tcPr>
                </a:tc>
                <a:tc>
                  <a:txBody>
                    <a:bodyPr/>
                    <a:lstStyle/>
                    <a:p>
                      <a:r>
                        <a:rPr sz="1300" b="0">
                          <a:solidFill>
                            <a:srgbClr val="161A23"/>
                          </a:solidFill>
                          <a:latin typeface="Calibri"/>
                        </a:rPr>
                        <a:t>6 agents, naive</a:t>
                      </a:r>
                    </a:p>
                  </a:txBody>
                  <a:tcPr>
                    <a:solidFill>
                      <a:srgbClr val="F7F8FC"/>
                    </a:solidFill>
                  </a:tcPr>
                </a:tc>
                <a:tc>
                  <a:txBody>
                    <a:bodyPr/>
                    <a:lstStyle/>
                    <a:p>
                      <a:r>
                        <a:rPr sz="1300" b="0">
                          <a:solidFill>
                            <a:srgbClr val="161A23"/>
                          </a:solidFill>
                          <a:latin typeface="Calibri"/>
                        </a:rPr>
                        <a:t>Each agent decides its own tool use</a:t>
                      </a:r>
                    </a:p>
                  </a:txBody>
                  <a:tcPr>
                    <a:solidFill>
                      <a:srgbClr val="F7F8FC"/>
                    </a:solidFill>
                  </a:tcPr>
                </a:tc>
                <a:tc>
                  <a:txBody>
                    <a:bodyPr/>
                    <a:lstStyle/>
                    <a:p>
                      <a:r>
                        <a:rPr sz="1300" b="0">
                          <a:solidFill>
                            <a:srgbClr val="161A23"/>
                          </a:solidFill>
                          <a:latin typeface="Calibri"/>
                        </a:rPr>
                        <a:t>6</a:t>
                      </a:r>
                    </a:p>
                  </a:txBody>
                  <a:tcPr>
                    <a:solidFill>
                      <a:srgbClr val="F7F8FC"/>
                    </a:solidFill>
                  </a:tcPr>
                </a:tc>
                <a:tc>
                  <a:txBody>
                    <a:bodyPr/>
                    <a:lstStyle/>
                    <a:p>
                      <a:r>
                        <a:rPr sz="1300" b="0">
                          <a:solidFill>
                            <a:srgbClr val="161A23"/>
                          </a:solidFill>
                          <a:latin typeface="Calibri"/>
                        </a:rPr>
                        <a:t>the agents, through the tool server</a:t>
                      </a:r>
                    </a:p>
                  </a:txBody>
                  <a:tcPr>
                    <a:solidFill>
                      <a:srgbClr val="F7F8FC"/>
                    </a:solidFill>
                  </a:tcPr>
                </a:tc>
              </a:tr>
              <a:tr h="365760">
                <a:tc>
                  <a:txBody>
                    <a:bodyPr/>
                    <a:lstStyle/>
                    <a:p>
                      <a:r>
                        <a:rPr sz="1300" b="0">
                          <a:solidFill>
                            <a:srgbClr val="161A23"/>
                          </a:solidFill>
                          <a:latin typeface="Calibri"/>
                        </a:rPr>
                        <a:t>C</a:t>
                      </a:r>
                    </a:p>
                  </a:txBody>
                  <a:tcPr>
                    <a:solidFill>
                      <a:srgbClr val="FFFFFF"/>
                    </a:solidFill>
                  </a:tcPr>
                </a:tc>
                <a:tc>
                  <a:txBody>
                    <a:bodyPr/>
                    <a:lstStyle/>
                    <a:p>
                      <a:r>
                        <a:rPr sz="1300" b="0">
                          <a:solidFill>
                            <a:srgbClr val="161A23"/>
                          </a:solidFill>
                          <a:latin typeface="Calibri"/>
                        </a:rPr>
                        <a:t>6 agents, tuned</a:t>
                      </a:r>
                    </a:p>
                  </a:txBody>
                  <a:tcPr>
                    <a:solidFill>
                      <a:srgbClr val="FFFFFF"/>
                    </a:solidFill>
                  </a:tcPr>
                </a:tc>
                <a:tc>
                  <a:txBody>
                    <a:bodyPr/>
                    <a:lstStyle/>
                    <a:p>
                      <a:r>
                        <a:rPr sz="1300" b="0">
                          <a:solidFill>
                            <a:srgbClr val="161A23"/>
                          </a:solidFill>
                          <a:latin typeface="Calibri"/>
                        </a:rPr>
                        <a:t>Same six, configured properly</a:t>
                      </a:r>
                    </a:p>
                  </a:txBody>
                  <a:tcPr>
                    <a:solidFill>
                      <a:srgbClr val="FFFFFF"/>
                    </a:solidFill>
                  </a:tcPr>
                </a:tc>
                <a:tc>
                  <a:txBody>
                    <a:bodyPr/>
                    <a:lstStyle/>
                    <a:p>
                      <a:r>
                        <a:rPr sz="1300" b="0">
                          <a:solidFill>
                            <a:srgbClr val="161A23"/>
                          </a:solidFill>
                          <a:latin typeface="Calibri"/>
                        </a:rPr>
                        <a:t>6</a:t>
                      </a:r>
                    </a:p>
                  </a:txBody>
                  <a:tcPr>
                    <a:solidFill>
                      <a:srgbClr val="FFFFFF"/>
                    </a:solidFill>
                  </a:tcPr>
                </a:tc>
                <a:tc>
                  <a:txBody>
                    <a:bodyPr/>
                    <a:lstStyle/>
                    <a:p>
                      <a:r>
                        <a:rPr sz="1300" b="0">
                          <a:solidFill>
                            <a:srgbClr val="161A23"/>
                          </a:solidFill>
                          <a:latin typeface="Calibri"/>
                        </a:rPr>
                        <a:t>the agents, calling directly</a:t>
                      </a:r>
                    </a:p>
                  </a:txBody>
                  <a:tcPr>
                    <a:solidFill>
                      <a:srgbClr val="FFFFFF"/>
                    </a:solidFill>
                  </a:tcPr>
                </a:tc>
              </a:tr>
              <a:tr h="365760">
                <a:tc>
                  <a:txBody>
                    <a:bodyPr/>
                    <a:lstStyle/>
                    <a:p>
                      <a:r>
                        <a:rPr sz="1300" b="0">
                          <a:solidFill>
                            <a:srgbClr val="161A23"/>
                          </a:solidFill>
                          <a:latin typeface="Calibri"/>
                        </a:rPr>
                        <a:t>D</a:t>
                      </a:r>
                    </a:p>
                  </a:txBody>
                  <a:tcPr>
                    <a:solidFill>
                      <a:srgbClr val="F7F8FC"/>
                    </a:solidFill>
                  </a:tcPr>
                </a:tc>
                <a:tc>
                  <a:txBody>
                    <a:bodyPr/>
                    <a:lstStyle/>
                    <a:p>
                      <a:r>
                        <a:rPr sz="1300" b="0">
                          <a:solidFill>
                            <a:srgbClr val="161A23"/>
                          </a:solidFill>
                          <a:latin typeface="Calibri"/>
                        </a:rPr>
                        <a:t>3 agents, direct</a:t>
                      </a:r>
                    </a:p>
                  </a:txBody>
                  <a:tcPr>
                    <a:solidFill>
                      <a:srgbClr val="F7F8FC"/>
                    </a:solidFill>
                  </a:tcPr>
                </a:tc>
                <a:tc>
                  <a:txBody>
                    <a:bodyPr/>
                    <a:lstStyle/>
                    <a:p>
                      <a:r>
                        <a:rPr sz="1300" b="0">
                          <a:solidFill>
                            <a:srgbClr val="161A23"/>
                          </a:solidFill>
                          <a:latin typeface="Calibri"/>
                        </a:rPr>
                        <a:t>AI thinks; code does the searching</a:t>
                      </a:r>
                    </a:p>
                  </a:txBody>
                  <a:tcPr>
                    <a:solidFill>
                      <a:srgbClr val="F7F8FC"/>
                    </a:solidFill>
                  </a:tcPr>
                </a:tc>
                <a:tc>
                  <a:txBody>
                    <a:bodyPr/>
                    <a:lstStyle/>
                    <a:p>
                      <a:r>
                        <a:rPr sz="1300" b="0">
                          <a:solidFill>
                            <a:srgbClr val="161A23"/>
                          </a:solidFill>
                          <a:latin typeface="Calibri"/>
                        </a:rPr>
                        <a:t>3</a:t>
                      </a:r>
                    </a:p>
                  </a:txBody>
                  <a:tcPr>
                    <a:solidFill>
                      <a:srgbClr val="F7F8FC"/>
                    </a:solidFill>
                  </a:tcPr>
                </a:tc>
                <a:tc>
                  <a:txBody>
                    <a:bodyPr/>
                    <a:lstStyle/>
                    <a:p>
                      <a:r>
                        <a:rPr sz="1300" b="0">
                          <a:solidFill>
                            <a:srgbClr val="161A23"/>
                          </a:solidFill>
                          <a:latin typeface="Calibri"/>
                        </a:rPr>
                        <a:t>plain Python</a:t>
                      </a:r>
                    </a:p>
                  </a:txBody>
                  <a:tcPr>
                    <a:solidFill>
                      <a:srgbClr val="F7F8FC"/>
                    </a:solidFill>
                  </a:tcPr>
                </a:tc>
              </a:tr>
            </a:tbl>
          </a:graphicData>
        </a:graphic>
      </p:graphicFrame>
      <p:sp>
        <p:nvSpPr>
          <p:cNvPr id="6" name="TextBox 5"/>
          <p:cNvSpPr txBox="1"/>
          <p:nvPr/>
        </p:nvSpPr>
        <p:spPr>
          <a:xfrm>
            <a:off x="822960" y="4937760"/>
            <a:ext cx="10515600" cy="1188720"/>
          </a:xfrm>
          <a:prstGeom prst="rect">
            <a:avLst/>
          </a:prstGeom>
          <a:noFill/>
        </p:spPr>
        <p:txBody>
          <a:bodyPr wrap="square" anchor="t">
            <a:spAutoFit/>
          </a:bodyPr>
          <a:lstStyle/>
          <a:p>
            <a:pPr algn="l">
              <a:lnSpc>
                <a:spcPct val="125000"/>
              </a:lnSpc>
            </a:pPr>
            <a:r>
              <a:rPr sz="1800" b="1">
                <a:solidFill>
                  <a:srgbClr val="161A23"/>
                </a:solidFill>
                <a:latin typeface="Calibri"/>
              </a:rPr>
              <a:t>All four get the identical request and the identical travel data.</a:t>
            </a:r>
          </a:p>
          <a:p>
            <a:pPr algn="l">
              <a:lnSpc>
                <a:spcPct val="125000"/>
              </a:lnSpc>
            </a:pPr>
            <a:r>
              <a:rPr sz="1700" b="0">
                <a:solidFill>
                  <a:srgbClr val="545C6E"/>
                </a:solidFill>
                <a:latin typeface="Calibri"/>
              </a:rPr>
              <a:t>So the only thing being tested is who decides when to fetch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4  ·  APPROACH A  —  SINGLE AI</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baseline</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377440" y="1920240"/>
            <a:ext cx="2194560" cy="777240"/>
          </a:xfrm>
          <a:prstGeom prst="roundRect">
            <a:avLst/>
          </a:prstGeom>
          <a:solidFill>
            <a:srgbClr val="EFEE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61A23"/>
                </a:solidFill>
                <a:latin typeface="Calibri"/>
              </a:rPr>
              <a:t>USER</a:t>
            </a:r>
          </a:p>
        </p:txBody>
      </p:sp>
      <p:sp>
        <p:nvSpPr>
          <p:cNvPr id="6" name="Rounded Rectangle 5"/>
          <p:cNvSpPr/>
          <p:nvPr/>
        </p:nvSpPr>
        <p:spPr>
          <a:xfrm>
            <a:off x="5029200" y="1920240"/>
            <a:ext cx="2194560" cy="777240"/>
          </a:xfrm>
          <a:prstGeom prst="roundRect">
            <a:avLst/>
          </a:prstGeom>
          <a:solidFill>
            <a:srgbClr val="4E3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FFFFFF"/>
                </a:solidFill>
                <a:latin typeface="Calibri"/>
              </a:rPr>
              <a:t>AI</a:t>
            </a:r>
          </a:p>
        </p:txBody>
      </p:sp>
      <p:sp>
        <p:nvSpPr>
          <p:cNvPr id="7" name="Rounded Rectangle 6"/>
          <p:cNvSpPr/>
          <p:nvPr/>
        </p:nvSpPr>
        <p:spPr>
          <a:xfrm>
            <a:off x="7680960" y="1920240"/>
            <a:ext cx="2194560" cy="777240"/>
          </a:xfrm>
          <a:prstGeom prst="roundRect">
            <a:avLst/>
          </a:prstGeom>
          <a:solidFill>
            <a:srgbClr val="EFEE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400" b="1">
                <a:solidFill>
                  <a:srgbClr val="161A23"/>
                </a:solidFill>
                <a:latin typeface="Calibri"/>
              </a:rPr>
              <a:t>ITINERARY</a:t>
            </a:r>
          </a:p>
        </p:txBody>
      </p:sp>
      <p:sp>
        <p:nvSpPr>
          <p:cNvPr id="8" name="TextBox 7"/>
          <p:cNvSpPr txBox="1"/>
          <p:nvPr/>
        </p:nvSpPr>
        <p:spPr>
          <a:xfrm>
            <a:off x="4572000" y="2057400"/>
            <a:ext cx="457200" cy="457200"/>
          </a:xfrm>
          <a:prstGeom prst="rect">
            <a:avLst/>
          </a:prstGeom>
          <a:noFill/>
        </p:spPr>
        <p:txBody>
          <a:bodyPr wrap="square" anchor="t">
            <a:spAutoFit/>
          </a:bodyPr>
          <a:lstStyle/>
          <a:p>
            <a:pPr algn="ctr">
              <a:lnSpc>
                <a:spcPct val="100000"/>
              </a:lnSpc>
            </a:pPr>
            <a:r>
              <a:rPr sz="1400" b="0">
                <a:solidFill>
                  <a:srgbClr val="8A91A0"/>
                </a:solidFill>
                <a:latin typeface="Calibri"/>
              </a:rPr>
              <a:t>▶</a:t>
            </a:r>
          </a:p>
        </p:txBody>
      </p:sp>
      <p:sp>
        <p:nvSpPr>
          <p:cNvPr id="9" name="TextBox 8"/>
          <p:cNvSpPr txBox="1"/>
          <p:nvPr/>
        </p:nvSpPr>
        <p:spPr>
          <a:xfrm>
            <a:off x="7223760" y="2057400"/>
            <a:ext cx="457200" cy="457200"/>
          </a:xfrm>
          <a:prstGeom prst="rect">
            <a:avLst/>
          </a:prstGeom>
          <a:noFill/>
        </p:spPr>
        <p:txBody>
          <a:bodyPr wrap="square" anchor="t">
            <a:spAutoFit/>
          </a:bodyPr>
          <a:lstStyle/>
          <a:p>
            <a:pPr algn="ctr">
              <a:lnSpc>
                <a:spcPct val="100000"/>
              </a:lnSpc>
            </a:pPr>
            <a:r>
              <a:rPr sz="1400" b="0">
                <a:solidFill>
                  <a:srgbClr val="8A91A0"/>
                </a:solidFill>
                <a:latin typeface="Calibri"/>
              </a:rPr>
              <a:t>▶</a:t>
            </a:r>
          </a:p>
        </p:txBody>
      </p:sp>
      <p:sp>
        <p:nvSpPr>
          <p:cNvPr id="10" name="TextBox 9"/>
          <p:cNvSpPr txBox="1"/>
          <p:nvPr/>
        </p:nvSpPr>
        <p:spPr>
          <a:xfrm>
            <a:off x="822960" y="3017520"/>
            <a:ext cx="10515600" cy="548640"/>
          </a:xfrm>
          <a:prstGeom prst="rect">
            <a:avLst/>
          </a:prstGeom>
          <a:noFill/>
        </p:spPr>
        <p:txBody>
          <a:bodyPr wrap="square" anchor="t">
            <a:spAutoFit/>
          </a:bodyPr>
          <a:lstStyle/>
          <a:p>
            <a:pPr algn="ctr">
              <a:lnSpc>
                <a:spcPct val="100000"/>
              </a:lnSpc>
            </a:pPr>
            <a:r>
              <a:rPr sz="1700" b="0">
                <a:solidFill>
                  <a:srgbClr val="545C6E"/>
                </a:solidFill>
                <a:latin typeface="Calibri"/>
              </a:rPr>
              <a:t>No tools. No APIs. The AI writes the plan from what it already knows.</a:t>
            </a:r>
          </a:p>
        </p:txBody>
      </p:sp>
      <p:sp>
        <p:nvSpPr>
          <p:cNvPr id="11" name="TextBox 10"/>
          <p:cNvSpPr txBox="1"/>
          <p:nvPr/>
        </p:nvSpPr>
        <p:spPr>
          <a:xfrm>
            <a:off x="822960" y="3749039"/>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a:t>
            </a:r>
          </a:p>
        </p:txBody>
      </p:sp>
      <p:sp>
        <p:nvSpPr>
          <p:cNvPr id="12" name="TextBox 11"/>
          <p:cNvSpPr txBox="1"/>
          <p:nvPr/>
        </p:nvSpPr>
        <p:spPr>
          <a:xfrm>
            <a:off x="822960" y="4892039"/>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AI call</a:t>
            </a:r>
          </a:p>
        </p:txBody>
      </p:sp>
      <p:sp>
        <p:nvSpPr>
          <p:cNvPr id="13" name="TextBox 12"/>
          <p:cNvSpPr txBox="1"/>
          <p:nvPr/>
        </p:nvSpPr>
        <p:spPr>
          <a:xfrm>
            <a:off x="4338218" y="3749039"/>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1.7%</a:t>
            </a:r>
          </a:p>
        </p:txBody>
      </p:sp>
      <p:sp>
        <p:nvSpPr>
          <p:cNvPr id="14" name="TextBox 13"/>
          <p:cNvSpPr txBox="1"/>
          <p:nvPr/>
        </p:nvSpPr>
        <p:spPr>
          <a:xfrm>
            <a:off x="4338218" y="4892039"/>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of its prices matched a real fare</a:t>
            </a:r>
          </a:p>
        </p:txBody>
      </p:sp>
      <p:sp>
        <p:nvSpPr>
          <p:cNvPr id="15" name="TextBox 14"/>
          <p:cNvSpPr txBox="1"/>
          <p:nvPr/>
        </p:nvSpPr>
        <p:spPr>
          <a:xfrm>
            <a:off x="7853476" y="3749039"/>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27s</a:t>
            </a:r>
          </a:p>
        </p:txBody>
      </p:sp>
      <p:sp>
        <p:nvSpPr>
          <p:cNvPr id="16" name="TextBox 15"/>
          <p:cNvSpPr txBox="1"/>
          <p:nvPr/>
        </p:nvSpPr>
        <p:spPr>
          <a:xfrm>
            <a:off x="7853476" y="4892039"/>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to produce the plan</a:t>
            </a:r>
          </a:p>
        </p:txBody>
      </p:sp>
      <p:sp>
        <p:nvSpPr>
          <p:cNvPr id="17" name="TextBox 16"/>
          <p:cNvSpPr txBox="1"/>
          <p:nvPr/>
        </p:nvSpPr>
        <p:spPr>
          <a:xfrm>
            <a:off x="822960" y="5532120"/>
            <a:ext cx="10515600" cy="822960"/>
          </a:xfrm>
          <a:prstGeom prst="rect">
            <a:avLst/>
          </a:prstGeom>
          <a:noFill/>
        </p:spPr>
        <p:txBody>
          <a:bodyPr wrap="square" anchor="t">
            <a:spAutoFit/>
          </a:bodyPr>
          <a:lstStyle/>
          <a:p>
            <a:pPr algn="l">
              <a:lnSpc>
                <a:spcPct val="100000"/>
              </a:lnSpc>
            </a:pPr>
            <a:r>
              <a:rPr sz="1800" b="1">
                <a:solidFill>
                  <a:srgbClr val="A85B00"/>
                </a:solidFill>
                <a:latin typeface="Calibri"/>
              </a:rPr>
              <a:t>Cheap and fast, and the information cannot be trusted. That is what this approach is here to show.</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5  ·  APPROACH B  —  6 AGENTS, NAIVE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Every agent decides for itself</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1965960"/>
          <a:ext cx="10515599" cy="2194560"/>
        </p:xfrm>
        <a:graphic>
          <a:graphicData uri="http://schemas.openxmlformats.org/drawingml/2006/table">
            <a:tbl>
              <a:tblPr firstRow="1" bandRow="1">
                <a:tableStyleId>{5C22544A-7EE6-4342-B048-85BDC9FD1C3A}</a:tableStyleId>
              </a:tblPr>
              <a:tblGrid>
                <a:gridCol w="6036733"/>
                <a:gridCol w="4478866"/>
              </a:tblGrid>
              <a:tr h="365760">
                <a:tc>
                  <a:txBody>
                    <a:bodyPr/>
                    <a:lstStyle/>
                    <a:p>
                      <a:r>
                        <a:rPr sz="1300" b="1">
                          <a:solidFill>
                            <a:srgbClr val="FFFFFF"/>
                          </a:solidFill>
                          <a:latin typeface="Calibri"/>
                        </a:rPr>
                        <a:t>The hotel agent's thinking</a:t>
                      </a:r>
                    </a:p>
                  </a:txBody>
                  <a:tcPr>
                    <a:solidFill>
                      <a:srgbClr val="4338CA"/>
                    </a:solidFill>
                  </a:tcPr>
                </a:tc>
                <a:tc>
                  <a:txBody>
                    <a:bodyPr/>
                    <a:lstStyle/>
                    <a:p>
                      <a:r>
                        <a:rPr sz="1300" b="1">
                          <a:solidFill>
                            <a:srgbClr val="FFFFFF"/>
                          </a:solidFill>
                          <a:latin typeface="Calibri"/>
                        </a:rPr>
                        <a:t>Each line is a separate AI call</a:t>
                      </a:r>
                    </a:p>
                  </a:txBody>
                  <a:tcPr>
                    <a:solidFill>
                      <a:srgbClr val="4338CA"/>
                    </a:solidFill>
                  </a:tcPr>
                </a:tc>
              </a:tr>
              <a:tr h="365760">
                <a:tc>
                  <a:txBody>
                    <a:bodyPr/>
                    <a:lstStyle/>
                    <a:p>
                      <a:r>
                        <a:rPr sz="1300" b="0">
                          <a:solidFill>
                            <a:srgbClr val="161A23"/>
                          </a:solidFill>
                          <a:latin typeface="Calibri"/>
                        </a:rPr>
                        <a:t>"I need Istanbul's destination ID"</a:t>
                      </a:r>
                    </a:p>
                  </a:txBody>
                  <a:tcPr>
                    <a:solidFill>
                      <a:srgbClr val="FFFFFF"/>
                    </a:solidFill>
                  </a:tcPr>
                </a:tc>
                <a:tc>
                  <a:txBody>
                    <a:bodyPr/>
                    <a:lstStyle/>
                    <a:p>
                      <a:r>
                        <a:rPr sz="1300" b="0">
                          <a:solidFill>
                            <a:srgbClr val="161A23"/>
                          </a:solidFill>
                          <a:latin typeface="Calibri"/>
                        </a:rPr>
                        <a:t>tool call</a:t>
                      </a:r>
                    </a:p>
                  </a:txBody>
                  <a:tcPr>
                    <a:solidFill>
                      <a:srgbClr val="FFFFFF"/>
                    </a:solidFill>
                  </a:tcPr>
                </a:tc>
              </a:tr>
              <a:tr h="365760">
                <a:tc>
                  <a:txBody>
                    <a:bodyPr/>
                    <a:lstStyle/>
                    <a:p>
                      <a:r>
                        <a:rPr sz="1300" b="0">
                          <a:solidFill>
                            <a:srgbClr val="161A23"/>
                          </a:solidFill>
                          <a:latin typeface="Calibri"/>
                        </a:rPr>
                        <a:t>"Now I'll search hotels"</a:t>
                      </a:r>
                    </a:p>
                  </a:txBody>
                  <a:tcPr>
                    <a:solidFill>
                      <a:srgbClr val="F7F8FC"/>
                    </a:solidFill>
                  </a:tcPr>
                </a:tc>
                <a:tc>
                  <a:txBody>
                    <a:bodyPr/>
                    <a:lstStyle/>
                    <a:p>
                      <a:r>
                        <a:rPr sz="1300" b="0">
                          <a:solidFill>
                            <a:srgbClr val="161A23"/>
                          </a:solidFill>
                          <a:latin typeface="Calibri"/>
                        </a:rPr>
                        <a:t>tool call - 12,000 characters back</a:t>
                      </a:r>
                    </a:p>
                  </a:txBody>
                  <a:tcPr>
                    <a:solidFill>
                      <a:srgbClr val="F7F8FC"/>
                    </a:solidFill>
                  </a:tcPr>
                </a:tc>
              </a:tr>
              <a:tr h="365760">
                <a:tc>
                  <a:txBody>
                    <a:bodyPr/>
                    <a:lstStyle/>
                    <a:p>
                      <a:r>
                        <a:rPr sz="1300" b="0">
                          <a:solidFill>
                            <a:srgbClr val="161A23"/>
                          </a:solidFill>
                          <a:latin typeface="Calibri"/>
                        </a:rPr>
                        <a:t>"Maybe I should check the reviews"</a:t>
                      </a:r>
                    </a:p>
                  </a:txBody>
                  <a:tcPr>
                    <a:solidFill>
                      <a:srgbClr val="FFFFFF"/>
                    </a:solidFill>
                  </a:tcPr>
                </a:tc>
                <a:tc>
                  <a:txBody>
                    <a:bodyPr/>
                    <a:lstStyle/>
                    <a:p>
                      <a:r>
                        <a:rPr sz="1300" b="0">
                          <a:solidFill>
                            <a:srgbClr val="161A23"/>
                          </a:solidFill>
                          <a:latin typeface="Calibri"/>
                        </a:rPr>
                        <a:t>tool call</a:t>
                      </a:r>
                    </a:p>
                  </a:txBody>
                  <a:tcPr>
                    <a:solidFill>
                      <a:srgbClr val="FFFFFF"/>
                    </a:solidFill>
                  </a:tcPr>
                </a:tc>
              </a:tr>
              <a:tr h="365760">
                <a:tc>
                  <a:txBody>
                    <a:bodyPr/>
                    <a:lstStyle/>
                    <a:p>
                      <a:r>
                        <a:rPr sz="1300" b="0">
                          <a:solidFill>
                            <a:srgbClr val="161A23"/>
                          </a:solidFill>
                          <a:latin typeface="Calibri"/>
                        </a:rPr>
                        <a:t>"Maybe I should look at nearby attractions"</a:t>
                      </a:r>
                    </a:p>
                  </a:txBody>
                  <a:tcPr>
                    <a:solidFill>
                      <a:srgbClr val="F7F8FC"/>
                    </a:solidFill>
                  </a:tcPr>
                </a:tc>
                <a:tc>
                  <a:txBody>
                    <a:bodyPr/>
                    <a:lstStyle/>
                    <a:p>
                      <a:r>
                        <a:rPr sz="1300" b="0">
                          <a:solidFill>
                            <a:srgbClr val="161A23"/>
                          </a:solidFill>
                          <a:latin typeface="Calibri"/>
                        </a:rPr>
                        <a:t>tool call</a:t>
                      </a:r>
                    </a:p>
                  </a:txBody>
                  <a:tcPr>
                    <a:solidFill>
                      <a:srgbClr val="F7F8FC"/>
                    </a:solidFill>
                  </a:tcPr>
                </a:tc>
              </a:tr>
              <a:tr h="365760">
                <a:tc>
                  <a:txBody>
                    <a:bodyPr/>
                    <a:lstStyle/>
                    <a:p>
                      <a:r>
                        <a:rPr sz="1300" b="0">
                          <a:solidFill>
                            <a:srgbClr val="161A23"/>
                          </a:solidFill>
                          <a:latin typeface="Calibri"/>
                        </a:rPr>
                        <a:t>...and it may keep going, up to 10 steps</a:t>
                      </a:r>
                    </a:p>
                  </a:txBody>
                  <a:tcPr>
                    <a:solidFill>
                      <a:srgbClr val="FFFFFF"/>
                    </a:solidFill>
                  </a:tcPr>
                </a:tc>
                <a:tc>
                  <a:txBody>
                    <a:bodyPr/>
                    <a:lstStyle/>
                    <a:p>
                      <a:r>
                        <a:rPr sz="1300" b="0">
                          <a:solidFill>
                            <a:srgbClr val="161A23"/>
                          </a:solidFill>
                          <a:latin typeface="Calibri"/>
                        </a:rPr>
                        <a:t>8 tool descriptions re-sent every single time</a:t>
                      </a:r>
                    </a:p>
                  </a:txBody>
                  <a:tcPr>
                    <a:solidFill>
                      <a:srgbClr val="FFFFFF"/>
                    </a:solidFill>
                  </a:tcPr>
                </a:tc>
              </a:tr>
            </a:tbl>
          </a:graphicData>
        </a:graphic>
      </p:graphicFrame>
      <p:sp>
        <p:nvSpPr>
          <p:cNvPr id="6" name="TextBox 5"/>
          <p:cNvSpPr txBox="1"/>
          <p:nvPr/>
        </p:nvSpPr>
        <p:spPr>
          <a:xfrm>
            <a:off x="822960" y="42976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21</a:t>
            </a:r>
          </a:p>
        </p:txBody>
      </p:sp>
      <p:sp>
        <p:nvSpPr>
          <p:cNvPr id="7" name="TextBox 6"/>
          <p:cNvSpPr txBox="1"/>
          <p:nvPr/>
        </p:nvSpPr>
        <p:spPr>
          <a:xfrm>
            <a:off x="822960" y="544068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AI calls per trip</a:t>
            </a:r>
          </a:p>
        </p:txBody>
      </p:sp>
      <p:sp>
        <p:nvSpPr>
          <p:cNvPr id="8" name="TextBox 7"/>
          <p:cNvSpPr txBox="1"/>
          <p:nvPr/>
        </p:nvSpPr>
        <p:spPr>
          <a:xfrm>
            <a:off x="4338218" y="42976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372s</a:t>
            </a:r>
          </a:p>
        </p:txBody>
      </p:sp>
      <p:sp>
        <p:nvSpPr>
          <p:cNvPr id="9" name="TextBox 8"/>
          <p:cNvSpPr txBox="1"/>
          <p:nvPr/>
        </p:nvSpPr>
        <p:spPr>
          <a:xfrm>
            <a:off x="4338218" y="544068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to plan one trip</a:t>
            </a:r>
          </a:p>
        </p:txBody>
      </p:sp>
      <p:sp>
        <p:nvSpPr>
          <p:cNvPr id="10" name="TextBox 9"/>
          <p:cNvSpPr txBox="1"/>
          <p:nvPr/>
        </p:nvSpPr>
        <p:spPr>
          <a:xfrm>
            <a:off x="7853476" y="429768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2</a:t>
            </a:r>
          </a:p>
        </p:txBody>
      </p:sp>
      <p:sp>
        <p:nvSpPr>
          <p:cNvPr id="11" name="TextBox 10"/>
          <p:cNvSpPr txBox="1"/>
          <p:nvPr/>
        </p:nvSpPr>
        <p:spPr>
          <a:xfrm>
            <a:off x="7853476" y="544068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tools it never called at all</a:t>
            </a:r>
          </a:p>
        </p:txBody>
      </p:sp>
      <p:sp>
        <p:nvSpPr>
          <p:cNvPr id="12" name="TextBox 11"/>
          <p:cNvSpPr txBox="1"/>
          <p:nvPr/>
        </p:nvSpPr>
        <p:spPr>
          <a:xfrm>
            <a:off x="822960" y="5943600"/>
            <a:ext cx="10515600" cy="640080"/>
          </a:xfrm>
          <a:prstGeom prst="rect">
            <a:avLst/>
          </a:prstGeom>
          <a:noFill/>
        </p:spPr>
        <p:txBody>
          <a:bodyPr wrap="square" anchor="t">
            <a:spAutoFit/>
          </a:bodyPr>
          <a:lstStyle/>
          <a:p>
            <a:pPr algn="l">
              <a:lnSpc>
                <a:spcPct val="100000"/>
              </a:lnSpc>
            </a:pPr>
            <a:r>
              <a:rPr sz="1700" b="1">
                <a:solidFill>
                  <a:srgbClr val="A85B00"/>
                </a:solidFill>
                <a:latin typeface="Calibri"/>
              </a:rPr>
              <a:t>Too much freedom: it keeps thinking and searching when it does not need to - and still skipped tools.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6  ·  APPROACH C  —  6 AGENTS, TUNED</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Approach B done properly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8" cy="1828800"/>
        </p:xfrm>
        <a:graphic>
          <a:graphicData uri="http://schemas.openxmlformats.org/drawingml/2006/table">
            <a:tbl>
              <a:tblPr firstRow="1" bandRow="1">
                <a:tableStyleId>{5C22544A-7EE6-4342-B048-85BDC9FD1C3A}</a:tableStyleId>
              </a:tblPr>
              <a:tblGrid>
                <a:gridCol w="2804159"/>
                <a:gridCol w="4005942"/>
                <a:gridCol w="3705497"/>
              </a:tblGrid>
              <a:tr h="365760">
                <a:tc>
                  <a:txBody>
                    <a:bodyPr/>
                    <a:lstStyle/>
                    <a:p>
                      <a:r>
                        <a:rPr sz="1350" b="1">
                          <a:solidFill>
                            <a:srgbClr val="FFFFFF"/>
                          </a:solidFill>
                          <a:latin typeface="Calibri"/>
                        </a:rPr>
                        <a:t> </a:t>
                      </a:r>
                    </a:p>
                  </a:txBody>
                  <a:tcPr>
                    <a:solidFill>
                      <a:srgbClr val="4338CA"/>
                    </a:solidFill>
                  </a:tcPr>
                </a:tc>
                <a:tc>
                  <a:txBody>
                    <a:bodyPr/>
                    <a:lstStyle/>
                    <a:p>
                      <a:r>
                        <a:rPr sz="1350" b="1">
                          <a:solidFill>
                            <a:srgbClr val="FFFFFF"/>
                          </a:solidFill>
                          <a:latin typeface="Calibri"/>
                        </a:rPr>
                        <a:t>Approach B</a:t>
                      </a:r>
                    </a:p>
                  </a:txBody>
                  <a:tcPr>
                    <a:solidFill>
                      <a:srgbClr val="4338CA"/>
                    </a:solidFill>
                  </a:tcPr>
                </a:tc>
                <a:tc>
                  <a:txBody>
                    <a:bodyPr/>
                    <a:lstStyle/>
                    <a:p>
                      <a:r>
                        <a:rPr sz="1350" b="1">
                          <a:solidFill>
                            <a:srgbClr val="FFFFFF"/>
                          </a:solidFill>
                          <a:latin typeface="Calibri"/>
                        </a:rPr>
                        <a:t>Approach C</a:t>
                      </a:r>
                    </a:p>
                  </a:txBody>
                  <a:tcPr>
                    <a:solidFill>
                      <a:srgbClr val="4338CA"/>
                    </a:solidFill>
                  </a:tcPr>
                </a:tc>
              </a:tr>
              <a:tr h="365760">
                <a:tc>
                  <a:txBody>
                    <a:bodyPr/>
                    <a:lstStyle/>
                    <a:p>
                      <a:r>
                        <a:rPr sz="1350" b="0">
                          <a:solidFill>
                            <a:srgbClr val="161A23"/>
                          </a:solidFill>
                          <a:latin typeface="Calibri"/>
                        </a:rPr>
                        <a:t>Tools per agent</a:t>
                      </a:r>
                    </a:p>
                  </a:txBody>
                  <a:tcPr>
                    <a:solidFill>
                      <a:srgbClr val="FFFFFF"/>
                    </a:solidFill>
                  </a:tcPr>
                </a:tc>
                <a:tc>
                  <a:txBody>
                    <a:bodyPr/>
                    <a:lstStyle/>
                    <a:p>
                      <a:r>
                        <a:rPr sz="1350" b="0">
                          <a:solidFill>
                            <a:srgbClr val="161A23"/>
                          </a:solidFill>
                          <a:latin typeface="Calibri"/>
                        </a:rPr>
                        <a:t>up to 8</a:t>
                      </a:r>
                    </a:p>
                  </a:txBody>
                  <a:tcPr>
                    <a:solidFill>
                      <a:srgbClr val="FFFFFF"/>
                    </a:solidFill>
                  </a:tcPr>
                </a:tc>
                <a:tc>
                  <a:txBody>
                    <a:bodyPr/>
                    <a:lstStyle/>
                    <a:p>
                      <a:r>
                        <a:rPr sz="1350" b="0">
                          <a:solidFill>
                            <a:srgbClr val="161A23"/>
                          </a:solidFill>
                          <a:latin typeface="Calibri"/>
                        </a:rPr>
                        <a:t>1 or 2</a:t>
                      </a:r>
                    </a:p>
                  </a:txBody>
                  <a:tcPr>
                    <a:solidFill>
                      <a:srgbClr val="FFFFFF"/>
                    </a:solidFill>
                  </a:tcPr>
                </a:tc>
              </a:tr>
              <a:tr h="365760">
                <a:tc>
                  <a:txBody>
                    <a:bodyPr/>
                    <a:lstStyle/>
                    <a:p>
                      <a:r>
                        <a:rPr sz="1350" b="0">
                          <a:solidFill>
                            <a:srgbClr val="161A23"/>
                          </a:solidFill>
                          <a:latin typeface="Calibri"/>
                        </a:rPr>
                        <a:t>Thinking steps allowed</a:t>
                      </a:r>
                    </a:p>
                  </a:txBody>
                  <a:tcPr>
                    <a:solidFill>
                      <a:srgbClr val="F7F8FC"/>
                    </a:solidFill>
                  </a:tcPr>
                </a:tc>
                <a:tc>
                  <a:txBody>
                    <a:bodyPr/>
                    <a:lstStyle/>
                    <a:p>
                      <a:r>
                        <a:rPr sz="1350" b="0">
                          <a:solidFill>
                            <a:srgbClr val="161A23"/>
                          </a:solidFill>
                          <a:latin typeface="Calibri"/>
                        </a:rPr>
                        <a:t>8 to 15</a:t>
                      </a:r>
                    </a:p>
                  </a:txBody>
                  <a:tcPr>
                    <a:solidFill>
                      <a:srgbClr val="F7F8FC"/>
                    </a:solidFill>
                  </a:tcPr>
                </a:tc>
                <a:tc>
                  <a:txBody>
                    <a:bodyPr/>
                    <a:lstStyle/>
                    <a:p>
                      <a:r>
                        <a:rPr sz="1350" b="0">
                          <a:solidFill>
                            <a:srgbClr val="161A23"/>
                          </a:solidFill>
                          <a:latin typeface="Calibri"/>
                        </a:rPr>
                        <a:t>3</a:t>
                      </a:r>
                    </a:p>
                  </a:txBody>
                  <a:tcPr>
                    <a:solidFill>
                      <a:srgbClr val="F7F8FC"/>
                    </a:solidFill>
                  </a:tcPr>
                </a:tc>
              </a:tr>
              <a:tr h="365760">
                <a:tc>
                  <a:txBody>
                    <a:bodyPr/>
                    <a:lstStyle/>
                    <a:p>
                      <a:r>
                        <a:rPr sz="1350" b="0">
                          <a:solidFill>
                            <a:srgbClr val="161A23"/>
                          </a:solidFill>
                          <a:latin typeface="Calibri"/>
                        </a:rPr>
                        <a:t>What the AI is sent</a:t>
                      </a:r>
                    </a:p>
                  </a:txBody>
                  <a:tcPr>
                    <a:solidFill>
                      <a:srgbClr val="FFFFFF"/>
                    </a:solidFill>
                  </a:tcPr>
                </a:tc>
                <a:tc>
                  <a:txBody>
                    <a:bodyPr/>
                    <a:lstStyle/>
                    <a:p>
                      <a:r>
                        <a:rPr sz="1350" b="0">
                          <a:solidFill>
                            <a:srgbClr val="161A23"/>
                          </a:solidFill>
                          <a:latin typeface="Calibri"/>
                        </a:rPr>
                        <a:t>the full 12,000-character API reply</a:t>
                      </a:r>
                    </a:p>
                  </a:txBody>
                  <a:tcPr>
                    <a:solidFill>
                      <a:srgbClr val="FFFFFF"/>
                    </a:solidFill>
                  </a:tcPr>
                </a:tc>
                <a:tc>
                  <a:txBody>
                    <a:bodyPr/>
                    <a:lstStyle/>
                    <a:p>
                      <a:r>
                        <a:rPr sz="1350" b="0">
                          <a:solidFill>
                            <a:srgbClr val="161A23"/>
                          </a:solidFill>
                          <a:latin typeface="Calibri"/>
                        </a:rPr>
                        <a:t>the best 3 results, trimmed</a:t>
                      </a:r>
                    </a:p>
                  </a:txBody>
                  <a:tcPr>
                    <a:solidFill>
                      <a:srgbClr val="FFFFFF"/>
                    </a:solidFill>
                  </a:tcPr>
                </a:tc>
              </a:tr>
              <a:tr h="365760">
                <a:tc>
                  <a:txBody>
                    <a:bodyPr/>
                    <a:lstStyle/>
                    <a:p>
                      <a:r>
                        <a:rPr sz="1350" b="0">
                          <a:solidFill>
                            <a:srgbClr val="161A23"/>
                          </a:solidFill>
                          <a:latin typeface="Calibri"/>
                        </a:rPr>
                        <a:t>When agents run</a:t>
                      </a:r>
                    </a:p>
                  </a:txBody>
                  <a:tcPr>
                    <a:solidFill>
                      <a:srgbClr val="F7F8FC"/>
                    </a:solidFill>
                  </a:tcPr>
                </a:tc>
                <a:tc>
                  <a:txBody>
                    <a:bodyPr/>
                    <a:lstStyle/>
                    <a:p>
                      <a:r>
                        <a:rPr sz="1350" b="0">
                          <a:solidFill>
                            <a:srgbClr val="161A23"/>
                          </a:solidFill>
                          <a:latin typeface="Calibri"/>
                        </a:rPr>
                        <a:t>one after another</a:t>
                      </a:r>
                    </a:p>
                  </a:txBody>
                  <a:tcPr>
                    <a:solidFill>
                      <a:srgbClr val="F7F8FC"/>
                    </a:solidFill>
                  </a:tcPr>
                </a:tc>
                <a:tc>
                  <a:txBody>
                    <a:bodyPr/>
                    <a:lstStyle/>
                    <a:p>
                      <a:r>
                        <a:rPr sz="1350" b="0">
                          <a:solidFill>
                            <a:srgbClr val="161A23"/>
                          </a:solidFill>
                          <a:latin typeface="Calibri"/>
                        </a:rPr>
                        <a:t>at the same time</a:t>
                      </a:r>
                    </a:p>
                  </a:txBody>
                  <a:tcPr>
                    <a:solidFill>
                      <a:srgbClr val="F7F8FC"/>
                    </a:solidFill>
                  </a:tcPr>
                </a:tc>
              </a:tr>
            </a:tbl>
          </a:graphicData>
        </a:graphic>
      </p:graphicFrame>
      <p:sp>
        <p:nvSpPr>
          <p:cNvPr id="6" name="TextBox 5"/>
          <p:cNvSpPr txBox="1"/>
          <p:nvPr/>
        </p:nvSpPr>
        <p:spPr>
          <a:xfrm>
            <a:off x="822960" y="42062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89%</a:t>
            </a:r>
          </a:p>
        </p:txBody>
      </p:sp>
      <p:sp>
        <p:nvSpPr>
          <p:cNvPr id="7" name="TextBox 6"/>
          <p:cNvSpPr txBox="1"/>
          <p:nvPr/>
        </p:nvSpPr>
        <p:spPr>
          <a:xfrm>
            <a:off x="822960" y="534924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less text sent, from settings alone</a:t>
            </a:r>
          </a:p>
        </p:txBody>
      </p:sp>
      <p:sp>
        <p:nvSpPr>
          <p:cNvPr id="8" name="TextBox 7"/>
          <p:cNvSpPr txBox="1"/>
          <p:nvPr/>
        </p:nvSpPr>
        <p:spPr>
          <a:xfrm>
            <a:off x="4338218" y="42062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10</a:t>
            </a:r>
          </a:p>
        </p:txBody>
      </p:sp>
      <p:sp>
        <p:nvSpPr>
          <p:cNvPr id="9" name="TextBox 8"/>
          <p:cNvSpPr txBox="1"/>
          <p:nvPr/>
        </p:nvSpPr>
        <p:spPr>
          <a:xfrm>
            <a:off x="4338218" y="534924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AI calls, down from 21</a:t>
            </a:r>
          </a:p>
        </p:txBody>
      </p:sp>
      <p:sp>
        <p:nvSpPr>
          <p:cNvPr id="10" name="TextBox 9"/>
          <p:cNvSpPr txBox="1"/>
          <p:nvPr/>
        </p:nvSpPr>
        <p:spPr>
          <a:xfrm>
            <a:off x="7853476" y="4206240"/>
            <a:ext cx="3515258" cy="1188720"/>
          </a:xfrm>
          <a:prstGeom prst="rect">
            <a:avLst/>
          </a:prstGeom>
          <a:noFill/>
        </p:spPr>
        <p:txBody>
          <a:bodyPr wrap="square" anchor="t">
            <a:spAutoFit/>
          </a:bodyPr>
          <a:lstStyle/>
          <a:p>
            <a:pPr algn="ctr">
              <a:lnSpc>
                <a:spcPct val="100000"/>
              </a:lnSpc>
            </a:pPr>
            <a:r>
              <a:rPr sz="6000" b="1">
                <a:solidFill>
                  <a:srgbClr val="4338CA"/>
                </a:solidFill>
                <a:latin typeface="Calibri"/>
              </a:rPr>
              <a:t>56%</a:t>
            </a:r>
          </a:p>
        </p:txBody>
      </p:sp>
      <p:sp>
        <p:nvSpPr>
          <p:cNvPr id="11" name="TextBox 10"/>
          <p:cNvSpPr txBox="1"/>
          <p:nvPr/>
        </p:nvSpPr>
        <p:spPr>
          <a:xfrm>
            <a:off x="7853476" y="534924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of its prices are real</a:t>
            </a:r>
          </a:p>
        </p:txBody>
      </p:sp>
      <p:sp>
        <p:nvSpPr>
          <p:cNvPr id="12" name="TextBox 11"/>
          <p:cNvSpPr txBox="1"/>
          <p:nvPr/>
        </p:nvSpPr>
        <p:spPr>
          <a:xfrm>
            <a:off x="822960" y="5852160"/>
            <a:ext cx="10515600" cy="731520"/>
          </a:xfrm>
          <a:prstGeom prst="rect">
            <a:avLst/>
          </a:prstGeom>
          <a:noFill/>
        </p:spPr>
        <p:txBody>
          <a:bodyPr wrap="square" anchor="t">
            <a:spAutoFit/>
          </a:bodyPr>
          <a:lstStyle/>
          <a:p>
            <a:pPr algn="l">
              <a:lnSpc>
                <a:spcPct val="100000"/>
              </a:lnSpc>
            </a:pPr>
            <a:r>
              <a:rPr sz="1800" b="1">
                <a:solidFill>
                  <a:srgbClr val="4338CA"/>
                </a:solidFill>
                <a:latin typeface="Calibri"/>
              </a:rPr>
              <a:t>This is one of the biggest findings: most of B's cost was bad configuration, not the design.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7  ·  APPROACH D  —  3 AGENTS, DIRECT</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The design that ships</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3169767" y="1874519"/>
            <a:ext cx="5852160" cy="731520"/>
          </a:xfrm>
          <a:prstGeom prst="roundRect">
            <a:avLst/>
          </a:prstGeom>
          <a:solidFill>
            <a:srgbClr val="4E3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AI STEP 1     understand the request</a:t>
            </a:r>
          </a:p>
        </p:txBody>
      </p:sp>
      <p:sp>
        <p:nvSpPr>
          <p:cNvPr id="6" name="TextBox 5"/>
          <p:cNvSpPr txBox="1"/>
          <p:nvPr/>
        </p:nvSpPr>
        <p:spPr>
          <a:xfrm>
            <a:off x="5730087" y="2651760"/>
            <a:ext cx="731520" cy="292608"/>
          </a:xfrm>
          <a:prstGeom prst="rect">
            <a:avLst/>
          </a:prstGeom>
          <a:noFill/>
        </p:spPr>
        <p:txBody>
          <a:bodyPr wrap="square" anchor="t">
            <a:spAutoFit/>
          </a:bodyPr>
          <a:lstStyle/>
          <a:p>
            <a:pPr algn="ctr">
              <a:lnSpc>
                <a:spcPct val="100000"/>
              </a:lnSpc>
            </a:pPr>
            <a:r>
              <a:rPr sz="1400" b="0">
                <a:solidFill>
                  <a:srgbClr val="8A91A0"/>
                </a:solidFill>
                <a:latin typeface="Calibri"/>
              </a:rPr>
              <a:t>▼</a:t>
            </a:r>
          </a:p>
        </p:txBody>
      </p:sp>
      <p:sp>
        <p:nvSpPr>
          <p:cNvPr id="7" name="Rounded Rectangle 6"/>
          <p:cNvSpPr/>
          <p:nvPr/>
        </p:nvSpPr>
        <p:spPr>
          <a:xfrm>
            <a:off x="3169767" y="3017520"/>
            <a:ext cx="5852160" cy="1371600"/>
          </a:xfrm>
          <a:prstGeom prst="roundRect">
            <a:avLst/>
          </a:prstGeom>
          <a:solidFill>
            <a:srgbClr val="D6F2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161A23"/>
                </a:solidFill>
                <a:latin typeface="Calibri"/>
              </a:rPr>
              <a:t>PLAIN PYTHON     fetch flights, hotels,
attractions and restaurants</a:t>
            </a:r>
          </a:p>
        </p:txBody>
      </p:sp>
      <p:sp>
        <p:nvSpPr>
          <p:cNvPr id="8" name="TextBox 7"/>
          <p:cNvSpPr txBox="1"/>
          <p:nvPr/>
        </p:nvSpPr>
        <p:spPr>
          <a:xfrm>
            <a:off x="5730087" y="4434840"/>
            <a:ext cx="731520" cy="292608"/>
          </a:xfrm>
          <a:prstGeom prst="rect">
            <a:avLst/>
          </a:prstGeom>
          <a:noFill/>
        </p:spPr>
        <p:txBody>
          <a:bodyPr wrap="square" anchor="t">
            <a:spAutoFit/>
          </a:bodyPr>
          <a:lstStyle/>
          <a:p>
            <a:pPr algn="ctr">
              <a:lnSpc>
                <a:spcPct val="100000"/>
              </a:lnSpc>
            </a:pPr>
            <a:r>
              <a:rPr sz="1400" b="0">
                <a:solidFill>
                  <a:srgbClr val="8A91A0"/>
                </a:solidFill>
                <a:latin typeface="Calibri"/>
              </a:rPr>
              <a:t>▼</a:t>
            </a:r>
          </a:p>
        </p:txBody>
      </p:sp>
      <p:sp>
        <p:nvSpPr>
          <p:cNvPr id="9" name="Rounded Rectangle 8"/>
          <p:cNvSpPr/>
          <p:nvPr/>
        </p:nvSpPr>
        <p:spPr>
          <a:xfrm>
            <a:off x="3169767" y="4800600"/>
            <a:ext cx="5852160" cy="731520"/>
          </a:xfrm>
          <a:prstGeom prst="roundRect">
            <a:avLst/>
          </a:prstGeom>
          <a:solidFill>
            <a:srgbClr val="4E3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500" b="1">
                <a:solidFill>
                  <a:srgbClr val="FFFFFF"/>
                </a:solidFill>
                <a:latin typeface="Calibri"/>
              </a:rPr>
              <a:t>AI STEP 2     build the day-by-day plan</a:t>
            </a:r>
          </a:p>
        </p:txBody>
      </p:sp>
      <p:sp>
        <p:nvSpPr>
          <p:cNvPr id="10" name="TextBox 9"/>
          <p:cNvSpPr txBox="1"/>
          <p:nvPr/>
        </p:nvSpPr>
        <p:spPr>
          <a:xfrm>
            <a:off x="822960" y="5760720"/>
            <a:ext cx="10515600" cy="822960"/>
          </a:xfrm>
          <a:prstGeom prst="rect">
            <a:avLst/>
          </a:prstGeom>
          <a:noFill/>
        </p:spPr>
        <p:txBody>
          <a:bodyPr wrap="square" anchor="t">
            <a:spAutoFit/>
          </a:bodyPr>
          <a:lstStyle/>
          <a:p>
            <a:pPr algn="ctr">
              <a:lnSpc>
                <a:spcPct val="100000"/>
              </a:lnSpc>
            </a:pPr>
            <a:r>
              <a:rPr sz="1800" b="1">
                <a:solidFill>
                  <a:srgbClr val="161A23"/>
                </a:solidFill>
                <a:latin typeface="Calibri"/>
              </a:rPr>
              <a:t>Once we know the destination and the dates, searching is fixed. There is nothing left for AI to decide.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8  ·  WHERE THE TOOL SERVER FITS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12 tools, but not every approach uses it the same way</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9" cy="1828800"/>
        </p:xfrm>
        <a:graphic>
          <a:graphicData uri="http://schemas.openxmlformats.org/drawingml/2006/table">
            <a:tbl>
              <a:tblPr firstRow="1" bandRow="1">
                <a:tableStyleId>{5C22544A-7EE6-4342-B048-85BDC9FD1C3A}</a:tableStyleId>
              </a:tblPr>
              <a:tblGrid>
                <a:gridCol w="382385"/>
                <a:gridCol w="10133214"/>
              </a:tblGrid>
              <a:tr h="365760">
                <a:tc>
                  <a:txBody>
                    <a:bodyPr/>
                    <a:lstStyle/>
                    <a:p>
                      <a:r>
                        <a:rPr sz="1350" b="1">
                          <a:solidFill>
                            <a:srgbClr val="FFFFFF"/>
                          </a:solidFill>
                          <a:latin typeface="Calibri"/>
                        </a:rPr>
                        <a:t> </a:t>
                      </a:r>
                    </a:p>
                  </a:txBody>
                  <a:tcPr>
                    <a:solidFill>
                      <a:srgbClr val="4338CA"/>
                    </a:solidFill>
                  </a:tcPr>
                </a:tc>
                <a:tc>
                  <a:txBody>
                    <a:bodyPr/>
                    <a:lstStyle/>
                    <a:p>
                      <a:r>
                        <a:rPr sz="1350" b="1">
                          <a:solidFill>
                            <a:srgbClr val="FFFFFF"/>
                          </a:solidFill>
                          <a:latin typeface="Calibri"/>
                        </a:rPr>
                        <a:t>How it reaches a travel API</a:t>
                      </a:r>
                    </a:p>
                  </a:txBody>
                  <a:tcPr>
                    <a:solidFill>
                      <a:srgbClr val="4338CA"/>
                    </a:solidFill>
                  </a:tcPr>
                </a:tc>
              </a:tr>
              <a:tr h="365760">
                <a:tc>
                  <a:txBody>
                    <a:bodyPr/>
                    <a:lstStyle/>
                    <a:p>
                      <a:r>
                        <a:rPr sz="1350" b="0">
                          <a:solidFill>
                            <a:srgbClr val="161A23"/>
                          </a:solidFill>
                          <a:latin typeface="Calibri"/>
                        </a:rPr>
                        <a:t>A</a:t>
                      </a:r>
                    </a:p>
                  </a:txBody>
                  <a:tcPr>
                    <a:solidFill>
                      <a:srgbClr val="FFFFFF"/>
                    </a:solidFill>
                  </a:tcPr>
                </a:tc>
                <a:tc>
                  <a:txBody>
                    <a:bodyPr/>
                    <a:lstStyle/>
                    <a:p>
                      <a:r>
                        <a:rPr sz="1350" b="0">
                          <a:solidFill>
                            <a:srgbClr val="161A23"/>
                          </a:solidFill>
                          <a:latin typeface="Calibri"/>
                        </a:rPr>
                        <a:t>It does not. No tools at all</a:t>
                      </a:r>
                    </a:p>
                  </a:txBody>
                  <a:tcPr>
                    <a:solidFill>
                      <a:srgbClr val="FFFFFF"/>
                    </a:solidFill>
                  </a:tcPr>
                </a:tc>
              </a:tr>
              <a:tr h="365760">
                <a:tc>
                  <a:txBody>
                    <a:bodyPr/>
                    <a:lstStyle/>
                    <a:p>
                      <a:r>
                        <a:rPr sz="1350" b="0">
                          <a:solidFill>
                            <a:srgbClr val="161A23"/>
                          </a:solidFill>
                          <a:latin typeface="Calibri"/>
                        </a:rPr>
                        <a:t>B</a:t>
                      </a:r>
                    </a:p>
                  </a:txBody>
                  <a:tcPr>
                    <a:solidFill>
                      <a:srgbClr val="F7F8FC"/>
                    </a:solidFill>
                  </a:tcPr>
                </a:tc>
                <a:tc>
                  <a:txBody>
                    <a:bodyPr/>
                    <a:lstStyle/>
                    <a:p>
                      <a:r>
                        <a:rPr sz="1350" b="0">
                          <a:solidFill>
                            <a:srgbClr val="161A23"/>
                          </a:solidFill>
                          <a:latin typeface="Calibri"/>
                        </a:rPr>
                        <a:t>Agent -&gt; tool wrapper -&gt; MCP client -&gt; JSON-RPC -&gt; MCP server -&gt; travel API</a:t>
                      </a:r>
                    </a:p>
                  </a:txBody>
                  <a:tcPr>
                    <a:solidFill>
                      <a:srgbClr val="F7F8FC"/>
                    </a:solidFill>
                  </a:tcPr>
                </a:tc>
              </a:tr>
              <a:tr h="365760">
                <a:tc>
                  <a:txBody>
                    <a:bodyPr/>
                    <a:lstStyle/>
                    <a:p>
                      <a:r>
                        <a:rPr sz="1350" b="0">
                          <a:solidFill>
                            <a:srgbClr val="161A23"/>
                          </a:solidFill>
                          <a:latin typeface="Calibri"/>
                        </a:rPr>
                        <a:t>C</a:t>
                      </a:r>
                    </a:p>
                  </a:txBody>
                  <a:tcPr>
                    <a:solidFill>
                      <a:srgbClr val="FFFFFF"/>
                    </a:solidFill>
                  </a:tcPr>
                </a:tc>
                <a:tc>
                  <a:txBody>
                    <a:bodyPr/>
                    <a:lstStyle/>
                    <a:p>
                      <a:r>
                        <a:rPr sz="1350" b="0">
                          <a:solidFill>
                            <a:srgbClr val="161A23"/>
                          </a:solidFill>
                          <a:latin typeface="Calibri"/>
                        </a:rPr>
                        <a:t>Agent -&gt; the same server functions, called directly in the process. No JSON-RPC</a:t>
                      </a:r>
                    </a:p>
                  </a:txBody>
                  <a:tcPr>
                    <a:solidFill>
                      <a:srgbClr val="FFFFFF"/>
                    </a:solidFill>
                  </a:tcPr>
                </a:tc>
              </a:tr>
              <a:tr h="365760">
                <a:tc>
                  <a:txBody>
                    <a:bodyPr/>
                    <a:lstStyle/>
                    <a:p>
                      <a:r>
                        <a:rPr sz="1350" b="0">
                          <a:solidFill>
                            <a:srgbClr val="161A23"/>
                          </a:solidFill>
                          <a:latin typeface="Calibri"/>
                        </a:rPr>
                        <a:t>D</a:t>
                      </a:r>
                    </a:p>
                  </a:txBody>
                  <a:tcPr>
                    <a:solidFill>
                      <a:srgbClr val="F7F8FC"/>
                    </a:solidFill>
                  </a:tcPr>
                </a:tc>
                <a:tc>
                  <a:txBody>
                    <a:bodyPr/>
                    <a:lstStyle/>
                    <a:p>
                      <a:r>
                        <a:rPr sz="1350" b="0">
                          <a:solidFill>
                            <a:srgbClr val="161A23"/>
                          </a:solidFill>
                          <a:latin typeface="Calibri"/>
                        </a:rPr>
                        <a:t>Plain Python -&gt; the same server functions, called directly. Code decides when</a:t>
                      </a:r>
                    </a:p>
                  </a:txBody>
                  <a:tcPr>
                    <a:solidFill>
                      <a:srgbClr val="F7F8FC"/>
                    </a:solidFill>
                  </a:tcPr>
                </a:tc>
              </a:tr>
            </a:tbl>
          </a:graphicData>
        </a:graphic>
      </p:graphicFrame>
      <p:sp>
        <p:nvSpPr>
          <p:cNvPr id="6" name="TextBox 5"/>
          <p:cNvSpPr txBox="1"/>
          <p:nvPr/>
        </p:nvSpPr>
        <p:spPr>
          <a:xfrm>
            <a:off x="822960" y="4754880"/>
            <a:ext cx="10515600" cy="1371600"/>
          </a:xfrm>
          <a:prstGeom prst="rect">
            <a:avLst/>
          </a:prstGeom>
          <a:noFill/>
        </p:spPr>
        <p:txBody>
          <a:bodyPr wrap="square" anchor="t">
            <a:spAutoFit/>
          </a:bodyPr>
          <a:lstStyle/>
          <a:p>
            <a:pPr algn="l">
              <a:lnSpc>
                <a:spcPct val="130000"/>
              </a:lnSpc>
            </a:pPr>
            <a:r>
              <a:rPr sz="1600" b="0">
                <a:solidFill>
                  <a:srgbClr val="545C6E"/>
                </a:solidFill>
                <a:latin typeface="Calibri"/>
              </a:rPr>
              <a:t>If asked "does the final system use the MCP server?"</a:t>
            </a:r>
          </a:p>
          <a:p>
            <a:pPr algn="l">
              <a:lnSpc>
                <a:spcPct val="130000"/>
              </a:lnSpc>
            </a:pPr>
            <a:r>
              <a:rPr sz="1700" b="1">
                <a:solidFill>
                  <a:srgbClr val="161A23"/>
                </a:solidFill>
                <a:latin typeface="Calibri"/>
              </a:rPr>
              <a:t>It uses the same tool functions the server exposes, but calls them in-process rather than over JSON-RPC. The protocol itself is exercised by Approach B and by the conformance audit.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9  ·  THE FOUR SIDE BY SIDE</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5 runs of each</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5" name="Table 4"/>
          <p:cNvGraphicFramePr>
            <a:graphicFrameLocks noGrp="1"/>
          </p:cNvGraphicFramePr>
          <p:nvPr/>
        </p:nvGraphicFramePr>
        <p:xfrm>
          <a:off x="822960" y="2011680"/>
          <a:ext cx="10515597" cy="2194560"/>
        </p:xfrm>
        <a:graphic>
          <a:graphicData uri="http://schemas.openxmlformats.org/drawingml/2006/table">
            <a:tbl>
              <a:tblPr firstRow="1" bandRow="1">
                <a:tableStyleId>{5C22544A-7EE6-4342-B048-85BDC9FD1C3A}</a:tableStyleId>
              </a:tblPr>
              <a:tblGrid>
                <a:gridCol w="2816678"/>
                <a:gridCol w="1877785"/>
                <a:gridCol w="1877785"/>
                <a:gridCol w="1877785"/>
                <a:gridCol w="2065564"/>
              </a:tblGrid>
              <a:tr h="365760">
                <a:tc>
                  <a:txBody>
                    <a:bodyPr/>
                    <a:lstStyle/>
                    <a:p>
                      <a:r>
                        <a:rPr sz="1350" b="1">
                          <a:solidFill>
                            <a:srgbClr val="FFFFFF"/>
                          </a:solidFill>
                          <a:latin typeface="Calibri"/>
                        </a:rPr>
                        <a:t> </a:t>
                      </a:r>
                    </a:p>
                  </a:txBody>
                  <a:tcPr>
                    <a:solidFill>
                      <a:srgbClr val="4338CA"/>
                    </a:solidFill>
                  </a:tcPr>
                </a:tc>
                <a:tc>
                  <a:txBody>
                    <a:bodyPr/>
                    <a:lstStyle/>
                    <a:p>
                      <a:r>
                        <a:rPr sz="1350" b="1">
                          <a:solidFill>
                            <a:srgbClr val="FFFFFF"/>
                          </a:solidFill>
                          <a:latin typeface="Calibri"/>
                        </a:rPr>
                        <a:t>A  single AI</a:t>
                      </a:r>
                    </a:p>
                  </a:txBody>
                  <a:tcPr>
                    <a:solidFill>
                      <a:srgbClr val="4338CA"/>
                    </a:solidFill>
                  </a:tcPr>
                </a:tc>
                <a:tc>
                  <a:txBody>
                    <a:bodyPr/>
                    <a:lstStyle/>
                    <a:p>
                      <a:r>
                        <a:rPr sz="1350" b="1">
                          <a:solidFill>
                            <a:srgbClr val="FFFFFF"/>
                          </a:solidFill>
                          <a:latin typeface="Calibri"/>
                        </a:rPr>
                        <a:t>B  6 naive</a:t>
                      </a:r>
                    </a:p>
                  </a:txBody>
                  <a:tcPr>
                    <a:solidFill>
                      <a:srgbClr val="4338CA"/>
                    </a:solidFill>
                  </a:tcPr>
                </a:tc>
                <a:tc>
                  <a:txBody>
                    <a:bodyPr/>
                    <a:lstStyle/>
                    <a:p>
                      <a:r>
                        <a:rPr sz="1350" b="1">
                          <a:solidFill>
                            <a:srgbClr val="FFFFFF"/>
                          </a:solidFill>
                          <a:latin typeface="Calibri"/>
                        </a:rPr>
                        <a:t>C  6 tuned</a:t>
                      </a:r>
                    </a:p>
                  </a:txBody>
                  <a:tcPr>
                    <a:solidFill>
                      <a:srgbClr val="4338CA"/>
                    </a:solidFill>
                  </a:tcPr>
                </a:tc>
                <a:tc>
                  <a:txBody>
                    <a:bodyPr/>
                    <a:lstStyle/>
                    <a:p>
                      <a:r>
                        <a:rPr sz="1350" b="1">
                          <a:solidFill>
                            <a:srgbClr val="FFFFFF"/>
                          </a:solidFill>
                          <a:latin typeface="Calibri"/>
                        </a:rPr>
                        <a:t>D  3 direct</a:t>
                      </a:r>
                    </a:p>
                  </a:txBody>
                  <a:tcPr>
                    <a:solidFill>
                      <a:srgbClr val="4338CA"/>
                    </a:solidFill>
                  </a:tcPr>
                </a:tc>
              </a:tr>
              <a:tr h="365760">
                <a:tc>
                  <a:txBody>
                    <a:bodyPr/>
                    <a:lstStyle/>
                    <a:p>
                      <a:r>
                        <a:rPr sz="1350" b="0">
                          <a:solidFill>
                            <a:srgbClr val="161A23"/>
                          </a:solidFill>
                          <a:latin typeface="Calibri"/>
                        </a:rPr>
                        <a:t>AI calls</a:t>
                      </a:r>
                    </a:p>
                  </a:txBody>
                  <a:tcPr>
                    <a:solidFill>
                      <a:srgbClr val="FFFFFF"/>
                    </a:solidFill>
                  </a:tcPr>
                </a:tc>
                <a:tc>
                  <a:txBody>
                    <a:bodyPr/>
                    <a:lstStyle/>
                    <a:p>
                      <a:r>
                        <a:rPr sz="1350" b="0">
                          <a:solidFill>
                            <a:srgbClr val="161A23"/>
                          </a:solidFill>
                          <a:latin typeface="Calibri"/>
                        </a:rPr>
                        <a:t>1</a:t>
                      </a:r>
                    </a:p>
                  </a:txBody>
                  <a:tcPr>
                    <a:solidFill>
                      <a:srgbClr val="FFFFFF"/>
                    </a:solidFill>
                  </a:tcPr>
                </a:tc>
                <a:tc>
                  <a:txBody>
                    <a:bodyPr/>
                    <a:lstStyle/>
                    <a:p>
                      <a:r>
                        <a:rPr sz="1350" b="0">
                          <a:solidFill>
                            <a:srgbClr val="161A23"/>
                          </a:solidFill>
                          <a:latin typeface="Calibri"/>
                        </a:rPr>
                        <a:t>21</a:t>
                      </a:r>
                    </a:p>
                  </a:txBody>
                  <a:tcPr>
                    <a:solidFill>
                      <a:srgbClr val="FFFFFF"/>
                    </a:solidFill>
                  </a:tcPr>
                </a:tc>
                <a:tc>
                  <a:txBody>
                    <a:bodyPr/>
                    <a:lstStyle/>
                    <a:p>
                      <a:r>
                        <a:rPr sz="1350" b="0">
                          <a:solidFill>
                            <a:srgbClr val="161A23"/>
                          </a:solidFill>
                          <a:latin typeface="Calibri"/>
                        </a:rPr>
                        <a:t>10</a:t>
                      </a:r>
                    </a:p>
                  </a:txBody>
                  <a:tcPr>
                    <a:solidFill>
                      <a:srgbClr val="FFFFFF"/>
                    </a:solidFill>
                  </a:tcPr>
                </a:tc>
                <a:tc>
                  <a:txBody>
                    <a:bodyPr/>
                    <a:lstStyle/>
                    <a:p>
                      <a:r>
                        <a:rPr sz="1350" b="0">
                          <a:solidFill>
                            <a:srgbClr val="161A23"/>
                          </a:solidFill>
                          <a:latin typeface="Calibri"/>
                        </a:rPr>
                        <a:t>2</a:t>
                      </a:r>
                    </a:p>
                  </a:txBody>
                  <a:tcPr>
                    <a:solidFill>
                      <a:srgbClr val="FFFFFF"/>
                    </a:solidFill>
                  </a:tcPr>
                </a:tc>
              </a:tr>
              <a:tr h="365760">
                <a:tc>
                  <a:txBody>
                    <a:bodyPr/>
                    <a:lstStyle/>
                    <a:p>
                      <a:r>
                        <a:rPr sz="1350" b="0">
                          <a:solidFill>
                            <a:srgbClr val="161A23"/>
                          </a:solidFill>
                          <a:latin typeface="Calibri"/>
                        </a:rPr>
                        <a:t>Text sent to the AI</a:t>
                      </a:r>
                    </a:p>
                  </a:txBody>
                  <a:tcPr>
                    <a:solidFill>
                      <a:srgbClr val="F7F8FC"/>
                    </a:solidFill>
                  </a:tcPr>
                </a:tc>
                <a:tc>
                  <a:txBody>
                    <a:bodyPr/>
                    <a:lstStyle/>
                    <a:p>
                      <a:r>
                        <a:rPr sz="1350" b="0">
                          <a:solidFill>
                            <a:srgbClr val="161A23"/>
                          </a:solidFill>
                          <a:latin typeface="Calibri"/>
                        </a:rPr>
                        <a:t>4,644</a:t>
                      </a:r>
                    </a:p>
                  </a:txBody>
                  <a:tcPr>
                    <a:solidFill>
                      <a:srgbClr val="F7F8FC"/>
                    </a:solidFill>
                  </a:tcPr>
                </a:tc>
                <a:tc>
                  <a:txBody>
                    <a:bodyPr/>
                    <a:lstStyle/>
                    <a:p>
                      <a:r>
                        <a:rPr sz="1350" b="0">
                          <a:solidFill>
                            <a:srgbClr val="161A23"/>
                          </a:solidFill>
                          <a:latin typeface="Calibri"/>
                        </a:rPr>
                        <a:t>120,703</a:t>
                      </a:r>
                    </a:p>
                  </a:txBody>
                  <a:tcPr>
                    <a:solidFill>
                      <a:srgbClr val="F7F8FC"/>
                    </a:solidFill>
                  </a:tcPr>
                </a:tc>
                <a:tc>
                  <a:txBody>
                    <a:bodyPr/>
                    <a:lstStyle/>
                    <a:p>
                      <a:r>
                        <a:rPr sz="1350" b="0">
                          <a:solidFill>
                            <a:srgbClr val="161A23"/>
                          </a:solidFill>
                          <a:latin typeface="Calibri"/>
                        </a:rPr>
                        <a:t>13,521</a:t>
                      </a:r>
                    </a:p>
                  </a:txBody>
                  <a:tcPr>
                    <a:solidFill>
                      <a:srgbClr val="F7F8FC"/>
                    </a:solidFill>
                  </a:tcPr>
                </a:tc>
                <a:tc>
                  <a:txBody>
                    <a:bodyPr/>
                    <a:lstStyle/>
                    <a:p>
                      <a:r>
                        <a:rPr sz="1350" b="0">
                          <a:solidFill>
                            <a:srgbClr val="161A23"/>
                          </a:solidFill>
                          <a:latin typeface="Calibri"/>
                        </a:rPr>
                        <a:t>7,840</a:t>
                      </a:r>
                    </a:p>
                  </a:txBody>
                  <a:tcPr>
                    <a:solidFill>
                      <a:srgbClr val="F7F8FC"/>
                    </a:solidFill>
                  </a:tcPr>
                </a:tc>
              </a:tr>
              <a:tr h="365760">
                <a:tc>
                  <a:txBody>
                    <a:bodyPr/>
                    <a:lstStyle/>
                    <a:p>
                      <a:r>
                        <a:rPr sz="1350" b="0">
                          <a:solidFill>
                            <a:srgbClr val="161A23"/>
                          </a:solidFill>
                          <a:latin typeface="Calibri"/>
                        </a:rPr>
                        <a:t>Cost per trip</a:t>
                      </a:r>
                    </a:p>
                  </a:txBody>
                  <a:tcPr>
                    <a:solidFill>
                      <a:srgbClr val="FFFFFF"/>
                    </a:solidFill>
                  </a:tcPr>
                </a:tc>
                <a:tc>
                  <a:txBody>
                    <a:bodyPr/>
                    <a:lstStyle/>
                    <a:p>
                      <a:r>
                        <a:rPr sz="1350" b="0">
                          <a:solidFill>
                            <a:srgbClr val="161A23"/>
                          </a:solidFill>
                          <a:latin typeface="Calibri"/>
                        </a:rPr>
                        <a:t>$0.0170</a:t>
                      </a:r>
                    </a:p>
                  </a:txBody>
                  <a:tcPr>
                    <a:solidFill>
                      <a:srgbClr val="FFFFFF"/>
                    </a:solidFill>
                  </a:tcPr>
                </a:tc>
                <a:tc>
                  <a:txBody>
                    <a:bodyPr/>
                    <a:lstStyle/>
                    <a:p>
                      <a:r>
                        <a:rPr sz="1350" b="0">
                          <a:solidFill>
                            <a:srgbClr val="161A23"/>
                          </a:solidFill>
                          <a:latin typeface="Calibri"/>
                        </a:rPr>
                        <a:t>$0.1859</a:t>
                      </a:r>
                    </a:p>
                  </a:txBody>
                  <a:tcPr>
                    <a:solidFill>
                      <a:srgbClr val="FFFFFF"/>
                    </a:solidFill>
                  </a:tcPr>
                </a:tc>
                <a:tc>
                  <a:txBody>
                    <a:bodyPr/>
                    <a:lstStyle/>
                    <a:p>
                      <a:r>
                        <a:rPr sz="1350" b="0">
                          <a:solidFill>
                            <a:srgbClr val="161A23"/>
                          </a:solidFill>
                          <a:latin typeface="Calibri"/>
                        </a:rPr>
                        <a:t>$0.0313</a:t>
                      </a:r>
                    </a:p>
                  </a:txBody>
                  <a:tcPr>
                    <a:solidFill>
                      <a:srgbClr val="FFFFFF"/>
                    </a:solidFill>
                  </a:tcPr>
                </a:tc>
                <a:tc>
                  <a:txBody>
                    <a:bodyPr/>
                    <a:lstStyle/>
                    <a:p>
                      <a:r>
                        <a:rPr sz="1350" b="0">
                          <a:solidFill>
                            <a:srgbClr val="161A23"/>
                          </a:solidFill>
                          <a:latin typeface="Calibri"/>
                        </a:rPr>
                        <a:t>$0.0179</a:t>
                      </a:r>
                    </a:p>
                  </a:txBody>
                  <a:tcPr>
                    <a:solidFill>
                      <a:srgbClr val="FFFFFF"/>
                    </a:solidFill>
                  </a:tcPr>
                </a:tc>
              </a:tr>
              <a:tr h="365760">
                <a:tc>
                  <a:txBody>
                    <a:bodyPr/>
                    <a:lstStyle/>
                    <a:p>
                      <a:r>
                        <a:rPr sz="1350" b="0">
                          <a:solidFill>
                            <a:srgbClr val="161A23"/>
                          </a:solidFill>
                          <a:latin typeface="Calibri"/>
                        </a:rPr>
                        <a:t>Time</a:t>
                      </a:r>
                    </a:p>
                  </a:txBody>
                  <a:tcPr>
                    <a:solidFill>
                      <a:srgbClr val="F7F8FC"/>
                    </a:solidFill>
                  </a:tcPr>
                </a:tc>
                <a:tc>
                  <a:txBody>
                    <a:bodyPr/>
                    <a:lstStyle/>
                    <a:p>
                      <a:r>
                        <a:rPr sz="1350" b="0">
                          <a:solidFill>
                            <a:srgbClr val="161A23"/>
                          </a:solidFill>
                          <a:latin typeface="Calibri"/>
                        </a:rPr>
                        <a:t>27s</a:t>
                      </a:r>
                    </a:p>
                  </a:txBody>
                  <a:tcPr>
                    <a:solidFill>
                      <a:srgbClr val="F7F8FC"/>
                    </a:solidFill>
                  </a:tcPr>
                </a:tc>
                <a:tc>
                  <a:txBody>
                    <a:bodyPr/>
                    <a:lstStyle/>
                    <a:p>
                      <a:r>
                        <a:rPr sz="1350" b="0">
                          <a:solidFill>
                            <a:srgbClr val="161A23"/>
                          </a:solidFill>
                          <a:latin typeface="Calibri"/>
                        </a:rPr>
                        <a:t>372s</a:t>
                      </a:r>
                    </a:p>
                  </a:txBody>
                  <a:tcPr>
                    <a:solidFill>
                      <a:srgbClr val="F7F8FC"/>
                    </a:solidFill>
                  </a:tcPr>
                </a:tc>
                <a:tc>
                  <a:txBody>
                    <a:bodyPr/>
                    <a:lstStyle/>
                    <a:p>
                      <a:r>
                        <a:rPr sz="1350" b="0">
                          <a:solidFill>
                            <a:srgbClr val="161A23"/>
                          </a:solidFill>
                          <a:latin typeface="Calibri"/>
                        </a:rPr>
                        <a:t>37s</a:t>
                      </a:r>
                    </a:p>
                  </a:txBody>
                  <a:tcPr>
                    <a:solidFill>
                      <a:srgbClr val="F7F8FC"/>
                    </a:solidFill>
                  </a:tcPr>
                </a:tc>
                <a:tc>
                  <a:txBody>
                    <a:bodyPr/>
                    <a:lstStyle/>
                    <a:p>
                      <a:r>
                        <a:rPr sz="1350" b="0">
                          <a:solidFill>
                            <a:srgbClr val="161A23"/>
                          </a:solidFill>
                          <a:latin typeface="Calibri"/>
                        </a:rPr>
                        <a:t>23s</a:t>
                      </a:r>
                    </a:p>
                  </a:txBody>
                  <a:tcPr>
                    <a:solidFill>
                      <a:srgbClr val="F7F8FC"/>
                    </a:solidFill>
                  </a:tcPr>
                </a:tc>
              </a:tr>
              <a:tr h="365760">
                <a:tc>
                  <a:txBody>
                    <a:bodyPr/>
                    <a:lstStyle/>
                    <a:p>
                      <a:r>
                        <a:rPr sz="1350" b="0">
                          <a:solidFill>
                            <a:srgbClr val="161A23"/>
                          </a:solidFill>
                          <a:latin typeface="Calibri"/>
                        </a:rPr>
                        <a:t>Prices that are real</a:t>
                      </a:r>
                    </a:p>
                  </a:txBody>
                  <a:tcPr>
                    <a:solidFill>
                      <a:srgbClr val="FFFFFF"/>
                    </a:solidFill>
                  </a:tcPr>
                </a:tc>
                <a:tc>
                  <a:txBody>
                    <a:bodyPr/>
                    <a:lstStyle/>
                    <a:p>
                      <a:r>
                        <a:rPr sz="1350" b="0">
                          <a:solidFill>
                            <a:srgbClr val="161A23"/>
                          </a:solidFill>
                          <a:latin typeface="Calibri"/>
                        </a:rPr>
                        <a:t>1.7%</a:t>
                      </a:r>
                    </a:p>
                  </a:txBody>
                  <a:tcPr>
                    <a:solidFill>
                      <a:srgbClr val="FFFFFF"/>
                    </a:solidFill>
                  </a:tcPr>
                </a:tc>
                <a:tc>
                  <a:txBody>
                    <a:bodyPr/>
                    <a:lstStyle/>
                    <a:p>
                      <a:r>
                        <a:rPr sz="1350" b="0">
                          <a:solidFill>
                            <a:srgbClr val="161A23"/>
                          </a:solidFill>
                          <a:latin typeface="Calibri"/>
                        </a:rPr>
                        <a:t>23%</a:t>
                      </a:r>
                    </a:p>
                  </a:txBody>
                  <a:tcPr>
                    <a:solidFill>
                      <a:srgbClr val="FFFFFF"/>
                    </a:solidFill>
                  </a:tcPr>
                </a:tc>
                <a:tc>
                  <a:txBody>
                    <a:bodyPr/>
                    <a:lstStyle/>
                    <a:p>
                      <a:r>
                        <a:rPr sz="1350" b="0">
                          <a:solidFill>
                            <a:srgbClr val="161A23"/>
                          </a:solidFill>
                          <a:latin typeface="Calibri"/>
                        </a:rPr>
                        <a:t>56%</a:t>
                      </a:r>
                    </a:p>
                  </a:txBody>
                  <a:tcPr>
                    <a:solidFill>
                      <a:srgbClr val="FFFFFF"/>
                    </a:solidFill>
                  </a:tcPr>
                </a:tc>
                <a:tc>
                  <a:txBody>
                    <a:bodyPr/>
                    <a:lstStyle/>
                    <a:p>
                      <a:r>
                        <a:rPr sz="1350" b="0">
                          <a:solidFill>
                            <a:srgbClr val="161A23"/>
                          </a:solidFill>
                          <a:latin typeface="Calibri"/>
                        </a:rPr>
                        <a:t>47%</a:t>
                      </a:r>
                    </a:p>
                  </a:txBody>
                  <a:tcPr>
                    <a:solidFill>
                      <a:srgbClr val="FFFFFF"/>
                    </a:solidFill>
                  </a:tcPr>
                </a:tc>
              </a:tr>
            </a:tbl>
          </a:graphicData>
        </a:graphic>
      </p:graphicFrame>
      <p:sp>
        <p:nvSpPr>
          <p:cNvPr id="6" name="TextBox 5"/>
          <p:cNvSpPr txBox="1"/>
          <p:nvPr/>
        </p:nvSpPr>
        <p:spPr>
          <a:xfrm>
            <a:off x="822960" y="4846320"/>
            <a:ext cx="10515600" cy="1371600"/>
          </a:xfrm>
          <a:prstGeom prst="rect">
            <a:avLst/>
          </a:prstGeom>
          <a:noFill/>
        </p:spPr>
        <p:txBody>
          <a:bodyPr wrap="square" anchor="t">
            <a:spAutoFit/>
          </a:bodyPr>
          <a:lstStyle/>
          <a:p>
            <a:pPr algn="l">
              <a:lnSpc>
                <a:spcPct val="130000"/>
              </a:lnSpc>
            </a:pPr>
            <a:r>
              <a:rPr sz="1600" b="0">
                <a:solidFill>
                  <a:srgbClr val="545C6E"/>
                </a:solidFill>
                <a:latin typeface="Calibri"/>
              </a:rPr>
              <a:t>The honest reading, not the flattering one:</a:t>
            </a:r>
          </a:p>
          <a:p>
            <a:pPr algn="l">
              <a:lnSpc>
                <a:spcPct val="130000"/>
              </a:lnSpc>
            </a:pPr>
            <a:r>
              <a:rPr sz="1800" b="1">
                <a:solidFill>
                  <a:srgbClr val="4338CA"/>
                </a:solidFill>
                <a:latin typeface="Calibri"/>
              </a:rPr>
              <a:t>D is not more accurate than C — their ranges overlap. D is 1.7x cheaper than C and 15x cheaper than B, with no detectable loss of accuracy.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457200"/>
            <a:ext cx="10515600" cy="365760"/>
          </a:xfrm>
          <a:prstGeom prst="rect">
            <a:avLst/>
          </a:prstGeom>
          <a:noFill/>
        </p:spPr>
        <p:txBody>
          <a:bodyPr wrap="square" anchor="t">
            <a:spAutoFit/>
          </a:bodyPr>
          <a:lstStyle/>
          <a:p>
            <a:pPr algn="l">
              <a:lnSpc>
                <a:spcPct val="100000"/>
              </a:lnSpc>
            </a:pPr>
            <a:r>
              <a:rPr sz="1200" b="1">
                <a:solidFill>
                  <a:srgbClr val="4338CA"/>
                </a:solidFill>
                <a:latin typeface="Calibri"/>
              </a:rPr>
              <a:t>10  ·  WHAT THE USER SEES</a:t>
            </a:r>
          </a:p>
        </p:txBody>
      </p:sp>
      <p:sp>
        <p:nvSpPr>
          <p:cNvPr id="3" name="TextBox 2"/>
          <p:cNvSpPr txBox="1"/>
          <p:nvPr/>
        </p:nvSpPr>
        <p:spPr>
          <a:xfrm>
            <a:off x="822960" y="777240"/>
            <a:ext cx="10515600" cy="822960"/>
          </a:xfrm>
          <a:prstGeom prst="rect">
            <a:avLst/>
          </a:prstGeom>
          <a:noFill/>
        </p:spPr>
        <p:txBody>
          <a:bodyPr wrap="square" anchor="t">
            <a:spAutoFit/>
          </a:bodyPr>
          <a:lstStyle/>
          <a:p>
            <a:pPr algn="l">
              <a:lnSpc>
                <a:spcPct val="100000"/>
              </a:lnSpc>
            </a:pPr>
            <a:r>
              <a:rPr sz="3200" b="1">
                <a:solidFill>
                  <a:srgbClr val="161A23"/>
                </a:solidFill>
                <a:latin typeface="Calibri"/>
              </a:rPr>
              <a:t>And the check that stops a fantasy trip</a:t>
            </a:r>
          </a:p>
        </p:txBody>
      </p:sp>
      <p:sp>
        <p:nvSpPr>
          <p:cNvPr id="4" name="Rectangle 3"/>
          <p:cNvSpPr/>
          <p:nvPr/>
        </p:nvSpPr>
        <p:spPr>
          <a:xfrm>
            <a:off x="822960" y="1572768"/>
            <a:ext cx="1005840" cy="34000"/>
          </a:xfrm>
          <a:prstGeom prst="rect">
            <a:avLst/>
          </a:prstGeom>
          <a:solidFill>
            <a:srgbClr val="4338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frontend.png"/>
          <p:cNvPicPr>
            <a:picLocks noChangeAspect="1"/>
          </p:cNvPicPr>
          <p:nvPr/>
        </p:nvPicPr>
        <p:blipFill>
          <a:blip r:embed="rId2"/>
          <a:stretch>
            <a:fillRect/>
          </a:stretch>
        </p:blipFill>
        <p:spPr>
          <a:xfrm>
            <a:off x="3148643" y="1737360"/>
            <a:ext cx="5894409" cy="3383280"/>
          </a:xfrm>
          <a:prstGeom prst="rect">
            <a:avLst/>
          </a:prstGeom>
        </p:spPr>
      </p:pic>
      <p:sp>
        <p:nvSpPr>
          <p:cNvPr id="6" name="TextBox 5"/>
          <p:cNvSpPr txBox="1"/>
          <p:nvPr/>
        </p:nvSpPr>
        <p:spPr>
          <a:xfrm>
            <a:off x="822960" y="525780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$800</a:t>
            </a:r>
          </a:p>
        </p:txBody>
      </p:sp>
      <p:sp>
        <p:nvSpPr>
          <p:cNvPr id="7" name="TextBox 6"/>
          <p:cNvSpPr txBox="1"/>
          <p:nvPr/>
        </p:nvSpPr>
        <p:spPr>
          <a:xfrm>
            <a:off x="822960" y="640080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traveller asked for</a:t>
            </a:r>
          </a:p>
        </p:txBody>
      </p:sp>
      <p:sp>
        <p:nvSpPr>
          <p:cNvPr id="8" name="TextBox 7"/>
          <p:cNvSpPr txBox="1"/>
          <p:nvPr/>
        </p:nvSpPr>
        <p:spPr>
          <a:xfrm>
            <a:off x="4338218" y="525780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$837</a:t>
            </a:r>
          </a:p>
        </p:txBody>
      </p:sp>
      <p:sp>
        <p:nvSpPr>
          <p:cNvPr id="9" name="TextBox 8"/>
          <p:cNvSpPr txBox="1"/>
          <p:nvPr/>
        </p:nvSpPr>
        <p:spPr>
          <a:xfrm>
            <a:off x="4338218" y="640080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cheapest it can be done</a:t>
            </a:r>
          </a:p>
        </p:txBody>
      </p:sp>
      <p:sp>
        <p:nvSpPr>
          <p:cNvPr id="10" name="TextBox 9"/>
          <p:cNvSpPr txBox="1"/>
          <p:nvPr/>
        </p:nvSpPr>
        <p:spPr>
          <a:xfrm>
            <a:off x="7853476" y="5257800"/>
            <a:ext cx="3515258" cy="1188720"/>
          </a:xfrm>
          <a:prstGeom prst="rect">
            <a:avLst/>
          </a:prstGeom>
          <a:noFill/>
        </p:spPr>
        <p:txBody>
          <a:bodyPr wrap="square" anchor="t">
            <a:spAutoFit/>
          </a:bodyPr>
          <a:lstStyle/>
          <a:p>
            <a:pPr algn="ctr">
              <a:lnSpc>
                <a:spcPct val="100000"/>
              </a:lnSpc>
            </a:pPr>
            <a:r>
              <a:rPr sz="6000" b="1">
                <a:solidFill>
                  <a:srgbClr val="A85B00"/>
                </a:solidFill>
                <a:latin typeface="Calibri"/>
              </a:rPr>
              <a:t>REFUSED</a:t>
            </a:r>
          </a:p>
        </p:txBody>
      </p:sp>
      <p:sp>
        <p:nvSpPr>
          <p:cNvPr id="11" name="TextBox 10"/>
          <p:cNvSpPr txBox="1"/>
          <p:nvPr/>
        </p:nvSpPr>
        <p:spPr>
          <a:xfrm>
            <a:off x="7853476" y="6400800"/>
            <a:ext cx="3515258" cy="731520"/>
          </a:xfrm>
          <a:prstGeom prst="rect">
            <a:avLst/>
          </a:prstGeom>
          <a:noFill/>
        </p:spPr>
        <p:txBody>
          <a:bodyPr wrap="square" anchor="t">
            <a:spAutoFit/>
          </a:bodyPr>
          <a:lstStyle/>
          <a:p>
            <a:pPr algn="ctr">
              <a:lnSpc>
                <a:spcPct val="100000"/>
              </a:lnSpc>
            </a:pPr>
            <a:r>
              <a:rPr sz="1400" b="0">
                <a:solidFill>
                  <a:srgbClr val="545C6E"/>
                </a:solidFill>
                <a:latin typeface="Calibri"/>
              </a:rPr>
              <a:t>with three ways to fix it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1E1B4B"/>
        </a:solidFill>
        <a:effectLst/>
      </p:bgPr>
    </p:bg>
    <p:spTree>
      <p:nvGrpSpPr>
        <p:cNvPr id="1" name=""/>
        <p:cNvGrpSpPr/>
        <p:nvPr/>
      </p:nvGrpSpPr>
      <p:grpSpPr/>
      <p:sp>
        <p:nvSpPr>
          <p:cNvPr id="2" name="TextBox 1"/>
          <p:cNvSpPr txBox="1"/>
          <p:nvPr/>
        </p:nvSpPr>
        <p:spPr>
          <a:xfrm>
            <a:off x="1005840" y="1051560"/>
            <a:ext cx="10241280" cy="457200"/>
          </a:xfrm>
          <a:prstGeom prst="rect">
            <a:avLst/>
          </a:prstGeom>
          <a:noFill/>
        </p:spPr>
        <p:txBody>
          <a:bodyPr wrap="square" anchor="t">
            <a:spAutoFit/>
          </a:bodyPr>
          <a:lstStyle/>
          <a:p>
            <a:pPr algn="l">
              <a:lnSpc>
                <a:spcPct val="100000"/>
              </a:lnSpc>
            </a:pPr>
            <a:r>
              <a:rPr sz="1400" b="1">
                <a:solidFill>
                  <a:srgbClr val="9CA3F5"/>
                </a:solidFill>
                <a:latin typeface="Calibri"/>
              </a:rPr>
              <a:t>IN ONE SENTENCE</a:t>
            </a:r>
          </a:p>
        </p:txBody>
      </p:sp>
      <p:sp>
        <p:nvSpPr>
          <p:cNvPr id="3" name="TextBox 2"/>
          <p:cNvSpPr txBox="1"/>
          <p:nvPr/>
        </p:nvSpPr>
        <p:spPr>
          <a:xfrm>
            <a:off x="1005840" y="1508760"/>
            <a:ext cx="10241280" cy="1828800"/>
          </a:xfrm>
          <a:prstGeom prst="rect">
            <a:avLst/>
          </a:prstGeom>
          <a:noFill/>
        </p:spPr>
        <p:txBody>
          <a:bodyPr wrap="square" anchor="t">
            <a:spAutoFit/>
          </a:bodyPr>
          <a:lstStyle/>
          <a:p>
            <a:pPr algn="l">
              <a:lnSpc>
                <a:spcPct val="120000"/>
              </a:lnSpc>
            </a:pPr>
            <a:r>
              <a:rPr sz="3000" b="1">
                <a:solidFill>
                  <a:srgbClr val="FFFFFF"/>
                </a:solidFill>
                <a:latin typeface="Calibri"/>
              </a:rPr>
              <a:t>AI decides what the user wants and how to present it.</a:t>
            </a:r>
          </a:p>
          <a:p>
            <a:pPr algn="l">
              <a:lnSpc>
                <a:spcPct val="120000"/>
              </a:lnSpc>
            </a:pPr>
            <a:r>
              <a:rPr sz="3000" b="1">
                <a:solidFill>
                  <a:srgbClr val="6EE7DF"/>
                </a:solidFill>
                <a:latin typeface="Calibri"/>
              </a:rPr>
              <a:t>Python decides what data needs to be fetched.</a:t>
            </a:r>
          </a:p>
        </p:txBody>
      </p:sp>
      <p:sp>
        <p:nvSpPr>
          <p:cNvPr id="4" name="Rectangle 3"/>
          <p:cNvSpPr/>
          <p:nvPr/>
        </p:nvSpPr>
        <p:spPr>
          <a:xfrm>
            <a:off x="1005840" y="3520440"/>
            <a:ext cx="1463040" cy="34000"/>
          </a:xfrm>
          <a:prstGeom prst="rect">
            <a:avLst/>
          </a:prstGeom>
          <a:solidFill>
            <a:srgbClr val="0EA5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05840" y="3840480"/>
            <a:ext cx="10241280" cy="2377440"/>
          </a:xfrm>
          <a:prstGeom prst="rect">
            <a:avLst/>
          </a:prstGeom>
          <a:noFill/>
        </p:spPr>
        <p:txBody>
          <a:bodyPr wrap="square" anchor="t">
            <a:spAutoFit/>
          </a:bodyPr>
          <a:lstStyle/>
          <a:p>
            <a:pPr algn="l">
              <a:lnSpc>
                <a:spcPct val="125000"/>
              </a:lnSpc>
            </a:pPr>
            <a:r>
              <a:rPr sz="1200" b="1">
                <a:solidFill>
                  <a:srgbClr val="9CA3F5"/>
                </a:solidFill>
                <a:latin typeface="Calibri"/>
              </a:rPr>
              <a:t>WHAT I FOUND</a:t>
            </a:r>
          </a:p>
          <a:p>
            <a:pPr algn="l">
              <a:lnSpc>
                <a:spcPct val="125000"/>
              </a:lnSpc>
            </a:pPr>
            <a:r>
              <a:rPr sz="500" b="0">
                <a:solidFill>
                  <a:srgbClr val="FFFFFF"/>
                </a:solidFill>
                <a:latin typeface="Calibri"/>
              </a:rPr>
              <a:t/>
            </a:r>
          </a:p>
          <a:p>
            <a:pPr algn="l">
              <a:lnSpc>
                <a:spcPct val="125000"/>
              </a:lnSpc>
            </a:pPr>
            <a:r>
              <a:rPr sz="1600" b="0">
                <a:solidFill>
                  <a:srgbClr val="C7D2FE"/>
                </a:solidFill>
                <a:latin typeface="Calibri"/>
              </a:rPr>
              <a:t>Without tools, AI invents travel information. Tools are essential.</a:t>
            </a:r>
          </a:p>
          <a:p>
            <a:pPr algn="l">
              <a:lnSpc>
                <a:spcPct val="125000"/>
              </a:lnSpc>
            </a:pPr>
            <a:r>
              <a:rPr sz="1600" b="0">
                <a:solidFill>
                  <a:srgbClr val="C7D2FE"/>
                </a:solidFill>
                <a:latin typeface="Calibri"/>
              </a:rPr>
              <a:t>Configuration matters enormously — settings alone saved 89%.</a:t>
            </a:r>
          </a:p>
          <a:p>
            <a:pPr algn="l">
              <a:lnSpc>
                <a:spcPct val="125000"/>
              </a:lnSpc>
            </a:pPr>
            <a:r>
              <a:rPr sz="1600" b="0">
                <a:solidFill>
                  <a:srgbClr val="6EE7DF"/>
                </a:solidFill>
                <a:latin typeface="Calibri"/>
              </a:rPr>
              <a:t>Taking AI out of the lookup step is cheaper and faster, with no detectable loss of accuracy.</a:t>
            </a:r>
          </a:p>
          <a:p>
            <a:pPr algn="l">
              <a:lnSpc>
                <a:spcPct val="125000"/>
              </a:lnSpc>
            </a:pPr>
            <a:r>
              <a:rPr sz="500" b="0">
                <a:solidFill>
                  <a:srgbClr val="FFFFFF"/>
                </a:solidFill>
                <a:latin typeface="Calibri"/>
              </a:rPr>
              <a:t/>
            </a:r>
          </a:p>
          <a:p>
            <a:pPr algn="l">
              <a:lnSpc>
                <a:spcPct val="125000"/>
              </a:lnSpc>
            </a:pPr>
            <a:r>
              <a:rPr sz="1400" b="0">
                <a:solidFill>
                  <a:srgbClr val="9CA3F5"/>
                </a:solidFill>
                <a:latin typeface="Calibri"/>
              </a:rPr>
              <a:t>The gap: 1 of 20 trips measured for cost, because of the free API limits. 3 of 9 of my own design checks pass. Both are in the report.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
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fourteen slides. One idea: AI is worth paying for when a step needs thinking, and is wasted money when it does not. I built the same travel planner four ways and measured all four.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gives agents tools. Nobody asks which jobs need one. The agent version used 20.6 AI calls per trip; mine uses 2.0. Every loop step re-sends the whole conversation and every tool description, which is why the text differs by 15 times.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contribution in one slide. You cannot write a rule that understands any phrasing a person might use, and you cannot write a rule that makes a day pleasant. You absolutely can write a rule that calls a flight API with a date. It started as six agents and became three because measuring showed where the calls were going.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demonstrating live. Ask for six nights in London on three thousand dollars and it refuses, gives the shortfall, and offers a shorter trip or a nearer city. The seven step rows tick over as each finishes, so the page never looks frozen. The plan arrives in six tabs with one block per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makes the result defensible. Tuning the six agents without changing the design at all cut the text sent by 89%. Comparing B against D alone would have mixed two effects and claimed credit for both.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is the loop limit: how many times the agent may think, call a tool, and think again. Each step is a full AI call that re-sends the conversation and every tool description it holds. Eight tools times ten steps is where B's cost came from. C cut the same agents to one or two tools and three steps. D removes the fetching agents entirely, so the four tools that remain belong to the coordinator and nothing loops.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tool server runs as its own program and answers over JSON-RPC. Twelve tools, each declaring what input it accepts, so a malformed request is refused rather than sent. Every reply passes through a record-and-replay layer: 30 responses are saved, which is why anyone can reproduce my results with no API keys. Honest caveat: the shipped version calls these functions directly rather than over the protocol - the protocol is exercised by the six-agent versions, and the report says 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argument. An agent that skips a tool still writes a confident, well-formatted itinerary, so you cannot tell by reading it. B never once fetched attractions or restaurants and still produced a full plan. That is why groundedness is measured rather than judged by eye.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used to be one fixed percentage split for every trip. It now reads the wording, and no category is ever given more than it could possibly spend. On a two thousand dollar Istanbul trip the room budget moves from $327 if the traveller can compromise, to $443 at moderate, to $664 for a luxury stay. Same total, different trip.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parts. It estimates what the trip costs at minimum, comfortable and luxury standards, and refuses anything below the floor - then offers to shorten the trip, raise the budget, or pick a nearer city. And where a real fare has been recorded for that route it uses that instead of the table, and marks the line as measured rather than estimated. Tested on all 20 trips: it never wrongly refuses a workable one, and it misses 1 impossible one. Agreement score 0.643.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runs of each version, so every bar has a range. The ranges for B and D do not overlap, which is why this is reported as a real difference rather than noise. Tuning alone accounted for 89% and the design change reached 94% - the gap between those two is what I claim.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Saving money would be pointless if the plan got vaguer. A is the control and scores 1.7% - a confident itinerary invented from nothing, which is what this measure exists to catch. It caught a real one: my first working run produced a complete plan while every tool call was silently failing.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of 9 checks fail: message priority is declared and never used, permissions are declared and never enforced. The budget check never wrongly refuses a workable trip but misses half the impossible ones. And cost coverage is one trip because the free plans allow thirty flight searches a month. All three are stated in the abstract, not buried.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 what?" answer. The system is 16,169 lines with 403 tests, and the whole evaluation replays from disk with no API keys, so the method is reusable by anyone asking the same question about their own agents.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claim and its limit in the same breath. The effect is large and the sample is narrow, and both are in the abstract. The saved replies, the harness and the twenty trips are all committed, so the next person - or me next month when the limits reset - can widen it without rebuilding.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B4B"/>
        </a:solidFill>
        <a:effectLst/>
      </p:bgPr>
    </p:bg>
    <p:spTree>
      <p:nvGrpSpPr>
        <p:cNvPr id="1" name=""/>
        <p:cNvGrpSpPr/>
        <p:nvPr/>
      </p:nvGrpSpPr>
      <p:grpSpPr/>
      <p:sp>
        <p:nvSpPr>
          <p:cNvPr id="2" name="TextBox 1"/>
          <p:cNvSpPr txBox="1"/>
          <p:nvPr/>
        </p:nvSpPr>
        <p:spPr>
          <a:xfrm>
            <a:off x="1005840" y="1828800"/>
            <a:ext cx="10241280" cy="457200"/>
          </a:xfrm>
          <a:prstGeom prst="rect">
            <a:avLst/>
          </a:prstGeom>
          <a:noFill/>
        </p:spPr>
        <p:txBody>
          <a:bodyPr wrap="square" anchor="t">
            <a:spAutoFit/>
          </a:bodyPr>
          <a:lstStyle/>
          <a:p>
            <a:pPr algn="l">
              <a:lnSpc>
                <a:spcPct val="100000"/>
              </a:lnSpc>
            </a:pPr>
            <a:r>
              <a:rPr sz="1400" b="1">
                <a:solidFill>
                  <a:srgbClr val="9CA3F5"/>
                </a:solidFill>
                <a:latin typeface="Calibri"/>
              </a:rPr>
              <a:t>MSc DISSERTATION  ·  VIVA VOCE</a:t>
            </a:r>
          </a:p>
        </p:txBody>
      </p:sp>
      <p:sp>
        <p:nvSpPr>
          <p:cNvPr id="3" name="TextBox 2"/>
          <p:cNvSpPr txBox="1"/>
          <p:nvPr/>
        </p:nvSpPr>
        <p:spPr>
          <a:xfrm>
            <a:off x="1005840" y="2286000"/>
            <a:ext cx="10241280" cy="1737360"/>
          </a:xfrm>
          <a:prstGeom prst="rect">
            <a:avLst/>
          </a:prstGeom>
          <a:noFill/>
        </p:spPr>
        <p:txBody>
          <a:bodyPr wrap="square" anchor="t">
            <a:spAutoFit/>
          </a:bodyPr>
          <a:lstStyle/>
          <a:p>
            <a:pPr algn="l">
              <a:lnSpc>
                <a:spcPct val="115000"/>
              </a:lnSpc>
            </a:pPr>
            <a:r>
              <a:rPr sz="4400" b="1">
                <a:solidFill>
                  <a:srgbClr val="FFFFFF"/>
                </a:solidFill>
                <a:latin typeface="Calibri"/>
              </a:rPr>
              <a:t>When is AI worth paying for?</a:t>
            </a:r>
          </a:p>
          <a:p>
            <a:pPr algn="l">
              <a:lnSpc>
                <a:spcPct val="115000"/>
              </a:lnSpc>
            </a:pPr>
            <a:r>
              <a:rPr sz="3200" b="1">
                <a:solidFill>
                  <a:srgbClr val="6EE7DF"/>
                </a:solidFill>
                <a:latin typeface="Calibri"/>
              </a:rPr>
              <a:t>A travel planner, built four ways.</a:t>
            </a:r>
          </a:p>
        </p:txBody>
      </p:sp>
      <p:sp>
        <p:nvSpPr>
          <p:cNvPr id="4" name="Rectangle 3"/>
          <p:cNvSpPr/>
          <p:nvPr/>
        </p:nvSpPr>
        <p:spPr>
          <a:xfrm>
            <a:off x="1005840" y="4389120"/>
            <a:ext cx="1463040" cy="34000"/>
          </a:xfrm>
          <a:prstGeom prst="rect">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754880"/>
            <a:ext cx="10241280" cy="1097280"/>
          </a:xfrm>
          <a:prstGeom prst="rect">
            <a:avLst/>
          </a:prstGeom>
          <a:noFill/>
        </p:spPr>
        <p:txBody>
          <a:bodyPr wrap="square" anchor="t">
            <a:spAutoFit/>
          </a:bodyPr>
          <a:lstStyle/>
          <a:p>
            <a:pPr algn="l">
              <a:lnSpc>
                <a:spcPct val="100000"/>
              </a:lnSpc>
            </a:pPr>
            <a:r>
              <a:rPr sz="1400" b="0">
                <a:solidFill>
                  <a:srgbClr val="9CA3F5"/>
                </a:solidFill>
                <a:latin typeface="Calibri"/>
              </a:rPr>
              <a:t>Student 25182589   ·   CMP7200 — Individual Master's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1  ·  THE PROBLEM</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AI is paid to do work that needs no thinking</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21</a:t>
            </a:r>
          </a:p>
        </p:txBody>
      </p:sp>
      <p:sp>
        <p:nvSpPr>
          <p:cNvPr id="6" name="TextBox 5"/>
          <p:cNvSpPr txBox="1"/>
          <p:nvPr/>
        </p:nvSpPr>
        <p:spPr>
          <a:xfrm>
            <a:off x="822960"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AI calls to plan one trip
when agents fetch the data</a:t>
            </a:r>
          </a:p>
        </p:txBody>
      </p:sp>
      <p:sp>
        <p:nvSpPr>
          <p:cNvPr id="7" name="TextBox 6"/>
          <p:cNvSpPr txBox="1"/>
          <p:nvPr/>
        </p:nvSpPr>
        <p:spPr>
          <a:xfrm>
            <a:off x="4338218"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2</a:t>
            </a:r>
          </a:p>
        </p:txBody>
      </p:sp>
      <p:sp>
        <p:nvSpPr>
          <p:cNvPr id="8" name="TextBox 7"/>
          <p:cNvSpPr txBox="1"/>
          <p:nvPr/>
        </p:nvSpPr>
        <p:spPr>
          <a:xfrm>
            <a:off x="4338218"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AI calls for the same trip
when normal code fetches it</a:t>
            </a:r>
          </a:p>
        </p:txBody>
      </p:sp>
      <p:sp>
        <p:nvSpPr>
          <p:cNvPr id="9" name="TextBox 8"/>
          <p:cNvSpPr txBox="1"/>
          <p:nvPr/>
        </p:nvSpPr>
        <p:spPr>
          <a:xfrm>
            <a:off x="7853476"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15x</a:t>
            </a:r>
          </a:p>
        </p:txBody>
      </p:sp>
      <p:sp>
        <p:nvSpPr>
          <p:cNvPr id="10" name="TextBox 9"/>
          <p:cNvSpPr txBox="1"/>
          <p:nvPr/>
        </p:nvSpPr>
        <p:spPr>
          <a:xfrm>
            <a:off x="7853476"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more text sent to the AI,
same finished plan</a:t>
            </a:r>
          </a:p>
        </p:txBody>
      </p:sp>
      <p:sp>
        <p:nvSpPr>
          <p:cNvPr id="11" name="TextBox 10"/>
          <p:cNvSpPr txBox="1"/>
          <p:nvPr/>
        </p:nvSpPr>
        <p:spPr>
          <a:xfrm>
            <a:off x="822960" y="4846320"/>
            <a:ext cx="10515600" cy="1280160"/>
          </a:xfrm>
          <a:prstGeom prst="rect">
            <a:avLst/>
          </a:prstGeom>
          <a:noFill/>
        </p:spPr>
        <p:txBody>
          <a:bodyPr wrap="square" anchor="t">
            <a:spAutoFit/>
          </a:bodyPr>
          <a:lstStyle/>
          <a:p>
            <a:pPr algn="l">
              <a:lnSpc>
                <a:spcPct val="125000"/>
              </a:lnSpc>
            </a:pPr>
            <a:r>
              <a:rPr sz="2100" b="1">
                <a:solidFill>
                  <a:srgbClr val="161A23"/>
                </a:solidFill>
                <a:latin typeface="Calibri"/>
              </a:rPr>
              <a:t>Looking up a flight price is one web request. It needs no thinking.</a:t>
            </a:r>
          </a:p>
          <a:p>
            <a:pPr algn="l">
              <a:lnSpc>
                <a:spcPct val="125000"/>
              </a:lnSpc>
            </a:pPr>
            <a:r>
              <a:rPr sz="1700" b="0">
                <a:solidFill>
                  <a:srgbClr val="545C6E"/>
                </a:solidFill>
                <a:latin typeface="Calibri"/>
              </a:rPr>
              <a:t>But when an AI agent does the looking up, you pay for every step it takes to decide.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2  ·  MY SOLUTION</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One rule, applied to every step</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11680"/>
            <a:ext cx="10515600" cy="1280160"/>
          </a:xfrm>
          <a:prstGeom prst="rect">
            <a:avLst/>
          </a:prstGeom>
          <a:noFill/>
        </p:spPr>
        <p:txBody>
          <a:bodyPr wrap="square" anchor="t">
            <a:spAutoFit/>
          </a:bodyPr>
          <a:lstStyle/>
          <a:p>
            <a:pPr algn="l">
              <a:lnSpc>
                <a:spcPct val="100000"/>
              </a:lnSpc>
            </a:pPr>
            <a:r>
              <a:rPr sz="3200" b="1">
                <a:solidFill>
                  <a:srgbClr val="4338CA"/>
                </a:solidFill>
                <a:latin typeface="Calibri"/>
              </a:rPr>
              <a:t>Could I write this step as ordinary code?</a:t>
            </a:r>
          </a:p>
        </p:txBody>
      </p:sp>
      <p:graphicFrame>
        <p:nvGraphicFramePr>
          <p:cNvPr id="6" name="Table 5"/>
          <p:cNvGraphicFramePr>
            <a:graphicFrameLocks noGrp="1"/>
          </p:cNvGraphicFramePr>
          <p:nvPr/>
        </p:nvGraphicFramePr>
        <p:xfrm>
          <a:off x="822960" y="3200400"/>
          <a:ext cx="10515598" cy="1097280"/>
        </p:xfrm>
        <a:graphic>
          <a:graphicData uri="http://schemas.openxmlformats.org/drawingml/2006/table">
            <a:tbl>
              <a:tblPr firstRow="1" bandRow="1">
                <a:tableStyleId>{5C22544A-7EE6-4342-B048-85BDC9FD1C3A}</a:tableStyleId>
              </a:tblPr>
              <a:tblGrid>
                <a:gridCol w="2426676"/>
                <a:gridCol w="1617784"/>
                <a:gridCol w="6471138"/>
              </a:tblGrid>
              <a:tr h="365760">
                <a:tc>
                  <a:txBody>
                    <a:bodyPr/>
                    <a:lstStyle/>
                    <a:p>
                      <a:r>
                        <a:rPr sz="1400" b="1">
                          <a:solidFill>
                            <a:srgbClr val="FFFFFF"/>
                          </a:solidFill>
                          <a:latin typeface="Calibri"/>
                        </a:rPr>
                        <a:t>Answer</a:t>
                      </a:r>
                    </a:p>
                  </a:txBody>
                  <a:tcPr>
                    <a:solidFill>
                      <a:srgbClr val="4338CA"/>
                    </a:solidFill>
                  </a:tcPr>
                </a:tc>
                <a:tc>
                  <a:txBody>
                    <a:bodyPr/>
                    <a:lstStyle/>
                    <a:p>
                      <a:r>
                        <a:rPr sz="1400" b="1">
                          <a:solidFill>
                            <a:srgbClr val="FFFFFF"/>
                          </a:solidFill>
                          <a:latin typeface="Calibri"/>
                        </a:rPr>
                        <a:t>So</a:t>
                      </a:r>
                    </a:p>
                  </a:txBody>
                  <a:tcPr>
                    <a:solidFill>
                      <a:srgbClr val="4338CA"/>
                    </a:solidFill>
                  </a:tcPr>
                </a:tc>
                <a:tc>
                  <a:txBody>
                    <a:bodyPr/>
                    <a:lstStyle/>
                    <a:p>
                      <a:r>
                        <a:rPr sz="1400" b="1">
                          <a:solidFill>
                            <a:srgbClr val="FFFFFF"/>
                          </a:solidFill>
                          <a:latin typeface="Calibri"/>
                        </a:rPr>
                        <a:t>Which steps</a:t>
                      </a:r>
                    </a:p>
                  </a:txBody>
                  <a:tcPr>
                    <a:solidFill>
                      <a:srgbClr val="4338CA"/>
                    </a:solidFill>
                  </a:tcPr>
                </a:tc>
              </a:tr>
              <a:tr h="365760">
                <a:tc>
                  <a:txBody>
                    <a:bodyPr/>
                    <a:lstStyle/>
                    <a:p>
                      <a:r>
                        <a:rPr sz="1400" b="0">
                          <a:solidFill>
                            <a:srgbClr val="161A23"/>
                          </a:solidFill>
                          <a:latin typeface="Calibri"/>
                        </a:rPr>
                        <a:t>No — it needs judgement</a:t>
                      </a:r>
                    </a:p>
                  </a:txBody>
                  <a:tcPr>
                    <a:solidFill>
                      <a:srgbClr val="FFFFFF"/>
                    </a:solidFill>
                  </a:tcPr>
                </a:tc>
                <a:tc>
                  <a:txBody>
                    <a:bodyPr/>
                    <a:lstStyle/>
                    <a:p>
                      <a:r>
                        <a:rPr sz="1400" b="0">
                          <a:solidFill>
                            <a:srgbClr val="161A23"/>
                          </a:solidFill>
                          <a:latin typeface="Calibri"/>
                        </a:rPr>
                        <a:t>use AI</a:t>
                      </a:r>
                    </a:p>
                  </a:txBody>
                  <a:tcPr>
                    <a:solidFill>
                      <a:srgbClr val="FFFFFF"/>
                    </a:solidFill>
                  </a:tcPr>
                </a:tc>
                <a:tc>
                  <a:txBody>
                    <a:bodyPr/>
                    <a:lstStyle/>
                    <a:p>
                      <a:r>
                        <a:rPr sz="1400" b="0">
                          <a:solidFill>
                            <a:srgbClr val="161A23"/>
                          </a:solidFill>
                          <a:latin typeface="Calibri"/>
                        </a:rPr>
                        <a:t>Reading the request  ·  Writing the day-by-day plan</a:t>
                      </a:r>
                    </a:p>
                  </a:txBody>
                  <a:tcPr>
                    <a:solidFill>
                      <a:srgbClr val="FFFFFF"/>
                    </a:solidFill>
                  </a:tcPr>
                </a:tc>
              </a:tr>
              <a:tr h="365760">
                <a:tc>
                  <a:txBody>
                    <a:bodyPr/>
                    <a:lstStyle/>
                    <a:p>
                      <a:r>
                        <a:rPr sz="1400" b="0">
                          <a:solidFill>
                            <a:srgbClr val="161A23"/>
                          </a:solidFill>
                          <a:latin typeface="Calibri"/>
                        </a:rPr>
                        <a:t>Yes — the rule is fixed</a:t>
                      </a:r>
                    </a:p>
                  </a:txBody>
                  <a:tcPr>
                    <a:solidFill>
                      <a:srgbClr val="F7F8FC"/>
                    </a:solidFill>
                  </a:tcPr>
                </a:tc>
                <a:tc>
                  <a:txBody>
                    <a:bodyPr/>
                    <a:lstStyle/>
                    <a:p>
                      <a:r>
                        <a:rPr sz="1400" b="0">
                          <a:solidFill>
                            <a:srgbClr val="161A23"/>
                          </a:solidFill>
                          <a:latin typeface="Calibri"/>
                        </a:rPr>
                        <a:t>use plain code</a:t>
                      </a:r>
                    </a:p>
                  </a:txBody>
                  <a:tcPr>
                    <a:solidFill>
                      <a:srgbClr val="F7F8FC"/>
                    </a:solidFill>
                  </a:tcPr>
                </a:tc>
                <a:tc>
                  <a:txBody>
                    <a:bodyPr/>
                    <a:lstStyle/>
                    <a:p>
                      <a:r>
                        <a:rPr sz="1400" b="0">
                          <a:solidFill>
                            <a:srgbClr val="161A23"/>
                          </a:solidFill>
                          <a:latin typeface="Calibri"/>
                        </a:rPr>
                        <a:t>Flights  ·  Hotels  ·  Attractions  ·  Restaurants</a:t>
                      </a:r>
                    </a:p>
                  </a:txBody>
                  <a:tcPr>
                    <a:solidFill>
                      <a:srgbClr val="F7F8FC"/>
                    </a:solidFill>
                  </a:tcPr>
                </a:tc>
              </a:tr>
            </a:tbl>
          </a:graphicData>
        </a:graphic>
      </p:graphicFrame>
      <p:sp>
        <p:nvSpPr>
          <p:cNvPr id="7" name="TextBox 6"/>
          <p:cNvSpPr txBox="1"/>
          <p:nvPr/>
        </p:nvSpPr>
        <p:spPr>
          <a:xfrm>
            <a:off x="822960" y="4937760"/>
            <a:ext cx="10515600" cy="1188720"/>
          </a:xfrm>
          <a:prstGeom prst="rect">
            <a:avLst/>
          </a:prstGeom>
          <a:noFill/>
        </p:spPr>
        <p:txBody>
          <a:bodyPr wrap="square" anchor="t">
            <a:spAutoFit/>
          </a:bodyPr>
          <a:lstStyle/>
          <a:p>
            <a:pPr algn="l">
              <a:lnSpc>
                <a:spcPct val="125000"/>
              </a:lnSpc>
            </a:pPr>
            <a:r>
              <a:rPr sz="2100" b="1">
                <a:solidFill>
                  <a:srgbClr val="161A23"/>
                </a:solidFill>
                <a:latin typeface="Calibri"/>
              </a:rPr>
              <a:t>Two steps out of six need AI. The other four are IF statements.</a:t>
            </a:r>
          </a:p>
          <a:p>
            <a:pPr algn="l">
              <a:lnSpc>
                <a:spcPct val="125000"/>
              </a:lnSpc>
            </a:pPr>
            <a:r>
              <a:rPr sz="1700" b="0">
                <a:solidFill>
                  <a:srgbClr val="545C6E"/>
                </a:solidFill>
                <a:latin typeface="Calibri"/>
              </a:rPr>
              <a:t>Same finished plan. A fraction of the cost.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3  ·  WHAT THE USER SEES</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One form, live progress, plan in tabs</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rontend.png"/>
          <p:cNvPicPr>
            <a:picLocks noChangeAspect="1"/>
          </p:cNvPicPr>
          <p:nvPr/>
        </p:nvPicPr>
        <p:blipFill>
          <a:blip r:embed="rId2"/>
          <a:stretch>
            <a:fillRect/>
          </a:stretch>
        </p:blipFill>
        <p:spPr>
          <a:xfrm>
            <a:off x="2352101" y="1783080"/>
            <a:ext cx="7487493" cy="4297680"/>
          </a:xfrm>
          <a:prstGeom prst="rect">
            <a:avLst/>
          </a:prstGeom>
        </p:spPr>
      </p:pic>
      <p:sp>
        <p:nvSpPr>
          <p:cNvPr id="6" name="TextBox 5"/>
          <p:cNvSpPr txBox="1"/>
          <p:nvPr/>
        </p:nvSpPr>
        <p:spPr>
          <a:xfrm>
            <a:off x="822960" y="6172200"/>
            <a:ext cx="10515600" cy="457200"/>
          </a:xfrm>
          <a:prstGeom prst="rect">
            <a:avLst/>
          </a:prstGeom>
          <a:noFill/>
        </p:spPr>
        <p:txBody>
          <a:bodyPr wrap="square" anchor="t">
            <a:spAutoFit/>
          </a:bodyPr>
          <a:lstStyle/>
          <a:p>
            <a:pPr algn="l">
              <a:lnSpc>
                <a:spcPct val="100000"/>
              </a:lnSpc>
            </a:pPr>
            <a:r>
              <a:rPr sz="1500" b="0">
                <a:solidFill>
                  <a:srgbClr val="545C6E"/>
                </a:solidFill>
                <a:latin typeface="Calibri"/>
              </a:rPr>
              <a:t>Purple steps use AI. Green steps are plain code. Both are narrated in the terminal as they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4  ·  THE FOUR VERSIONS</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Only one thing changes: who fetches the data</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011680"/>
          <a:ext cx="10515598" cy="1828800"/>
        </p:xfrm>
        <a:graphic>
          <a:graphicData uri="http://schemas.openxmlformats.org/drawingml/2006/table">
            <a:tbl>
              <a:tblPr firstRow="1" bandRow="1">
                <a:tableStyleId>{5C22544A-7EE6-4342-B048-85BDC9FD1C3A}</a:tableStyleId>
              </a:tblPr>
              <a:tblGrid>
                <a:gridCol w="491383"/>
                <a:gridCol w="2850022"/>
                <a:gridCol w="2260362"/>
                <a:gridCol w="4913831"/>
              </a:tblGrid>
              <a:tr h="365760">
                <a:tc>
                  <a:txBody>
                    <a:bodyPr/>
                    <a:lstStyle/>
                    <a:p>
                      <a:r>
                        <a:rPr sz="1300" b="1">
                          <a:solidFill>
                            <a:srgbClr val="FFFFFF"/>
                          </a:solidFill>
                          <a:latin typeface="Calibri"/>
                        </a:rPr>
                        <a:t> </a:t>
                      </a:r>
                    </a:p>
                  </a:txBody>
                  <a:tcPr>
                    <a:solidFill>
                      <a:srgbClr val="4338CA"/>
                    </a:solidFill>
                  </a:tcPr>
                </a:tc>
                <a:tc>
                  <a:txBody>
                    <a:bodyPr/>
                    <a:lstStyle/>
                    <a:p>
                      <a:r>
                        <a:rPr sz="1300" b="1">
                          <a:solidFill>
                            <a:srgbClr val="FFFFFF"/>
                          </a:solidFill>
                          <a:latin typeface="Calibri"/>
                        </a:rPr>
                        <a:t>How it works</a:t>
                      </a:r>
                    </a:p>
                  </a:txBody>
                  <a:tcPr>
                    <a:solidFill>
                      <a:srgbClr val="4338CA"/>
                    </a:solidFill>
                  </a:tcPr>
                </a:tc>
                <a:tc>
                  <a:txBody>
                    <a:bodyPr/>
                    <a:lstStyle/>
                    <a:p>
                      <a:r>
                        <a:rPr sz="1300" b="1">
                          <a:solidFill>
                            <a:srgbClr val="FFFFFF"/>
                          </a:solidFill>
                          <a:latin typeface="Calibri"/>
                        </a:rPr>
                        <a:t>Who fetches the data</a:t>
                      </a:r>
                    </a:p>
                  </a:txBody>
                  <a:tcPr>
                    <a:solidFill>
                      <a:srgbClr val="4338CA"/>
                    </a:solidFill>
                  </a:tcPr>
                </a:tc>
                <a:tc>
                  <a:txBody>
                    <a:bodyPr/>
                    <a:lstStyle/>
                    <a:p>
                      <a:r>
                        <a:rPr sz="1300" b="1">
                          <a:solidFill>
                            <a:srgbClr val="FFFFFF"/>
                          </a:solidFill>
                          <a:latin typeface="Calibri"/>
                        </a:rPr>
                        <a:t>Why I built it</a:t>
                      </a:r>
                    </a:p>
                  </a:txBody>
                  <a:tcPr>
                    <a:solidFill>
                      <a:srgbClr val="4338CA"/>
                    </a:solidFill>
                  </a:tcPr>
                </a:tc>
              </a:tr>
              <a:tr h="365760">
                <a:tc>
                  <a:txBody>
                    <a:bodyPr/>
                    <a:lstStyle/>
                    <a:p>
                      <a:r>
                        <a:rPr sz="1300" b="0">
                          <a:solidFill>
                            <a:srgbClr val="161A23"/>
                          </a:solidFill>
                          <a:latin typeface="Calibri"/>
                        </a:rPr>
                        <a:t>A</a:t>
                      </a:r>
                    </a:p>
                  </a:txBody>
                  <a:tcPr>
                    <a:solidFill>
                      <a:srgbClr val="FFFFFF"/>
                    </a:solidFill>
                  </a:tcPr>
                </a:tc>
                <a:tc>
                  <a:txBody>
                    <a:bodyPr/>
                    <a:lstStyle/>
                    <a:p>
                      <a:r>
                        <a:rPr sz="1300" b="0">
                          <a:solidFill>
                            <a:srgbClr val="161A23"/>
                          </a:solidFill>
                          <a:latin typeface="Calibri"/>
                        </a:rPr>
                        <a:t>One AI call, no tools</a:t>
                      </a:r>
                    </a:p>
                  </a:txBody>
                  <a:tcPr>
                    <a:solidFill>
                      <a:srgbClr val="FFFFFF"/>
                    </a:solidFill>
                  </a:tcPr>
                </a:tc>
                <a:tc>
                  <a:txBody>
                    <a:bodyPr/>
                    <a:lstStyle/>
                    <a:p>
                      <a:r>
                        <a:rPr sz="1300" b="0">
                          <a:solidFill>
                            <a:srgbClr val="161A23"/>
                          </a:solidFill>
                          <a:latin typeface="Calibri"/>
                        </a:rPr>
                        <a:t>nobody</a:t>
                      </a:r>
                    </a:p>
                  </a:txBody>
                  <a:tcPr>
                    <a:solidFill>
                      <a:srgbClr val="FFFFFF"/>
                    </a:solidFill>
                  </a:tcPr>
                </a:tc>
                <a:tc>
                  <a:txBody>
                    <a:bodyPr/>
                    <a:lstStyle/>
                    <a:p>
                      <a:r>
                        <a:rPr sz="1300" b="0">
                          <a:solidFill>
                            <a:srgbClr val="161A23"/>
                          </a:solidFill>
                          <a:latin typeface="Calibri"/>
                        </a:rPr>
                        <a:t>The floor. Shows what AI invents with no real data</a:t>
                      </a:r>
                    </a:p>
                  </a:txBody>
                  <a:tcPr>
                    <a:solidFill>
                      <a:srgbClr val="FFFFFF"/>
                    </a:solidFill>
                  </a:tcPr>
                </a:tc>
              </a:tr>
              <a:tr h="365760">
                <a:tc>
                  <a:txBody>
                    <a:bodyPr/>
                    <a:lstStyle/>
                    <a:p>
                      <a:r>
                        <a:rPr sz="1300" b="0">
                          <a:solidFill>
                            <a:srgbClr val="161A23"/>
                          </a:solidFill>
                          <a:latin typeface="Calibri"/>
                        </a:rPr>
                        <a:t>B</a:t>
                      </a:r>
                    </a:p>
                  </a:txBody>
                  <a:tcPr>
                    <a:solidFill>
                      <a:srgbClr val="F7F8FC"/>
                    </a:solidFill>
                  </a:tcPr>
                </a:tc>
                <a:tc>
                  <a:txBody>
                    <a:bodyPr/>
                    <a:lstStyle/>
                    <a:p>
                      <a:r>
                        <a:rPr sz="1300" b="0">
                          <a:solidFill>
                            <a:srgbClr val="161A23"/>
                          </a:solidFill>
                          <a:latin typeface="Calibri"/>
                        </a:rPr>
                        <a:t>Six agents, first attempt</a:t>
                      </a:r>
                    </a:p>
                  </a:txBody>
                  <a:tcPr>
                    <a:solidFill>
                      <a:srgbClr val="F7F8FC"/>
                    </a:solidFill>
                  </a:tcPr>
                </a:tc>
                <a:tc>
                  <a:txBody>
                    <a:bodyPr/>
                    <a:lstStyle/>
                    <a:p>
                      <a:r>
                        <a:rPr sz="1300" b="0">
                          <a:solidFill>
                            <a:srgbClr val="161A23"/>
                          </a:solidFill>
                          <a:latin typeface="Calibri"/>
                        </a:rPr>
                        <a:t>each agent decides</a:t>
                      </a:r>
                    </a:p>
                  </a:txBody>
                  <a:tcPr>
                    <a:solidFill>
                      <a:srgbClr val="F7F8FC"/>
                    </a:solidFill>
                  </a:tcPr>
                </a:tc>
                <a:tc>
                  <a:txBody>
                    <a:bodyPr/>
                    <a:lstStyle/>
                    <a:p>
                      <a:r>
                        <a:rPr sz="1300" b="0">
                          <a:solidFill>
                            <a:srgbClr val="161A23"/>
                          </a:solidFill>
                          <a:latin typeface="Calibri"/>
                        </a:rPr>
                        <a:t>My original proposal. The honest starting point</a:t>
                      </a:r>
                    </a:p>
                  </a:txBody>
                  <a:tcPr>
                    <a:solidFill>
                      <a:srgbClr val="F7F8FC"/>
                    </a:solidFill>
                  </a:tcPr>
                </a:tc>
              </a:tr>
              <a:tr h="365760">
                <a:tc>
                  <a:txBody>
                    <a:bodyPr/>
                    <a:lstStyle/>
                    <a:p>
                      <a:r>
                        <a:rPr sz="1300" b="0">
                          <a:solidFill>
                            <a:srgbClr val="161A23"/>
                          </a:solidFill>
                          <a:latin typeface="Calibri"/>
                        </a:rPr>
                        <a:t>C</a:t>
                      </a:r>
                    </a:p>
                  </a:txBody>
                  <a:tcPr>
                    <a:solidFill>
                      <a:srgbClr val="FFFFFF"/>
                    </a:solidFill>
                  </a:tcPr>
                </a:tc>
                <a:tc>
                  <a:txBody>
                    <a:bodyPr/>
                    <a:lstStyle/>
                    <a:p>
                      <a:r>
                        <a:rPr sz="1300" b="0">
                          <a:solidFill>
                            <a:srgbClr val="161A23"/>
                          </a:solidFill>
                          <a:latin typeface="Calibri"/>
                        </a:rPr>
                        <a:t>Same six agents, tuned</a:t>
                      </a:r>
                    </a:p>
                  </a:txBody>
                  <a:tcPr>
                    <a:solidFill>
                      <a:srgbClr val="FFFFFF"/>
                    </a:solidFill>
                  </a:tcPr>
                </a:tc>
                <a:tc>
                  <a:txBody>
                    <a:bodyPr/>
                    <a:lstStyle/>
                    <a:p>
                      <a:r>
                        <a:rPr sz="1300" b="0">
                          <a:solidFill>
                            <a:srgbClr val="161A23"/>
                          </a:solidFill>
                          <a:latin typeface="Calibri"/>
                        </a:rPr>
                        <a:t>each agent decides</a:t>
                      </a:r>
                    </a:p>
                  </a:txBody>
                  <a:tcPr>
                    <a:solidFill>
                      <a:srgbClr val="FFFFFF"/>
                    </a:solidFill>
                  </a:tcPr>
                </a:tc>
                <a:tc>
                  <a:txBody>
                    <a:bodyPr/>
                    <a:lstStyle/>
                    <a:p>
                      <a:r>
                        <a:rPr sz="1300" b="0">
                          <a:solidFill>
                            <a:srgbClr val="161A23"/>
                          </a:solidFill>
                          <a:latin typeface="Calibri"/>
                        </a:rPr>
                        <a:t>Proves the gain is the design, not just better settings</a:t>
                      </a:r>
                    </a:p>
                  </a:txBody>
                  <a:tcPr>
                    <a:solidFill>
                      <a:srgbClr val="FFFFFF"/>
                    </a:solidFill>
                  </a:tcPr>
                </a:tc>
              </a:tr>
              <a:tr h="365760">
                <a:tc>
                  <a:txBody>
                    <a:bodyPr/>
                    <a:lstStyle/>
                    <a:p>
                      <a:r>
                        <a:rPr sz="1300" b="0">
                          <a:solidFill>
                            <a:srgbClr val="161A23"/>
                          </a:solidFill>
                          <a:latin typeface="Calibri"/>
                        </a:rPr>
                        <a:t>D</a:t>
                      </a:r>
                    </a:p>
                  </a:txBody>
                  <a:tcPr>
                    <a:solidFill>
                      <a:srgbClr val="F7F8FC"/>
                    </a:solidFill>
                  </a:tcPr>
                </a:tc>
                <a:tc>
                  <a:txBody>
                    <a:bodyPr/>
                    <a:lstStyle/>
                    <a:p>
                      <a:r>
                        <a:rPr sz="1300" b="0">
                          <a:solidFill>
                            <a:srgbClr val="161A23"/>
                          </a:solidFill>
                          <a:latin typeface="Calibri"/>
                        </a:rPr>
                        <a:t>Three agents</a:t>
                      </a:r>
                    </a:p>
                  </a:txBody>
                  <a:tcPr>
                    <a:solidFill>
                      <a:srgbClr val="F7F8FC"/>
                    </a:solidFill>
                  </a:tcPr>
                </a:tc>
                <a:tc>
                  <a:txBody>
                    <a:bodyPr/>
                    <a:lstStyle/>
                    <a:p>
                      <a:r>
                        <a:rPr sz="1300" b="0">
                          <a:solidFill>
                            <a:srgbClr val="161A23"/>
                          </a:solidFill>
                          <a:latin typeface="Calibri"/>
                        </a:rPr>
                        <a:t>plain code</a:t>
                      </a:r>
                    </a:p>
                  </a:txBody>
                  <a:tcPr>
                    <a:solidFill>
                      <a:srgbClr val="F7F8FC"/>
                    </a:solidFill>
                  </a:tcPr>
                </a:tc>
                <a:tc>
                  <a:txBody>
                    <a:bodyPr/>
                    <a:lstStyle/>
                    <a:p>
                      <a:r>
                        <a:rPr sz="1300" b="0">
                          <a:solidFill>
                            <a:srgbClr val="161A23"/>
                          </a:solidFill>
                          <a:latin typeface="Calibri"/>
                        </a:rPr>
                        <a:t>What I ship. The idea being tested</a:t>
                      </a:r>
                    </a:p>
                  </a:txBody>
                  <a:tcPr>
                    <a:solidFill>
                      <a:srgbClr val="F7F8FC"/>
                    </a:solidFill>
                  </a:tcPr>
                </a:tc>
              </a:tr>
            </a:tbl>
          </a:graphicData>
        </a:graphic>
      </p:graphicFrame>
      <p:sp>
        <p:nvSpPr>
          <p:cNvPr id="6" name="TextBox 5"/>
          <p:cNvSpPr txBox="1"/>
          <p:nvPr/>
        </p:nvSpPr>
        <p:spPr>
          <a:xfrm>
            <a:off x="822960" y="5120640"/>
            <a:ext cx="10515600" cy="914400"/>
          </a:xfrm>
          <a:prstGeom prst="rect">
            <a:avLst/>
          </a:prstGeom>
          <a:noFill/>
        </p:spPr>
        <p:txBody>
          <a:bodyPr wrap="square" anchor="t">
            <a:spAutoFit/>
          </a:bodyPr>
          <a:lstStyle/>
          <a:p>
            <a:pPr algn="l">
              <a:lnSpc>
                <a:spcPct val="100000"/>
              </a:lnSpc>
            </a:pPr>
            <a:r>
              <a:rPr sz="1800" b="1">
                <a:solidFill>
                  <a:srgbClr val="4338CA"/>
                </a:solidFill>
                <a:latin typeface="Calibri"/>
              </a:rPr>
              <a:t>C is the important one. Without it, someone could say D only won because B was set up badly.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5  ·  AGENTS AND THEIR TOOLS</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Counted from the code, per version</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1965960"/>
          <a:ext cx="10515600" cy="2926080"/>
        </p:xfrm>
        <a:graphic>
          <a:graphicData uri="http://schemas.openxmlformats.org/drawingml/2006/table">
            <a:tbl>
              <a:tblPr firstRow="1" bandRow="1">
                <a:tableStyleId>{5C22544A-7EE6-4342-B048-85BDC9FD1C3A}</a:tableStyleId>
              </a:tblPr>
              <a:tblGrid>
                <a:gridCol w="3657600"/>
                <a:gridCol w="1257300"/>
                <a:gridCol w="1257300"/>
                <a:gridCol w="1257300"/>
                <a:gridCol w="1257300"/>
                <a:gridCol w="1828800"/>
              </a:tblGrid>
              <a:tr h="365760">
                <a:tc>
                  <a:txBody>
                    <a:bodyPr/>
                    <a:lstStyle/>
                    <a:p>
                      <a:r>
                        <a:rPr sz="1250" b="1">
                          <a:solidFill>
                            <a:srgbClr val="FFFFFF"/>
                          </a:solidFill>
                          <a:latin typeface="Calibri"/>
                        </a:rPr>
                        <a:t>Agent</a:t>
                      </a:r>
                    </a:p>
                  </a:txBody>
                  <a:tcPr>
                    <a:solidFill>
                      <a:srgbClr val="4338CA"/>
                    </a:solidFill>
                  </a:tcPr>
                </a:tc>
                <a:tc>
                  <a:txBody>
                    <a:bodyPr/>
                    <a:lstStyle/>
                    <a:p>
                      <a:r>
                        <a:rPr sz="1250" b="1">
                          <a:solidFill>
                            <a:srgbClr val="FFFFFF"/>
                          </a:solidFill>
                          <a:latin typeface="Calibri"/>
                        </a:rPr>
                        <a:t>B  tools</a:t>
                      </a:r>
                    </a:p>
                  </a:txBody>
                  <a:tcPr>
                    <a:solidFill>
                      <a:srgbClr val="4338CA"/>
                    </a:solidFill>
                  </a:tcPr>
                </a:tc>
                <a:tc>
                  <a:txBody>
                    <a:bodyPr/>
                    <a:lstStyle/>
                    <a:p>
                      <a:r>
                        <a:rPr sz="1250" b="1">
                          <a:solidFill>
                            <a:srgbClr val="FFFFFF"/>
                          </a:solidFill>
                          <a:latin typeface="Calibri"/>
                        </a:rPr>
                        <a:t>B  steps</a:t>
                      </a:r>
                    </a:p>
                  </a:txBody>
                  <a:tcPr>
                    <a:solidFill>
                      <a:srgbClr val="4338CA"/>
                    </a:solidFill>
                  </a:tcPr>
                </a:tc>
                <a:tc>
                  <a:txBody>
                    <a:bodyPr/>
                    <a:lstStyle/>
                    <a:p>
                      <a:r>
                        <a:rPr sz="1250" b="1">
                          <a:solidFill>
                            <a:srgbClr val="FFFFFF"/>
                          </a:solidFill>
                          <a:latin typeface="Calibri"/>
                        </a:rPr>
                        <a:t>C  tools</a:t>
                      </a:r>
                    </a:p>
                  </a:txBody>
                  <a:tcPr>
                    <a:solidFill>
                      <a:srgbClr val="4338CA"/>
                    </a:solidFill>
                  </a:tcPr>
                </a:tc>
                <a:tc>
                  <a:txBody>
                    <a:bodyPr/>
                    <a:lstStyle/>
                    <a:p>
                      <a:r>
                        <a:rPr sz="1250" b="1">
                          <a:solidFill>
                            <a:srgbClr val="FFFFFF"/>
                          </a:solidFill>
                          <a:latin typeface="Calibri"/>
                        </a:rPr>
                        <a:t>C  steps</a:t>
                      </a:r>
                    </a:p>
                  </a:txBody>
                  <a:tcPr>
                    <a:solidFill>
                      <a:srgbClr val="4338CA"/>
                    </a:solidFill>
                  </a:tcPr>
                </a:tc>
                <a:tc>
                  <a:txBody>
                    <a:bodyPr/>
                    <a:lstStyle/>
                    <a:p>
                      <a:r>
                        <a:rPr sz="1250" b="1">
                          <a:solidFill>
                            <a:srgbClr val="FFFFFF"/>
                          </a:solidFill>
                          <a:latin typeface="Calibri"/>
                        </a:rPr>
                        <a:t>D</a:t>
                      </a:r>
                    </a:p>
                  </a:txBody>
                  <a:tcPr>
                    <a:solidFill>
                      <a:srgbClr val="4338CA"/>
                    </a:solidFill>
                  </a:tcPr>
                </a:tc>
              </a:tr>
              <a:tr h="365760">
                <a:tc>
                  <a:txBody>
                    <a:bodyPr/>
                    <a:lstStyle/>
                    <a:p>
                      <a:r>
                        <a:rPr sz="1250" b="0">
                          <a:solidFill>
                            <a:srgbClr val="161A23"/>
                          </a:solidFill>
                          <a:latin typeface="Calibri"/>
                        </a:rPr>
                        <a:t>Preferences extractor</a:t>
                      </a:r>
                    </a:p>
                  </a:txBody>
                  <a:tcPr>
                    <a:solidFill>
                      <a:srgbClr val="FFFFFF"/>
                    </a:solidFill>
                  </a:tcPr>
                </a:tc>
                <a:tc>
                  <a:txBody>
                    <a:bodyPr/>
                    <a:lstStyle/>
                    <a:p>
                      <a:r>
                        <a:rPr sz="1250" b="0">
                          <a:solidFill>
                            <a:srgbClr val="161A23"/>
                          </a:solidFill>
                          <a:latin typeface="Calibri"/>
                        </a:rPr>
                        <a:t>0</a:t>
                      </a:r>
                    </a:p>
                  </a:txBody>
                  <a:tcPr>
                    <a:solidFill>
                      <a:srgbClr val="FFFFFF"/>
                    </a:solidFill>
                  </a:tcPr>
                </a:tc>
                <a:tc>
                  <a:txBody>
                    <a:bodyPr/>
                    <a:lstStyle/>
                    <a:p>
                      <a:r>
                        <a:rPr sz="1250" b="0">
                          <a:solidFill>
                            <a:srgbClr val="161A23"/>
                          </a:solidFill>
                          <a:latin typeface="Calibri"/>
                        </a:rPr>
                        <a:t>3</a:t>
                      </a:r>
                    </a:p>
                  </a:txBody>
                  <a:tcPr>
                    <a:solidFill>
                      <a:srgbClr val="FFFFFF"/>
                    </a:solidFill>
                  </a:tcPr>
                </a:tc>
                <a:tc>
                  <a:txBody>
                    <a:bodyPr/>
                    <a:lstStyle/>
                    <a:p>
                      <a:r>
                        <a:rPr sz="1250" b="0">
                          <a:solidFill>
                            <a:srgbClr val="161A23"/>
                          </a:solidFill>
                          <a:latin typeface="Calibri"/>
                        </a:rPr>
                        <a:t>0</a:t>
                      </a:r>
                    </a:p>
                  </a:txBody>
                  <a:tcPr>
                    <a:solidFill>
                      <a:srgbClr val="FFFFFF"/>
                    </a:solidFill>
                  </a:tcPr>
                </a:tc>
                <a:tc>
                  <a:txBody>
                    <a:bodyPr/>
                    <a:lstStyle/>
                    <a:p>
                      <a:r>
                        <a:rPr sz="1250" b="0">
                          <a:solidFill>
                            <a:srgbClr val="161A23"/>
                          </a:solidFill>
                          <a:latin typeface="Calibri"/>
                        </a:rPr>
                        <a:t>3</a:t>
                      </a:r>
                    </a:p>
                  </a:txBody>
                  <a:tcPr>
                    <a:solidFill>
                      <a:srgbClr val="FFFFFF"/>
                    </a:solidFill>
                  </a:tcPr>
                </a:tc>
                <a:tc>
                  <a:txBody>
                    <a:bodyPr/>
                    <a:lstStyle/>
                    <a:p>
                      <a:r>
                        <a:rPr sz="1250" b="0">
                          <a:solidFill>
                            <a:srgbClr val="161A23"/>
                          </a:solidFill>
                          <a:latin typeface="Calibri"/>
                        </a:rPr>
                        <a:t>0 tools</a:t>
                      </a:r>
                    </a:p>
                  </a:txBody>
                  <a:tcPr>
                    <a:solidFill>
                      <a:srgbClr val="FFFFFF"/>
                    </a:solidFill>
                  </a:tcPr>
                </a:tc>
              </a:tr>
              <a:tr h="365760">
                <a:tc>
                  <a:txBody>
                    <a:bodyPr/>
                    <a:lstStyle/>
                    <a:p>
                      <a:r>
                        <a:rPr sz="1250" b="0">
                          <a:solidFill>
                            <a:srgbClr val="161A23"/>
                          </a:solidFill>
                          <a:latin typeface="Calibri"/>
                        </a:rPr>
                        <a:t>Flight search</a:t>
                      </a:r>
                    </a:p>
                  </a:txBody>
                  <a:tcPr>
                    <a:solidFill>
                      <a:srgbClr val="F7F8FC"/>
                    </a:solidFill>
                  </a:tcPr>
                </a:tc>
                <a:tc>
                  <a:txBody>
                    <a:bodyPr/>
                    <a:lstStyle/>
                    <a:p>
                      <a:r>
                        <a:rPr sz="1250" b="0">
                          <a:solidFill>
                            <a:srgbClr val="161A23"/>
                          </a:solidFill>
                          <a:latin typeface="Calibri"/>
                        </a:rPr>
                        <a:t>4</a:t>
                      </a:r>
                    </a:p>
                  </a:txBody>
                  <a:tcPr>
                    <a:solidFill>
                      <a:srgbClr val="F7F8FC"/>
                    </a:solidFill>
                  </a:tcPr>
                </a:tc>
                <a:tc>
                  <a:txBody>
                    <a:bodyPr/>
                    <a:lstStyle/>
                    <a:p>
                      <a:r>
                        <a:rPr sz="1250" b="0">
                          <a:solidFill>
                            <a:srgbClr val="161A23"/>
                          </a:solidFill>
                          <a:latin typeface="Calibri"/>
                        </a:rPr>
                        <a:t>8</a:t>
                      </a:r>
                    </a:p>
                  </a:txBody>
                  <a:tcPr>
                    <a:solidFill>
                      <a:srgbClr val="F7F8FC"/>
                    </a:solidFill>
                  </a:tcPr>
                </a:tc>
                <a:tc>
                  <a:txBody>
                    <a:bodyPr/>
                    <a:lstStyle/>
                    <a:p>
                      <a:r>
                        <a:rPr sz="1250" b="0">
                          <a:solidFill>
                            <a:srgbClr val="161A23"/>
                          </a:solidFill>
                          <a:latin typeface="Calibri"/>
                        </a:rPr>
                        <a:t>1</a:t>
                      </a:r>
                    </a:p>
                  </a:txBody>
                  <a:tcPr>
                    <a:solidFill>
                      <a:srgbClr val="F7F8FC"/>
                    </a:solidFill>
                  </a:tcPr>
                </a:tc>
                <a:tc>
                  <a:txBody>
                    <a:bodyPr/>
                    <a:lstStyle/>
                    <a:p>
                      <a:r>
                        <a:rPr sz="1250" b="0">
                          <a:solidFill>
                            <a:srgbClr val="161A23"/>
                          </a:solidFill>
                          <a:latin typeface="Calibri"/>
                        </a:rPr>
                        <a:t>3</a:t>
                      </a:r>
                    </a:p>
                  </a:txBody>
                  <a:tcPr>
                    <a:solidFill>
                      <a:srgbClr val="F7F8FC"/>
                    </a:solidFill>
                  </a:tcPr>
                </a:tc>
                <a:tc>
                  <a:txBody>
                    <a:bodyPr/>
                    <a:lstStyle/>
                    <a:p>
                      <a:r>
                        <a:rPr sz="1250" b="0">
                          <a:solidFill>
                            <a:srgbClr val="161A23"/>
                          </a:solidFill>
                          <a:latin typeface="Calibri"/>
                        </a:rPr>
                        <a:t>removed</a:t>
                      </a:r>
                    </a:p>
                  </a:txBody>
                  <a:tcPr>
                    <a:solidFill>
                      <a:srgbClr val="F7F8FC"/>
                    </a:solidFill>
                  </a:tcPr>
                </a:tc>
              </a:tr>
              <a:tr h="365760">
                <a:tc>
                  <a:txBody>
                    <a:bodyPr/>
                    <a:lstStyle/>
                    <a:p>
                      <a:r>
                        <a:rPr sz="1250" b="0">
                          <a:solidFill>
                            <a:srgbClr val="161A23"/>
                          </a:solidFill>
                          <a:latin typeface="Calibri"/>
                        </a:rPr>
                        <a:t>Hotel search</a:t>
                      </a:r>
                    </a:p>
                  </a:txBody>
                  <a:tcPr>
                    <a:solidFill>
                      <a:srgbClr val="FFFFFF"/>
                    </a:solidFill>
                  </a:tcPr>
                </a:tc>
                <a:tc>
                  <a:txBody>
                    <a:bodyPr/>
                    <a:lstStyle/>
                    <a:p>
                      <a:r>
                        <a:rPr sz="1250" b="0">
                          <a:solidFill>
                            <a:srgbClr val="161A23"/>
                          </a:solidFill>
                          <a:latin typeface="Calibri"/>
                        </a:rPr>
                        <a:t>8</a:t>
                      </a:r>
                    </a:p>
                  </a:txBody>
                  <a:tcPr>
                    <a:solidFill>
                      <a:srgbClr val="FFFFFF"/>
                    </a:solidFill>
                  </a:tcPr>
                </a:tc>
                <a:tc>
                  <a:txBody>
                    <a:bodyPr/>
                    <a:lstStyle/>
                    <a:p>
                      <a:r>
                        <a:rPr sz="1250" b="0">
                          <a:solidFill>
                            <a:srgbClr val="161A23"/>
                          </a:solidFill>
                          <a:latin typeface="Calibri"/>
                        </a:rPr>
                        <a:t>10</a:t>
                      </a:r>
                    </a:p>
                  </a:txBody>
                  <a:tcPr>
                    <a:solidFill>
                      <a:srgbClr val="FFFFFF"/>
                    </a:solidFill>
                  </a:tcPr>
                </a:tc>
                <a:tc>
                  <a:txBody>
                    <a:bodyPr/>
                    <a:lstStyle/>
                    <a:p>
                      <a:r>
                        <a:rPr sz="1250" b="0">
                          <a:solidFill>
                            <a:srgbClr val="161A23"/>
                          </a:solidFill>
                          <a:latin typeface="Calibri"/>
                        </a:rPr>
                        <a:t>1</a:t>
                      </a:r>
                    </a:p>
                  </a:txBody>
                  <a:tcPr>
                    <a:solidFill>
                      <a:srgbClr val="FFFFFF"/>
                    </a:solidFill>
                  </a:tcPr>
                </a:tc>
                <a:tc>
                  <a:txBody>
                    <a:bodyPr/>
                    <a:lstStyle/>
                    <a:p>
                      <a:r>
                        <a:rPr sz="1250" b="0">
                          <a:solidFill>
                            <a:srgbClr val="161A23"/>
                          </a:solidFill>
                          <a:latin typeface="Calibri"/>
                        </a:rPr>
                        <a:t>3</a:t>
                      </a:r>
                    </a:p>
                  </a:txBody>
                  <a:tcPr>
                    <a:solidFill>
                      <a:srgbClr val="FFFFFF"/>
                    </a:solidFill>
                  </a:tcPr>
                </a:tc>
                <a:tc>
                  <a:txBody>
                    <a:bodyPr/>
                    <a:lstStyle/>
                    <a:p>
                      <a:r>
                        <a:rPr sz="1250" b="0">
                          <a:solidFill>
                            <a:srgbClr val="161A23"/>
                          </a:solidFill>
                          <a:latin typeface="Calibri"/>
                        </a:rPr>
                        <a:t>removed</a:t>
                      </a:r>
                    </a:p>
                  </a:txBody>
                  <a:tcPr>
                    <a:solidFill>
                      <a:srgbClr val="FFFFFF"/>
                    </a:solidFill>
                  </a:tcPr>
                </a:tc>
              </a:tr>
              <a:tr h="365760">
                <a:tc>
                  <a:txBody>
                    <a:bodyPr/>
                    <a:lstStyle/>
                    <a:p>
                      <a:r>
                        <a:rPr sz="1250" b="0">
                          <a:solidFill>
                            <a:srgbClr val="161A23"/>
                          </a:solidFill>
                          <a:latin typeface="Calibri"/>
                        </a:rPr>
                        <a:t>Activities</a:t>
                      </a:r>
                    </a:p>
                  </a:txBody>
                  <a:tcPr>
                    <a:solidFill>
                      <a:srgbClr val="F7F8FC"/>
                    </a:solidFill>
                  </a:tcPr>
                </a:tc>
                <a:tc>
                  <a:txBody>
                    <a:bodyPr/>
                    <a:lstStyle/>
                    <a:p>
                      <a:r>
                        <a:rPr sz="1250" b="0">
                          <a:solidFill>
                            <a:srgbClr val="161A23"/>
                          </a:solidFill>
                          <a:latin typeface="Calibri"/>
                        </a:rPr>
                        <a:t>4</a:t>
                      </a:r>
                    </a:p>
                  </a:txBody>
                  <a:tcPr>
                    <a:solidFill>
                      <a:srgbClr val="F7F8FC"/>
                    </a:solidFill>
                  </a:tcPr>
                </a:tc>
                <a:tc>
                  <a:txBody>
                    <a:bodyPr/>
                    <a:lstStyle/>
                    <a:p>
                      <a:r>
                        <a:rPr sz="1250" b="0">
                          <a:solidFill>
                            <a:srgbClr val="161A23"/>
                          </a:solidFill>
                          <a:latin typeface="Calibri"/>
                        </a:rPr>
                        <a:t>10</a:t>
                      </a:r>
                    </a:p>
                  </a:txBody>
                  <a:tcPr>
                    <a:solidFill>
                      <a:srgbClr val="F7F8FC"/>
                    </a:solidFill>
                  </a:tcPr>
                </a:tc>
                <a:tc>
                  <a:txBody>
                    <a:bodyPr/>
                    <a:lstStyle/>
                    <a:p>
                      <a:r>
                        <a:rPr sz="1250" b="0">
                          <a:solidFill>
                            <a:srgbClr val="161A23"/>
                          </a:solidFill>
                          <a:latin typeface="Calibri"/>
                        </a:rPr>
                        <a:t>2</a:t>
                      </a:r>
                    </a:p>
                  </a:txBody>
                  <a:tcPr>
                    <a:solidFill>
                      <a:srgbClr val="F7F8FC"/>
                    </a:solidFill>
                  </a:tcPr>
                </a:tc>
                <a:tc>
                  <a:txBody>
                    <a:bodyPr/>
                    <a:lstStyle/>
                    <a:p>
                      <a:r>
                        <a:rPr sz="1250" b="0">
                          <a:solidFill>
                            <a:srgbClr val="161A23"/>
                          </a:solidFill>
                          <a:latin typeface="Calibri"/>
                        </a:rPr>
                        <a:t>3</a:t>
                      </a:r>
                    </a:p>
                  </a:txBody>
                  <a:tcPr>
                    <a:solidFill>
                      <a:srgbClr val="F7F8FC"/>
                    </a:solidFill>
                  </a:tcPr>
                </a:tc>
                <a:tc>
                  <a:txBody>
                    <a:bodyPr/>
                    <a:lstStyle/>
                    <a:p>
                      <a:r>
                        <a:rPr sz="1250" b="0">
                          <a:solidFill>
                            <a:srgbClr val="161A23"/>
                          </a:solidFill>
                          <a:latin typeface="Calibri"/>
                        </a:rPr>
                        <a:t>removed</a:t>
                      </a:r>
                    </a:p>
                  </a:txBody>
                  <a:tcPr>
                    <a:solidFill>
                      <a:srgbClr val="F7F8FC"/>
                    </a:solidFill>
                  </a:tcPr>
                </a:tc>
              </a:tr>
              <a:tr h="365760">
                <a:tc>
                  <a:txBody>
                    <a:bodyPr/>
                    <a:lstStyle/>
                    <a:p>
                      <a:r>
                        <a:rPr sz="1250" b="0">
                          <a:solidFill>
                            <a:srgbClr val="161A23"/>
                          </a:solidFill>
                          <a:latin typeface="Calibri"/>
                        </a:rPr>
                        <a:t>Itinerary coordinator</a:t>
                      </a:r>
                    </a:p>
                  </a:txBody>
                  <a:tcPr>
                    <a:solidFill>
                      <a:srgbClr val="FFFFFF"/>
                    </a:solidFill>
                  </a:tcPr>
                </a:tc>
                <a:tc>
                  <a:txBody>
                    <a:bodyPr/>
                    <a:lstStyle/>
                    <a:p>
                      <a:r>
                        <a:rPr sz="1250" b="0">
                          <a:solidFill>
                            <a:srgbClr val="161A23"/>
                          </a:solidFill>
                          <a:latin typeface="Calibri"/>
                        </a:rPr>
                        <a:t>4</a:t>
                      </a:r>
                    </a:p>
                  </a:txBody>
                  <a:tcPr>
                    <a:solidFill>
                      <a:srgbClr val="FFFFFF"/>
                    </a:solidFill>
                  </a:tcPr>
                </a:tc>
                <a:tc>
                  <a:txBody>
                    <a:bodyPr/>
                    <a:lstStyle/>
                    <a:p>
                      <a:r>
                        <a:rPr sz="1250" b="0">
                          <a:solidFill>
                            <a:srgbClr val="161A23"/>
                          </a:solidFill>
                          <a:latin typeface="Calibri"/>
                        </a:rPr>
                        <a:t>15</a:t>
                      </a:r>
                    </a:p>
                  </a:txBody>
                  <a:tcPr>
                    <a:solidFill>
                      <a:srgbClr val="FFFFFF"/>
                    </a:solidFill>
                  </a:tcPr>
                </a:tc>
                <a:tc>
                  <a:txBody>
                    <a:bodyPr/>
                    <a:lstStyle/>
                    <a:p>
                      <a:r>
                        <a:rPr sz="1250" b="0">
                          <a:solidFill>
                            <a:srgbClr val="161A23"/>
                          </a:solidFill>
                          <a:latin typeface="Calibri"/>
                        </a:rPr>
                        <a:t>0</a:t>
                      </a:r>
                    </a:p>
                  </a:txBody>
                  <a:tcPr>
                    <a:solidFill>
                      <a:srgbClr val="FFFFFF"/>
                    </a:solidFill>
                  </a:tcPr>
                </a:tc>
                <a:tc>
                  <a:txBody>
                    <a:bodyPr/>
                    <a:lstStyle/>
                    <a:p>
                      <a:r>
                        <a:rPr sz="1250" b="0">
                          <a:solidFill>
                            <a:srgbClr val="161A23"/>
                          </a:solidFill>
                          <a:latin typeface="Calibri"/>
                        </a:rPr>
                        <a:t>3</a:t>
                      </a:r>
                    </a:p>
                  </a:txBody>
                  <a:tcPr>
                    <a:solidFill>
                      <a:srgbClr val="FFFFFF"/>
                    </a:solidFill>
                  </a:tcPr>
                </a:tc>
                <a:tc>
                  <a:txBody>
                    <a:bodyPr/>
                    <a:lstStyle/>
                    <a:p>
                      <a:r>
                        <a:rPr sz="1250" b="0">
                          <a:solidFill>
                            <a:srgbClr val="161A23"/>
                          </a:solidFill>
                          <a:latin typeface="Calibri"/>
                        </a:rPr>
                        <a:t>4 tools</a:t>
                      </a:r>
                    </a:p>
                  </a:txBody>
                  <a:tcPr>
                    <a:solidFill>
                      <a:srgbClr val="FFFFFF"/>
                    </a:solidFill>
                  </a:tcPr>
                </a:tc>
              </a:tr>
              <a:tr h="365760">
                <a:tc>
                  <a:txBody>
                    <a:bodyPr/>
                    <a:lstStyle/>
                    <a:p>
                      <a:r>
                        <a:rPr sz="1250" b="0">
                          <a:solidFill>
                            <a:srgbClr val="161A23"/>
                          </a:solidFill>
                          <a:latin typeface="Calibri"/>
                        </a:rPr>
                        <a:t>Conversation</a:t>
                      </a:r>
                    </a:p>
                  </a:txBody>
                  <a:tcPr>
                    <a:solidFill>
                      <a:srgbClr val="F7F8FC"/>
                    </a:solidFill>
                  </a:tcPr>
                </a:tc>
                <a:tc>
                  <a:txBody>
                    <a:bodyPr/>
                    <a:lstStyle/>
                    <a:p>
                      <a:r>
                        <a:rPr sz="1250" b="0">
                          <a:solidFill>
                            <a:srgbClr val="161A23"/>
                          </a:solidFill>
                          <a:latin typeface="Calibri"/>
                        </a:rPr>
                        <a:t>—</a:t>
                      </a:r>
                    </a:p>
                  </a:txBody>
                  <a:tcPr>
                    <a:solidFill>
                      <a:srgbClr val="F7F8FC"/>
                    </a:solidFill>
                  </a:tcPr>
                </a:tc>
                <a:tc>
                  <a:txBody>
                    <a:bodyPr/>
                    <a:lstStyle/>
                    <a:p>
                      <a:r>
                        <a:rPr sz="1250" b="0">
                          <a:solidFill>
                            <a:srgbClr val="161A23"/>
                          </a:solidFill>
                          <a:latin typeface="Calibri"/>
                        </a:rPr>
                        <a:t>—</a:t>
                      </a:r>
                    </a:p>
                  </a:txBody>
                  <a:tcPr>
                    <a:solidFill>
                      <a:srgbClr val="F7F8FC"/>
                    </a:solidFill>
                  </a:tcPr>
                </a:tc>
                <a:tc>
                  <a:txBody>
                    <a:bodyPr/>
                    <a:lstStyle/>
                    <a:p>
                      <a:r>
                        <a:rPr sz="1250" b="0">
                          <a:solidFill>
                            <a:srgbClr val="161A23"/>
                          </a:solidFill>
                          <a:latin typeface="Calibri"/>
                        </a:rPr>
                        <a:t>—</a:t>
                      </a:r>
                    </a:p>
                  </a:txBody>
                  <a:tcPr>
                    <a:solidFill>
                      <a:srgbClr val="F7F8FC"/>
                    </a:solidFill>
                  </a:tcPr>
                </a:tc>
                <a:tc>
                  <a:txBody>
                    <a:bodyPr/>
                    <a:lstStyle/>
                    <a:p>
                      <a:r>
                        <a:rPr sz="1250" b="0">
                          <a:solidFill>
                            <a:srgbClr val="161A23"/>
                          </a:solidFill>
                          <a:latin typeface="Calibri"/>
                        </a:rPr>
                        <a:t>—</a:t>
                      </a:r>
                    </a:p>
                  </a:txBody>
                  <a:tcPr>
                    <a:solidFill>
                      <a:srgbClr val="F7F8FC"/>
                    </a:solidFill>
                  </a:tcPr>
                </a:tc>
                <a:tc>
                  <a:txBody>
                    <a:bodyPr/>
                    <a:lstStyle/>
                    <a:p>
                      <a:r>
                        <a:rPr sz="1250" b="0">
                          <a:solidFill>
                            <a:srgbClr val="161A23"/>
                          </a:solidFill>
                          <a:latin typeface="Calibri"/>
                        </a:rPr>
                        <a:t>0 tools</a:t>
                      </a:r>
                    </a:p>
                  </a:txBody>
                  <a:tcPr>
                    <a:solidFill>
                      <a:srgbClr val="F7F8FC"/>
                    </a:solidFill>
                  </a:tcPr>
                </a:tc>
              </a:tr>
              <a:tr h="365760">
                <a:tc>
                  <a:txBody>
                    <a:bodyPr/>
                    <a:lstStyle/>
                    <a:p>
                      <a:r>
                        <a:rPr sz="1250" b="0">
                          <a:solidFill>
                            <a:srgbClr val="161A23"/>
                          </a:solidFill>
                          <a:latin typeface="Calibri"/>
                        </a:rPr>
                        <a:t>TOTAL TOOL SLOTS</a:t>
                      </a:r>
                    </a:p>
                  </a:txBody>
                  <a:tcPr>
                    <a:solidFill>
                      <a:srgbClr val="FFFFFF"/>
                    </a:solidFill>
                  </a:tcPr>
                </a:tc>
                <a:tc>
                  <a:txBody>
                    <a:bodyPr/>
                    <a:lstStyle/>
                    <a:p>
                      <a:r>
                        <a:rPr sz="1250" b="0">
                          <a:solidFill>
                            <a:srgbClr val="161A23"/>
                          </a:solidFill>
                          <a:latin typeface="Calibri"/>
                        </a:rPr>
                        <a:t>20</a:t>
                      </a:r>
                    </a:p>
                  </a:txBody>
                  <a:tcPr>
                    <a:solidFill>
                      <a:srgbClr val="FFFFFF"/>
                    </a:solidFill>
                  </a:tcPr>
                </a:tc>
                <a:tc>
                  <a:txBody>
                    <a:bodyPr/>
                    <a:lstStyle/>
                    <a:p>
                      <a:r>
                        <a:rPr sz="1250" b="0">
                          <a:solidFill>
                            <a:srgbClr val="161A23"/>
                          </a:solidFill>
                          <a:latin typeface="Calibri"/>
                        </a:rPr>
                        <a:t> </a:t>
                      </a:r>
                    </a:p>
                  </a:txBody>
                  <a:tcPr>
                    <a:solidFill>
                      <a:srgbClr val="FFFFFF"/>
                    </a:solidFill>
                  </a:tcPr>
                </a:tc>
                <a:tc>
                  <a:txBody>
                    <a:bodyPr/>
                    <a:lstStyle/>
                    <a:p>
                      <a:r>
                        <a:rPr sz="1250" b="0">
                          <a:solidFill>
                            <a:srgbClr val="161A23"/>
                          </a:solidFill>
                          <a:latin typeface="Calibri"/>
                        </a:rPr>
                        <a:t>4</a:t>
                      </a:r>
                    </a:p>
                  </a:txBody>
                  <a:tcPr>
                    <a:solidFill>
                      <a:srgbClr val="FFFFFF"/>
                    </a:solidFill>
                  </a:tcPr>
                </a:tc>
                <a:tc>
                  <a:txBody>
                    <a:bodyPr/>
                    <a:lstStyle/>
                    <a:p>
                      <a:r>
                        <a:rPr sz="1250" b="0">
                          <a:solidFill>
                            <a:srgbClr val="161A23"/>
                          </a:solidFill>
                          <a:latin typeface="Calibri"/>
                        </a:rPr>
                        <a:t> </a:t>
                      </a:r>
                    </a:p>
                  </a:txBody>
                  <a:tcPr>
                    <a:solidFill>
                      <a:srgbClr val="FFFFFF"/>
                    </a:solidFill>
                  </a:tcPr>
                </a:tc>
                <a:tc>
                  <a:txBody>
                    <a:bodyPr/>
                    <a:lstStyle/>
                    <a:p>
                      <a:r>
                        <a:rPr sz="1250" b="0">
                          <a:solidFill>
                            <a:srgbClr val="161A23"/>
                          </a:solidFill>
                          <a:latin typeface="Calibri"/>
                        </a:rPr>
                        <a:t>4</a:t>
                      </a:r>
                    </a:p>
                  </a:txBody>
                  <a:tcPr>
                    <a:solidFill>
                      <a:srgbClr val="FFFFFF"/>
                    </a:solidFill>
                  </a:tcPr>
                </a:tc>
              </a:tr>
            </a:tbl>
          </a:graphicData>
        </a:graphic>
      </p:graphicFrame>
      <p:sp>
        <p:nvSpPr>
          <p:cNvPr id="6" name="TextBox 5"/>
          <p:cNvSpPr txBox="1"/>
          <p:nvPr/>
        </p:nvSpPr>
        <p:spPr>
          <a:xfrm>
            <a:off x="822960" y="5394960"/>
            <a:ext cx="10515600" cy="822960"/>
          </a:xfrm>
          <a:prstGeom prst="rect">
            <a:avLst/>
          </a:prstGeom>
          <a:noFill/>
        </p:spPr>
        <p:txBody>
          <a:bodyPr wrap="square" anchor="t">
            <a:spAutoFit/>
          </a:bodyPr>
          <a:lstStyle/>
          <a:p>
            <a:pPr algn="l">
              <a:lnSpc>
                <a:spcPct val="100000"/>
              </a:lnSpc>
            </a:pPr>
            <a:r>
              <a:rPr sz="1700" b="1">
                <a:solidFill>
                  <a:srgbClr val="161A23"/>
                </a:solidFill>
                <a:latin typeface="Calibri"/>
              </a:rPr>
              <a:t>The hotel agent alone held 8 tools and 10 steps. Every step re-sent all 8 tool descriptions to the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6  ·  HOW A TOOL CALL WORKS</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12 tools, each with a checked input</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cp_lifecycle.png"/>
          <p:cNvPicPr>
            <a:picLocks noChangeAspect="1"/>
          </p:cNvPicPr>
          <p:nvPr/>
        </p:nvPicPr>
        <p:blipFill>
          <a:blip r:embed="rId2"/>
          <a:stretch>
            <a:fillRect/>
          </a:stretch>
        </p:blipFill>
        <p:spPr>
          <a:xfrm>
            <a:off x="2061943" y="1783080"/>
            <a:ext cx="8067808" cy="3931920"/>
          </a:xfrm>
          <a:prstGeom prst="rect">
            <a:avLst/>
          </a:prstGeom>
        </p:spPr>
      </p:pic>
      <p:sp>
        <p:nvSpPr>
          <p:cNvPr id="6" name="TextBox 5"/>
          <p:cNvSpPr txBox="1"/>
          <p:nvPr/>
        </p:nvSpPr>
        <p:spPr>
          <a:xfrm>
            <a:off x="822960" y="5852160"/>
            <a:ext cx="10515600" cy="640080"/>
          </a:xfrm>
          <a:prstGeom prst="rect">
            <a:avLst/>
          </a:prstGeom>
          <a:noFill/>
        </p:spPr>
        <p:txBody>
          <a:bodyPr wrap="square" anchor="t">
            <a:spAutoFit/>
          </a:bodyPr>
          <a:lstStyle/>
          <a:p>
            <a:pPr algn="l">
              <a:lnSpc>
                <a:spcPct val="100000"/>
              </a:lnSpc>
            </a:pPr>
            <a:r>
              <a:rPr sz="1500" b="0">
                <a:solidFill>
                  <a:srgbClr val="545C6E"/>
                </a:solidFill>
                <a:latin typeface="Calibri"/>
              </a:rPr>
              <a:t>The benefit: every input is checked against a schema before it reaches an API, and every reply is saved so the same request is never bought twice.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7  ·  WHAT WENT WRONG IN EACH VERSION</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Measured, not guessed. This is why D exists</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011680"/>
          <a:ext cx="10515599" cy="1828800"/>
        </p:xfrm>
        <a:graphic>
          <a:graphicData uri="http://schemas.openxmlformats.org/drawingml/2006/table">
            <a:tbl>
              <a:tblPr firstRow="1" bandRow="1">
                <a:tableStyleId>{5C22544A-7EE6-4342-B048-85BDC9FD1C3A}</a:tableStyleId>
              </a:tblPr>
              <a:tblGrid>
                <a:gridCol w="477981"/>
                <a:gridCol w="10037618"/>
              </a:tblGrid>
              <a:tr h="365760">
                <a:tc>
                  <a:txBody>
                    <a:bodyPr/>
                    <a:lstStyle/>
                    <a:p>
                      <a:r>
                        <a:rPr sz="1300" b="1">
                          <a:solidFill>
                            <a:srgbClr val="FFFFFF"/>
                          </a:solidFill>
                          <a:latin typeface="Calibri"/>
                        </a:rPr>
                        <a:t> </a:t>
                      </a:r>
                    </a:p>
                  </a:txBody>
                  <a:tcPr>
                    <a:solidFill>
                      <a:srgbClr val="4338CA"/>
                    </a:solidFill>
                  </a:tcPr>
                </a:tc>
                <a:tc>
                  <a:txBody>
                    <a:bodyPr/>
                    <a:lstStyle/>
                    <a:p>
                      <a:r>
                        <a:rPr sz="1300" b="1">
                          <a:solidFill>
                            <a:srgbClr val="FFFFFF"/>
                          </a:solidFill>
                          <a:latin typeface="Calibri"/>
                        </a:rPr>
                        <a:t>The problem I measured</a:t>
                      </a:r>
                    </a:p>
                  </a:txBody>
                  <a:tcPr>
                    <a:solidFill>
                      <a:srgbClr val="4338CA"/>
                    </a:solidFill>
                  </a:tcPr>
                </a:tc>
              </a:tr>
              <a:tr h="365760">
                <a:tc>
                  <a:txBody>
                    <a:bodyPr/>
                    <a:lstStyle/>
                    <a:p>
                      <a:r>
                        <a:rPr sz="1300" b="0">
                          <a:solidFill>
                            <a:srgbClr val="161A23"/>
                          </a:solidFill>
                          <a:latin typeface="Calibri"/>
                        </a:rPr>
                        <a:t>A</a:t>
                      </a:r>
                    </a:p>
                  </a:txBody>
                  <a:tcPr>
                    <a:solidFill>
                      <a:srgbClr val="FFFFFF"/>
                    </a:solidFill>
                  </a:tcPr>
                </a:tc>
                <a:tc>
                  <a:txBody>
                    <a:bodyPr/>
                    <a:lstStyle/>
                    <a:p>
                      <a:r>
                        <a:rPr sz="1300" b="0">
                          <a:solidFill>
                            <a:srgbClr val="161A23"/>
                          </a:solidFill>
                          <a:latin typeface="Calibri"/>
                        </a:rPr>
                        <a:t>No tools, so it invents everything. Only 1.7% of its prices matched a real fare</a:t>
                      </a:r>
                    </a:p>
                  </a:txBody>
                  <a:tcPr>
                    <a:solidFill>
                      <a:srgbClr val="FFFFFF"/>
                    </a:solidFill>
                  </a:tcPr>
                </a:tc>
              </a:tr>
              <a:tr h="365760">
                <a:tc>
                  <a:txBody>
                    <a:bodyPr/>
                    <a:lstStyle/>
                    <a:p>
                      <a:r>
                        <a:rPr sz="1300" b="0">
                          <a:solidFill>
                            <a:srgbClr val="161A23"/>
                          </a:solidFill>
                          <a:latin typeface="Calibri"/>
                        </a:rPr>
                        <a:t>B</a:t>
                      </a:r>
                    </a:p>
                  </a:txBody>
                  <a:tcPr>
                    <a:solidFill>
                      <a:srgbClr val="F7F8FC"/>
                    </a:solidFill>
                  </a:tcPr>
                </a:tc>
                <a:tc>
                  <a:txBody>
                    <a:bodyPr/>
                    <a:lstStyle/>
                    <a:p>
                      <a:r>
                        <a:rPr sz="1300" b="0">
                          <a:solidFill>
                            <a:srgbClr val="161A23"/>
                          </a:solidFill>
                          <a:latin typeface="Calibri"/>
                        </a:rPr>
                        <a:t>Skipped its own tools: never called the attractions or the restaurant tool once. Twice produced broken output it had to redo</a:t>
                      </a:r>
                    </a:p>
                  </a:txBody>
                  <a:tcPr>
                    <a:solidFill>
                      <a:srgbClr val="F7F8FC"/>
                    </a:solidFill>
                  </a:tcPr>
                </a:tc>
              </a:tr>
              <a:tr h="365760">
                <a:tc>
                  <a:txBody>
                    <a:bodyPr/>
                    <a:lstStyle/>
                    <a:p>
                      <a:r>
                        <a:rPr sz="1300" b="0">
                          <a:solidFill>
                            <a:srgbClr val="161A23"/>
                          </a:solidFill>
                          <a:latin typeface="Calibri"/>
                        </a:rPr>
                        <a:t>C</a:t>
                      </a:r>
                    </a:p>
                  </a:txBody>
                  <a:tcPr>
                    <a:solidFill>
                      <a:srgbClr val="FFFFFF"/>
                    </a:solidFill>
                  </a:tcPr>
                </a:tc>
                <a:tc>
                  <a:txBody>
                    <a:bodyPr/>
                    <a:lstStyle/>
                    <a:p>
                      <a:r>
                        <a:rPr sz="1300" b="0">
                          <a:solidFill>
                            <a:srgbClr val="161A23"/>
                          </a:solidFill>
                          <a:latin typeface="Calibri"/>
                        </a:rPr>
                        <a:t>Better, but still unreliable: never called the flight tool at all on the recorded run</a:t>
                      </a:r>
                    </a:p>
                  </a:txBody>
                  <a:tcPr>
                    <a:solidFill>
                      <a:srgbClr val="FFFFFF"/>
                    </a:solidFill>
                  </a:tcPr>
                </a:tc>
              </a:tr>
              <a:tr h="365760">
                <a:tc>
                  <a:txBody>
                    <a:bodyPr/>
                    <a:lstStyle/>
                    <a:p>
                      <a:r>
                        <a:rPr sz="1300" b="0">
                          <a:solidFill>
                            <a:srgbClr val="161A23"/>
                          </a:solidFill>
                          <a:latin typeface="Calibri"/>
                        </a:rPr>
                        <a:t>D</a:t>
                      </a:r>
                    </a:p>
                  </a:txBody>
                  <a:tcPr>
                    <a:solidFill>
                      <a:srgbClr val="F7F8FC"/>
                    </a:solidFill>
                  </a:tcPr>
                </a:tc>
                <a:tc>
                  <a:txBody>
                    <a:bodyPr/>
                    <a:lstStyle/>
                    <a:p>
                      <a:r>
                        <a:rPr sz="1300" b="0">
                          <a:solidFill>
                            <a:srgbClr val="161A23"/>
                          </a:solidFill>
                          <a:latin typeface="Calibri"/>
                        </a:rPr>
                        <a:t>Always makes exactly the same 5 requests, because code decides, not AI. Nothing is skipped</a:t>
                      </a:r>
                    </a:p>
                  </a:txBody>
                  <a:tcPr>
                    <a:solidFill>
                      <a:srgbClr val="F7F8FC"/>
                    </a:solidFill>
                  </a:tcPr>
                </a:tc>
              </a:tr>
            </a:tbl>
          </a:graphicData>
        </a:graphic>
      </p:graphicFrame>
      <p:sp>
        <p:nvSpPr>
          <p:cNvPr id="6" name="TextBox 5"/>
          <p:cNvSpPr txBox="1"/>
          <p:nvPr/>
        </p:nvSpPr>
        <p:spPr>
          <a:xfrm>
            <a:off x="822960" y="4937760"/>
            <a:ext cx="10515600" cy="1188720"/>
          </a:xfrm>
          <a:prstGeom prst="rect">
            <a:avLst/>
          </a:prstGeom>
          <a:noFill/>
        </p:spPr>
        <p:txBody>
          <a:bodyPr wrap="square" anchor="t">
            <a:spAutoFit/>
          </a:bodyPr>
          <a:lstStyle/>
          <a:p>
            <a:pPr algn="l">
              <a:lnSpc>
                <a:spcPct val="125000"/>
              </a:lnSpc>
            </a:pPr>
            <a:r>
              <a:rPr sz="2100" b="1">
                <a:solidFill>
                  <a:srgbClr val="A85B00"/>
                </a:solidFill>
                <a:latin typeface="Calibri"/>
              </a:rPr>
              <a:t>When AI decides which tools to call, it sometimes does not call them.</a:t>
            </a:r>
          </a:p>
          <a:p>
            <a:pPr algn="l">
              <a:lnSpc>
                <a:spcPct val="125000"/>
              </a:lnSpc>
            </a:pPr>
            <a:r>
              <a:rPr sz="1700" b="0">
                <a:solidFill>
                  <a:srgbClr val="545C6E"/>
                </a:solidFill>
                <a:latin typeface="Calibri"/>
              </a:rPr>
              <a:t>The plan still looks finished. That is what makes it dangerous.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8  ·  BUDGET: DIVIDING THE MONEY</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Worked out from the trip, not a fixed percentage</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011680"/>
          <a:ext cx="10515600" cy="2194560"/>
        </p:xfrm>
        <a:graphic>
          <a:graphicData uri="http://schemas.openxmlformats.org/drawingml/2006/table">
            <a:tbl>
              <a:tblPr firstRow="1" bandRow="1">
                <a:tableStyleId>{5C22544A-7EE6-4342-B048-85BDC9FD1C3A}</a:tableStyleId>
              </a:tblPr>
              <a:tblGrid>
                <a:gridCol w="2628900"/>
                <a:gridCol w="7886700"/>
              </a:tblGrid>
              <a:tr h="365760">
                <a:tc>
                  <a:txBody>
                    <a:bodyPr/>
                    <a:lstStyle/>
                    <a:p>
                      <a:r>
                        <a:rPr sz="1350" b="1">
                          <a:solidFill>
                            <a:srgbClr val="FFFFFF"/>
                          </a:solidFill>
                          <a:latin typeface="Calibri"/>
                        </a:rPr>
                        <a:t>The traveller says</a:t>
                      </a:r>
                    </a:p>
                  </a:txBody>
                  <a:tcPr>
                    <a:solidFill>
                      <a:srgbClr val="4338CA"/>
                    </a:solidFill>
                  </a:tcPr>
                </a:tc>
                <a:tc>
                  <a:txBody>
                    <a:bodyPr/>
                    <a:lstStyle/>
                    <a:p>
                      <a:r>
                        <a:rPr sz="1350" b="1">
                          <a:solidFill>
                            <a:srgbClr val="FFFFFF"/>
                          </a:solidFill>
                          <a:latin typeface="Calibri"/>
                        </a:rPr>
                        <a:t>What changes</a:t>
                      </a:r>
                    </a:p>
                  </a:txBody>
                  <a:tcPr>
                    <a:solidFill>
                      <a:srgbClr val="4338CA"/>
                    </a:solidFill>
                  </a:tcPr>
                </a:tc>
              </a:tr>
              <a:tr h="365760">
                <a:tc>
                  <a:txBody>
                    <a:bodyPr/>
                    <a:lstStyle/>
                    <a:p>
                      <a:r>
                        <a:rPr sz="1350" b="0">
                          <a:solidFill>
                            <a:srgbClr val="161A23"/>
                          </a:solidFill>
                          <a:latin typeface="Calibri"/>
                        </a:rPr>
                        <a:t>nothing</a:t>
                      </a:r>
                    </a:p>
                  </a:txBody>
                  <a:tcPr>
                    <a:solidFill>
                      <a:srgbClr val="FFFFFF"/>
                    </a:solidFill>
                  </a:tcPr>
                </a:tc>
                <a:tc>
                  <a:txBody>
                    <a:bodyPr/>
                    <a:lstStyle/>
                    <a:p>
                      <a:r>
                        <a:rPr sz="1350" b="0">
                          <a:solidFill>
                            <a:srgbClr val="161A23"/>
                          </a:solidFill>
                          <a:latin typeface="Calibri"/>
                        </a:rPr>
                        <a:t>Split comes from what this trip's parts actually cost</a:t>
                      </a:r>
                    </a:p>
                  </a:txBody>
                  <a:tcPr>
                    <a:solidFill>
                      <a:srgbClr val="FFFFFF"/>
                    </a:solidFill>
                  </a:tcPr>
                </a:tc>
              </a:tr>
              <a:tr h="365760">
                <a:tc>
                  <a:txBody>
                    <a:bodyPr/>
                    <a:lstStyle/>
                    <a:p>
                      <a:r>
                        <a:rPr sz="1350" b="0">
                          <a:solidFill>
                            <a:srgbClr val="161A23"/>
                          </a:solidFill>
                          <a:latin typeface="Calibri"/>
                        </a:rPr>
                        <a:t>"a luxury stay"</a:t>
                      </a:r>
                    </a:p>
                  </a:txBody>
                  <a:tcPr>
                    <a:solidFill>
                      <a:srgbClr val="F7F8FC"/>
                    </a:solidFill>
                  </a:tcPr>
                </a:tc>
                <a:tc>
                  <a:txBody>
                    <a:bodyPr/>
                    <a:lstStyle/>
                    <a:p>
                      <a:r>
                        <a:rPr sz="1350" b="0">
                          <a:solidFill>
                            <a:srgbClr val="161A23"/>
                          </a:solidFill>
                          <a:latin typeface="Calibri"/>
                        </a:rPr>
                        <a:t>More to the room. Flights and food stay sensible</a:t>
                      </a:r>
                    </a:p>
                  </a:txBody>
                  <a:tcPr>
                    <a:solidFill>
                      <a:srgbClr val="F7F8FC"/>
                    </a:solidFill>
                  </a:tcPr>
                </a:tc>
              </a:tr>
              <a:tr h="365760">
                <a:tc>
                  <a:txBody>
                    <a:bodyPr/>
                    <a:lstStyle/>
                    <a:p>
                      <a:r>
                        <a:rPr sz="1350" b="0">
                          <a:solidFill>
                            <a:srgbClr val="161A23"/>
                          </a:solidFill>
                          <a:latin typeface="Calibri"/>
                        </a:rPr>
                        <a:t>"luxury trip"</a:t>
                      </a:r>
                    </a:p>
                  </a:txBody>
                  <a:tcPr>
                    <a:solidFill>
                      <a:srgbClr val="FFFFFF"/>
                    </a:solidFill>
                  </a:tcPr>
                </a:tc>
                <a:tc>
                  <a:txBody>
                    <a:bodyPr/>
                    <a:lstStyle/>
                    <a:p>
                      <a:r>
                        <a:rPr sz="1350" b="0">
                          <a:solidFill>
                            <a:srgbClr val="161A23"/>
                          </a:solidFill>
                          <a:latin typeface="Calibri"/>
                        </a:rPr>
                        <a:t>Spread across the room, the food and the doing</a:t>
                      </a:r>
                    </a:p>
                  </a:txBody>
                  <a:tcPr>
                    <a:solidFill>
                      <a:srgbClr val="FFFFFF"/>
                    </a:solidFill>
                  </a:tcPr>
                </a:tc>
              </a:tr>
              <a:tr h="365760">
                <a:tc>
                  <a:txBody>
                    <a:bodyPr/>
                    <a:lstStyle/>
                    <a:p>
                      <a:r>
                        <a:rPr sz="1350" b="0">
                          <a:solidFill>
                            <a:srgbClr val="161A23"/>
                          </a:solidFill>
                          <a:latin typeface="Calibri"/>
                        </a:rPr>
                        <a:t>"I can compromise"</a:t>
                      </a:r>
                    </a:p>
                  </a:txBody>
                  <a:tcPr>
                    <a:solidFill>
                      <a:srgbClr val="F7F8FC"/>
                    </a:solidFill>
                  </a:tcPr>
                </a:tc>
                <a:tc>
                  <a:txBody>
                    <a:bodyPr/>
                    <a:lstStyle/>
                    <a:p>
                      <a:r>
                        <a:rPr sz="1350" b="0">
                          <a:solidFill>
                            <a:srgbClr val="161A23"/>
                          </a:solidFill>
                          <a:latin typeface="Calibri"/>
                        </a:rPr>
                        <a:t>Money moves out of the room into experiences</a:t>
                      </a:r>
                    </a:p>
                  </a:txBody>
                  <a:tcPr>
                    <a:solidFill>
                      <a:srgbClr val="F7F8FC"/>
                    </a:solidFill>
                  </a:tcPr>
                </a:tc>
              </a:tr>
              <a:tr h="365760">
                <a:tc>
                  <a:txBody>
                    <a:bodyPr/>
                    <a:lstStyle/>
                    <a:p>
                      <a:r>
                        <a:rPr sz="1350" b="0">
                          <a:solidFill>
                            <a:srgbClr val="161A23"/>
                          </a:solidFill>
                          <a:latin typeface="Calibri"/>
                        </a:rPr>
                        <a:t>their own split</a:t>
                      </a:r>
                    </a:p>
                  </a:txBody>
                  <a:tcPr>
                    <a:solidFill>
                      <a:srgbClr val="FFFFFF"/>
                    </a:solidFill>
                  </a:tcPr>
                </a:tc>
                <a:tc>
                  <a:txBody>
                    <a:bodyPr/>
                    <a:lstStyle/>
                    <a:p>
                      <a:r>
                        <a:rPr sz="1350" b="0">
                          <a:solidFill>
                            <a:srgbClr val="161A23"/>
                          </a:solidFill>
                          <a:latin typeface="Calibri"/>
                        </a:rPr>
                        <a:t>Used exactly as given. It is their money</a:t>
                      </a:r>
                    </a:p>
                  </a:txBody>
                  <a:tcPr>
                    <a:solidFill>
                      <a:srgbClr val="FFFFFF"/>
                    </a:solidFill>
                  </a:tcPr>
                </a:tc>
              </a:tr>
            </a:tbl>
          </a:graphicData>
        </a:graphic>
      </p:graphicFrame>
      <p:sp>
        <p:nvSpPr>
          <p:cNvPr id="6" name="TextBox 5"/>
          <p:cNvSpPr txBox="1"/>
          <p:nvPr/>
        </p:nvSpPr>
        <p:spPr>
          <a:xfrm>
            <a:off x="822960" y="5120640"/>
            <a:ext cx="10515600" cy="1005840"/>
          </a:xfrm>
          <a:prstGeom prst="rect">
            <a:avLst/>
          </a:prstGeom>
          <a:noFill/>
        </p:spPr>
        <p:txBody>
          <a:bodyPr wrap="square" anchor="t">
            <a:spAutoFit/>
          </a:bodyPr>
          <a:lstStyle/>
          <a:p>
            <a:pPr algn="l">
              <a:lnSpc>
                <a:spcPct val="100000"/>
              </a:lnSpc>
            </a:pPr>
            <a:r>
              <a:rPr sz="1800" b="1">
                <a:solidFill>
                  <a:srgbClr val="161A23"/>
                </a:solidFill>
                <a:latin typeface="Calibri"/>
              </a:rPr>
              <a:t>A fixed percentage cannot know that a long-haul flight eats the budget and a short one does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9  ·  BUDGET: IS THE TRIP EVEN POSSIBLE?</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It refuses, and says what would work</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$800</a:t>
            </a:r>
          </a:p>
        </p:txBody>
      </p:sp>
      <p:sp>
        <p:nvSpPr>
          <p:cNvPr id="6" name="TextBox 5"/>
          <p:cNvSpPr txBox="1"/>
          <p:nvPr/>
        </p:nvSpPr>
        <p:spPr>
          <a:xfrm>
            <a:off x="822960"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asked for
4 nights in Istanbul</a:t>
            </a:r>
          </a:p>
        </p:txBody>
      </p:sp>
      <p:sp>
        <p:nvSpPr>
          <p:cNvPr id="7" name="TextBox 6"/>
          <p:cNvSpPr txBox="1"/>
          <p:nvPr/>
        </p:nvSpPr>
        <p:spPr>
          <a:xfrm>
            <a:off x="4338218"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$837</a:t>
            </a:r>
          </a:p>
        </p:txBody>
      </p:sp>
      <p:sp>
        <p:nvSpPr>
          <p:cNvPr id="8" name="TextBox 7"/>
          <p:cNvSpPr txBox="1"/>
          <p:nvPr/>
        </p:nvSpPr>
        <p:spPr>
          <a:xfrm>
            <a:off x="4338218"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the cheapest it can
actually be done for</a:t>
            </a:r>
          </a:p>
        </p:txBody>
      </p:sp>
      <p:sp>
        <p:nvSpPr>
          <p:cNvPr id="9" name="TextBox 8"/>
          <p:cNvSpPr txBox="1"/>
          <p:nvPr/>
        </p:nvSpPr>
        <p:spPr>
          <a:xfrm>
            <a:off x="7853476"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REFUSED</a:t>
            </a:r>
          </a:p>
        </p:txBody>
      </p:sp>
      <p:sp>
        <p:nvSpPr>
          <p:cNvPr id="10" name="TextBox 9"/>
          <p:cNvSpPr txBox="1"/>
          <p:nvPr/>
        </p:nvSpPr>
        <p:spPr>
          <a:xfrm>
            <a:off x="7853476"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with the shortfall named,
and three ways to fix it</a:t>
            </a:r>
          </a:p>
        </p:txBody>
      </p:sp>
      <p:sp>
        <p:nvSpPr>
          <p:cNvPr id="11" name="TextBox 10"/>
          <p:cNvSpPr txBox="1"/>
          <p:nvPr/>
        </p:nvSpPr>
        <p:spPr>
          <a:xfrm>
            <a:off x="822960" y="4754880"/>
            <a:ext cx="10515600" cy="1371600"/>
          </a:xfrm>
          <a:prstGeom prst="rect">
            <a:avLst/>
          </a:prstGeom>
          <a:noFill/>
        </p:spPr>
        <p:txBody>
          <a:bodyPr wrap="square" anchor="t">
            <a:spAutoFit/>
          </a:bodyPr>
          <a:lstStyle/>
          <a:p>
            <a:pPr algn="l">
              <a:lnSpc>
                <a:spcPct val="130000"/>
              </a:lnSpc>
            </a:pPr>
            <a:r>
              <a:rPr sz="1900" b="1">
                <a:solidFill>
                  <a:srgbClr val="161A23"/>
                </a:solidFill>
                <a:latin typeface="Calibri"/>
              </a:rPr>
              <a:t>Why $837? Because it checks the real recorded fare, not a built-in table.</a:t>
            </a:r>
          </a:p>
          <a:p>
            <a:pPr algn="l">
              <a:lnSpc>
                <a:spcPct val="130000"/>
              </a:lnSpc>
            </a:pPr>
            <a:r>
              <a:rPr sz="1700" b="0">
                <a:solidFill>
                  <a:srgbClr val="545C6E"/>
                </a:solidFill>
                <a:latin typeface="Calibri"/>
              </a:rPr>
              <a:t>The table said a medium-haul flight starts at $350. The API actually returned $734 — the table was 52% too 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10  ·  RESULT: COST</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Fetching data is where the money went</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fficiency.png"/>
          <p:cNvPicPr>
            <a:picLocks noChangeAspect="1"/>
          </p:cNvPicPr>
          <p:nvPr/>
        </p:nvPicPr>
        <p:blipFill>
          <a:blip r:embed="rId2"/>
          <a:stretch>
            <a:fillRect/>
          </a:stretch>
        </p:blipFill>
        <p:spPr>
          <a:xfrm>
            <a:off x="2692927" y="1783080"/>
            <a:ext cx="6805840" cy="4023360"/>
          </a:xfrm>
          <a:prstGeom prst="rect">
            <a:avLst/>
          </a:prstGeom>
        </p:spPr>
      </p:pic>
      <p:sp>
        <p:nvSpPr>
          <p:cNvPr id="6" name="TextBox 5"/>
          <p:cNvSpPr txBox="1"/>
          <p:nvPr/>
        </p:nvSpPr>
        <p:spPr>
          <a:xfrm>
            <a:off x="822960" y="5943600"/>
            <a:ext cx="10515600" cy="548640"/>
          </a:xfrm>
          <a:prstGeom prst="rect">
            <a:avLst/>
          </a:prstGeom>
          <a:noFill/>
        </p:spPr>
        <p:txBody>
          <a:bodyPr wrap="square" anchor="t">
            <a:spAutoFit/>
          </a:bodyPr>
          <a:lstStyle/>
          <a:p>
            <a:pPr algn="l">
              <a:lnSpc>
                <a:spcPct val="100000"/>
              </a:lnSpc>
            </a:pPr>
            <a:r>
              <a:rPr sz="1600" b="1">
                <a:solidFill>
                  <a:srgbClr val="161A23"/>
                </a:solidFill>
                <a:latin typeface="Calibri"/>
              </a:rPr>
              <a:t>B sent 120,703 units of text.  D sent 7,840.  Same trip, same data, same AI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11  ·  RESULT: IS THE PLAN REAL?</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Cheaper, and no less accurate</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roundedness.png"/>
          <p:cNvPicPr>
            <a:picLocks noChangeAspect="1"/>
          </p:cNvPicPr>
          <p:nvPr/>
        </p:nvPicPr>
        <p:blipFill>
          <a:blip r:embed="rId2"/>
          <a:stretch>
            <a:fillRect/>
          </a:stretch>
        </p:blipFill>
        <p:spPr>
          <a:xfrm>
            <a:off x="-115629" y="1783080"/>
            <a:ext cx="12422953" cy="4023360"/>
          </a:xfrm>
          <a:prstGeom prst="rect">
            <a:avLst/>
          </a:prstGeom>
        </p:spPr>
      </p:pic>
      <p:sp>
        <p:nvSpPr>
          <p:cNvPr id="6" name="TextBox 5"/>
          <p:cNvSpPr txBox="1"/>
          <p:nvPr/>
        </p:nvSpPr>
        <p:spPr>
          <a:xfrm>
            <a:off x="822960" y="5943600"/>
            <a:ext cx="10515600" cy="548640"/>
          </a:xfrm>
          <a:prstGeom prst="rect">
            <a:avLst/>
          </a:prstGeom>
          <a:noFill/>
        </p:spPr>
        <p:txBody>
          <a:bodyPr wrap="square" anchor="t">
            <a:spAutoFit/>
          </a:bodyPr>
          <a:lstStyle/>
          <a:p>
            <a:pPr algn="l">
              <a:lnSpc>
                <a:spcPct val="100000"/>
              </a:lnSpc>
            </a:pPr>
            <a:r>
              <a:rPr sz="1600" b="1">
                <a:solidFill>
                  <a:srgbClr val="161A23"/>
                </a:solidFill>
                <a:latin typeface="Calibri"/>
              </a:rPr>
              <a:t>Prices matching a real fare:   A 1.7%   ·   B 22.9%   ·   C 56.3%   ·   D 46.6%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12  ·  PROBLEMS IN MY OWN SYSTEM</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Found by measuring it. Reported, not hidden</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3/9</a:t>
            </a:r>
          </a:p>
        </p:txBody>
      </p:sp>
      <p:sp>
        <p:nvSpPr>
          <p:cNvPr id="6" name="TextBox 5"/>
          <p:cNvSpPr txBox="1"/>
          <p:nvPr/>
        </p:nvSpPr>
        <p:spPr>
          <a:xfrm>
            <a:off x="822960"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design checks pass.
Six things I claimed do not happen</a:t>
            </a:r>
          </a:p>
        </p:txBody>
      </p:sp>
      <p:sp>
        <p:nvSpPr>
          <p:cNvPr id="7" name="TextBox 6"/>
          <p:cNvSpPr txBox="1"/>
          <p:nvPr/>
        </p:nvSpPr>
        <p:spPr>
          <a:xfrm>
            <a:off x="4338218"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50%</a:t>
            </a:r>
          </a:p>
        </p:txBody>
      </p:sp>
      <p:sp>
        <p:nvSpPr>
          <p:cNvPr id="8" name="TextBox 7"/>
          <p:cNvSpPr txBox="1"/>
          <p:nvPr/>
        </p:nvSpPr>
        <p:spPr>
          <a:xfrm>
            <a:off x="4338218"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of impossible budgets caught.
It misses the other half</a:t>
            </a:r>
          </a:p>
        </p:txBody>
      </p:sp>
      <p:sp>
        <p:nvSpPr>
          <p:cNvPr id="9" name="TextBox 8"/>
          <p:cNvSpPr txBox="1"/>
          <p:nvPr/>
        </p:nvSpPr>
        <p:spPr>
          <a:xfrm>
            <a:off x="7853476"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1/20</a:t>
            </a:r>
          </a:p>
        </p:txBody>
      </p:sp>
      <p:sp>
        <p:nvSpPr>
          <p:cNvPr id="10" name="TextBox 9"/>
          <p:cNvSpPr txBox="1"/>
          <p:nvPr/>
        </p:nvSpPr>
        <p:spPr>
          <a:xfrm>
            <a:off x="7853476"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trips measured for cost.
The API limits stopped me</a:t>
            </a:r>
          </a:p>
        </p:txBody>
      </p:sp>
      <p:sp>
        <p:nvSpPr>
          <p:cNvPr id="11" name="TextBox 10"/>
          <p:cNvSpPr txBox="1"/>
          <p:nvPr/>
        </p:nvSpPr>
        <p:spPr>
          <a:xfrm>
            <a:off x="822960" y="4846320"/>
            <a:ext cx="10515600" cy="1280160"/>
          </a:xfrm>
          <a:prstGeom prst="rect">
            <a:avLst/>
          </a:prstGeom>
          <a:noFill/>
        </p:spPr>
        <p:txBody>
          <a:bodyPr wrap="square" anchor="t">
            <a:spAutoFit/>
          </a:bodyPr>
          <a:lstStyle/>
          <a:p>
            <a:pPr algn="l">
              <a:lnSpc>
                <a:spcPct val="125000"/>
              </a:lnSpc>
            </a:pPr>
            <a:r>
              <a:rPr sz="2000" b="1">
                <a:solidFill>
                  <a:srgbClr val="161A23"/>
                </a:solidFill>
                <a:latin typeface="Calibri"/>
              </a:rPr>
              <a:t>All three are in the report, with the evidence.</a:t>
            </a:r>
          </a:p>
          <a:p>
            <a:pPr algn="l">
              <a:lnSpc>
                <a:spcPct val="125000"/>
              </a:lnSpc>
            </a:pPr>
            <a:r>
              <a:rPr sz="1700" b="0">
                <a:solidFill>
                  <a:srgbClr val="545C6E"/>
                </a:solidFill>
                <a:latin typeface="Calibri"/>
              </a:rPr>
              <a:t>An evaluation that only confirms its author is not an evaluation.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13  ·  WHY THIS MATTERS</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Beyond one travel planner</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011680"/>
          <a:ext cx="10515599" cy="1828800"/>
        </p:xfrm>
        <a:graphic>
          <a:graphicData uri="http://schemas.openxmlformats.org/drawingml/2006/table">
            <a:tbl>
              <a:tblPr firstRow="1" bandRow="1">
                <a:tableStyleId>{5C22544A-7EE6-4342-B048-85BDC9FD1C3A}</a:tableStyleId>
              </a:tblPr>
              <a:tblGrid>
                <a:gridCol w="477981"/>
                <a:gridCol w="10037618"/>
              </a:tblGrid>
              <a:tr h="365760">
                <a:tc>
                  <a:txBody>
                    <a:bodyPr/>
                    <a:lstStyle/>
                    <a:p>
                      <a:r>
                        <a:rPr sz="1400" b="1">
                          <a:solidFill>
                            <a:srgbClr val="FFFFFF"/>
                          </a:solidFill>
                          <a:latin typeface="Calibri"/>
                        </a:rPr>
                        <a:t> </a:t>
                      </a:r>
                    </a:p>
                  </a:txBody>
                  <a:tcPr>
                    <a:solidFill>
                      <a:srgbClr val="4338CA"/>
                    </a:solidFill>
                  </a:tcPr>
                </a:tc>
                <a:tc>
                  <a:txBody>
                    <a:bodyPr/>
                    <a:lstStyle/>
                    <a:p>
                      <a:r>
                        <a:rPr sz="1400" b="1">
                          <a:solidFill>
                            <a:srgbClr val="FFFFFF"/>
                          </a:solidFill>
                          <a:latin typeface="Calibri"/>
                        </a:rPr>
                        <a:t>What this project shows</a:t>
                      </a:r>
                    </a:p>
                  </a:txBody>
                  <a:tcPr>
                    <a:solidFill>
                      <a:srgbClr val="4338CA"/>
                    </a:solidFill>
                  </a:tcPr>
                </a:tc>
              </a:tr>
              <a:tr h="365760">
                <a:tc>
                  <a:txBody>
                    <a:bodyPr/>
                    <a:lstStyle/>
                    <a:p>
                      <a:r>
                        <a:rPr sz="1400" b="0">
                          <a:solidFill>
                            <a:srgbClr val="161A23"/>
                          </a:solidFill>
                          <a:latin typeface="Calibri"/>
                        </a:rPr>
                        <a:t>1</a:t>
                      </a:r>
                    </a:p>
                  </a:txBody>
                  <a:tcPr>
                    <a:solidFill>
                      <a:srgbClr val="FFFFFF"/>
                    </a:solidFill>
                  </a:tcPr>
                </a:tc>
                <a:tc>
                  <a:txBody>
                    <a:bodyPr/>
                    <a:lstStyle/>
                    <a:p>
                      <a:r>
                        <a:rPr sz="1400" b="0">
                          <a:solidFill>
                            <a:srgbClr val="161A23"/>
                          </a:solidFill>
                          <a:latin typeface="Calibri"/>
                        </a:rPr>
                        <a:t>AI agents are expensive by default, and most of the cost buys work that needs no intelligence</a:t>
                      </a:r>
                    </a:p>
                  </a:txBody>
                  <a:tcPr>
                    <a:solidFill>
                      <a:srgbClr val="FFFFFF"/>
                    </a:solidFill>
                  </a:tcPr>
                </a:tc>
              </a:tr>
              <a:tr h="365760">
                <a:tc>
                  <a:txBody>
                    <a:bodyPr/>
                    <a:lstStyle/>
                    <a:p>
                      <a:r>
                        <a:rPr sz="1400" b="0">
                          <a:solidFill>
                            <a:srgbClr val="161A23"/>
                          </a:solidFill>
                          <a:latin typeface="Calibri"/>
                        </a:rPr>
                        <a:t>2</a:t>
                      </a:r>
                    </a:p>
                  </a:txBody>
                  <a:tcPr>
                    <a:solidFill>
                      <a:srgbClr val="F7F8FC"/>
                    </a:solidFill>
                  </a:tcPr>
                </a:tc>
                <a:tc>
                  <a:txBody>
                    <a:bodyPr/>
                    <a:lstStyle/>
                    <a:p>
                      <a:r>
                        <a:rPr sz="1400" b="0">
                          <a:solidFill>
                            <a:srgbClr val="161A23"/>
                          </a:solidFill>
                          <a:latin typeface="Calibri"/>
                        </a:rPr>
                        <a:t>Giving an agent a tool does not mean it will use it. Mine skipped tools and still produced confident plans</a:t>
                      </a:r>
                    </a:p>
                  </a:txBody>
                  <a:tcPr>
                    <a:solidFill>
                      <a:srgbClr val="F7F8FC"/>
                    </a:solidFill>
                  </a:tcPr>
                </a:tc>
              </a:tr>
              <a:tr h="365760">
                <a:tc>
                  <a:txBody>
                    <a:bodyPr/>
                    <a:lstStyle/>
                    <a:p>
                      <a:r>
                        <a:rPr sz="1400" b="0">
                          <a:solidFill>
                            <a:srgbClr val="161A23"/>
                          </a:solidFill>
                          <a:latin typeface="Calibri"/>
                        </a:rPr>
                        <a:t>3</a:t>
                      </a:r>
                    </a:p>
                  </a:txBody>
                  <a:tcPr>
                    <a:solidFill>
                      <a:srgbClr val="FFFFFF"/>
                    </a:solidFill>
                  </a:tcPr>
                </a:tc>
                <a:tc>
                  <a:txBody>
                    <a:bodyPr/>
                    <a:lstStyle/>
                    <a:p>
                      <a:r>
                        <a:rPr sz="1400" b="0">
                          <a:solidFill>
                            <a:srgbClr val="161A23"/>
                          </a:solidFill>
                          <a:latin typeface="Calibri"/>
                        </a:rPr>
                        <a:t>You cannot tell an invented plan from a real one by reading it. It has to be measured</a:t>
                      </a:r>
                    </a:p>
                  </a:txBody>
                  <a:tcPr>
                    <a:solidFill>
                      <a:srgbClr val="FFFFFF"/>
                    </a:solidFill>
                  </a:tcPr>
                </a:tc>
              </a:tr>
              <a:tr h="365760">
                <a:tc>
                  <a:txBody>
                    <a:bodyPr/>
                    <a:lstStyle/>
                    <a:p>
                      <a:r>
                        <a:rPr sz="1400" b="0">
                          <a:solidFill>
                            <a:srgbClr val="161A23"/>
                          </a:solidFill>
                          <a:latin typeface="Calibri"/>
                        </a:rPr>
                        <a:t>4</a:t>
                      </a:r>
                    </a:p>
                  </a:txBody>
                  <a:tcPr>
                    <a:solidFill>
                      <a:srgbClr val="F7F8FC"/>
                    </a:solidFill>
                  </a:tcPr>
                </a:tc>
                <a:tc>
                  <a:txBody>
                    <a:bodyPr/>
                    <a:lstStyle/>
                    <a:p>
                      <a:r>
                        <a:rPr sz="1400" b="0">
                          <a:solidFill>
                            <a:srgbClr val="161A23"/>
                          </a:solidFill>
                          <a:latin typeface="Calibri"/>
                        </a:rPr>
                        <a:t>The cheaper design was also just as accurate, so there is no hidden trade-off being sold here</a:t>
                      </a:r>
                    </a:p>
                  </a:txBody>
                  <a:tcPr>
                    <a:solidFill>
                      <a:srgbClr val="F7F8FC"/>
                    </a:solidFill>
                  </a:tcPr>
                </a:tc>
              </a:tr>
            </a:tbl>
          </a:graphicData>
        </a:graphic>
      </p:graphicFrame>
      <p:sp>
        <p:nvSpPr>
          <p:cNvPr id="6" name="TextBox 5"/>
          <p:cNvSpPr txBox="1"/>
          <p:nvPr/>
        </p:nvSpPr>
        <p:spPr>
          <a:xfrm>
            <a:off x="822960" y="5029200"/>
            <a:ext cx="10515600" cy="1005840"/>
          </a:xfrm>
          <a:prstGeom prst="rect">
            <a:avLst/>
          </a:prstGeom>
          <a:noFill/>
        </p:spPr>
        <p:txBody>
          <a:bodyPr wrap="square" anchor="t">
            <a:spAutoFit/>
          </a:bodyPr>
          <a:lstStyle/>
          <a:p>
            <a:pPr algn="l">
              <a:lnSpc>
                <a:spcPct val="100000"/>
              </a:lnSpc>
            </a:pPr>
            <a:r>
              <a:rPr sz="1900" b="1">
                <a:solidFill>
                  <a:srgbClr val="4338CA"/>
                </a:solidFill>
                <a:latin typeface="Calibri"/>
              </a:rPr>
              <a:t>Anyone building with AI agents faces this choice. Most do not measure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B4B"/>
        </a:solidFill>
        <a:effectLst/>
      </p:bgPr>
    </p:bg>
    <p:spTree>
      <p:nvGrpSpPr>
        <p:cNvPr id="1" name=""/>
        <p:cNvGrpSpPr/>
        <p:nvPr/>
      </p:nvGrpSpPr>
      <p:grpSpPr/>
      <p:sp>
        <p:nvSpPr>
          <p:cNvPr id="2" name="TextBox 1"/>
          <p:cNvSpPr txBox="1"/>
          <p:nvPr/>
        </p:nvSpPr>
        <p:spPr>
          <a:xfrm>
            <a:off x="1005840" y="1554480"/>
            <a:ext cx="10241280" cy="457200"/>
          </a:xfrm>
          <a:prstGeom prst="rect">
            <a:avLst/>
          </a:prstGeom>
          <a:noFill/>
        </p:spPr>
        <p:txBody>
          <a:bodyPr wrap="square" anchor="t">
            <a:spAutoFit/>
          </a:bodyPr>
          <a:lstStyle/>
          <a:p>
            <a:pPr algn="l">
              <a:lnSpc>
                <a:spcPct val="100000"/>
              </a:lnSpc>
            </a:pPr>
            <a:r>
              <a:rPr sz="1400" b="1">
                <a:solidFill>
                  <a:srgbClr val="9CA3F5"/>
                </a:solidFill>
                <a:latin typeface="Calibri"/>
              </a:rPr>
              <a:t>IN ONE SENTENCE</a:t>
            </a:r>
          </a:p>
        </p:txBody>
      </p:sp>
      <p:sp>
        <p:nvSpPr>
          <p:cNvPr id="3" name="TextBox 2"/>
          <p:cNvSpPr txBox="1"/>
          <p:nvPr/>
        </p:nvSpPr>
        <p:spPr>
          <a:xfrm>
            <a:off x="1005840" y="2011680"/>
            <a:ext cx="10241280" cy="2194560"/>
          </a:xfrm>
          <a:prstGeom prst="rect">
            <a:avLst/>
          </a:prstGeom>
          <a:noFill/>
        </p:spPr>
        <p:txBody>
          <a:bodyPr wrap="square" anchor="t">
            <a:spAutoFit/>
          </a:bodyPr>
          <a:lstStyle/>
          <a:p>
            <a:pPr algn="l">
              <a:lnSpc>
                <a:spcPct val="120000"/>
              </a:lnSpc>
            </a:pPr>
            <a:r>
              <a:rPr sz="3600" b="1">
                <a:solidFill>
                  <a:srgbClr val="FFFFFF"/>
                </a:solidFill>
                <a:latin typeface="Calibri"/>
              </a:rPr>
              <a:t>Use AI where a step needs thinking.</a:t>
            </a:r>
          </a:p>
          <a:p>
            <a:pPr algn="l">
              <a:lnSpc>
                <a:spcPct val="120000"/>
              </a:lnSpc>
            </a:pPr>
            <a:r>
              <a:rPr sz="3600" b="1">
                <a:solidFill>
                  <a:srgbClr val="6EE7DF"/>
                </a:solidFill>
                <a:latin typeface="Calibri"/>
              </a:rPr>
              <a:t>Everywhere else, it is just a bill.</a:t>
            </a:r>
          </a:p>
        </p:txBody>
      </p:sp>
      <p:sp>
        <p:nvSpPr>
          <p:cNvPr id="4" name="Rectangle 3"/>
          <p:cNvSpPr/>
          <p:nvPr/>
        </p:nvSpPr>
        <p:spPr>
          <a:xfrm>
            <a:off x="1005840" y="4389120"/>
            <a:ext cx="1463040" cy="34000"/>
          </a:xfrm>
          <a:prstGeom prst="rect">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709160"/>
            <a:ext cx="10241280" cy="1463040"/>
          </a:xfrm>
          <a:prstGeom prst="rect">
            <a:avLst/>
          </a:prstGeom>
          <a:noFill/>
        </p:spPr>
        <p:txBody>
          <a:bodyPr wrap="square" anchor="t">
            <a:spAutoFit/>
          </a:bodyPr>
          <a:lstStyle/>
          <a:p>
            <a:pPr algn="l">
              <a:lnSpc>
                <a:spcPct val="130000"/>
              </a:lnSpc>
            </a:pPr>
            <a:r>
              <a:rPr sz="1900" b="0">
                <a:solidFill>
                  <a:srgbClr val="C7D2FE"/>
                </a:solidFill>
                <a:latin typeface="Calibri"/>
              </a:rPr>
              <a:t>15x cheaper, no loss of accuracy, on 1 trip run 5 times.</a:t>
            </a:r>
          </a:p>
          <a:p>
            <a:pPr algn="l">
              <a:lnSpc>
                <a:spcPct val="130000"/>
              </a:lnSpc>
            </a:pPr>
            <a:r>
              <a:rPr sz="800" b="0">
                <a:solidFill>
                  <a:srgbClr val="FFFFFF"/>
                </a:solidFill>
                <a:latin typeface="Calibri"/>
              </a:rPr>
              <a:t/>
            </a:r>
          </a:p>
          <a:p>
            <a:pPr algn="l">
              <a:lnSpc>
                <a:spcPct val="130000"/>
              </a:lnSpc>
            </a:pPr>
            <a:r>
              <a:rPr sz="1500" b="0">
                <a:solidFill>
                  <a:srgbClr val="9CA3F5"/>
                </a:solidFill>
                <a:latin typeface="Calibri"/>
              </a:rPr>
              <a:t>Narrow coverage is the gap, and everything needed to widen it is saved and runs without keys.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
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slides. The project is a working travel planner. The question is which parts of it actually need AI. I built it four different ways and measured all four: the all-agent version needs 20.6 AI calls per trip and mine needs 2.0.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for each agent: could I write its job as ordinary code? You cannot write a rule that understands any way a person might phrase a request, and you cannot write a rule that makes a day pleasant. You can absolutely write a rule that calls a flight API with a date.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is the floor: it shows what AI produces with no real data. B is my original proposal. C is the same design with sensible settings, which is what makes the comparison honest. D is the idea being tested.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useful slide for a question. In B the hotel agent had eight tools and was allowed ten thinking steps; each step is a full AI call that re-sends the conversation and all eight tool descriptions. In C the same agent has one tool that returns the best three hotels already trimmed. In D there is no hotel agent at all - four lines of Python make the call.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Averages over 5 runs each. A looks cheap but it retrieves nothing, so its plan is invented - the next slide but one shows that. The interesting pair is B and D: same task, same data, same AI model, 15 times the text.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showing live. The seven rows tick over as each step finishes, so the page never looks frozen, and the same steps are printed in the terminal at the same time. Ask for six nights in London on three thousand dollars and it refuses, says how much short you are, and offers a shorter trip or a cheaper city.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the argument. An agent that skips a tool still writes a confident, tidy itinerary, so you cannot tell by reading it. B never fetched attractions or restaurants at all and still produced a full plan. That is why I measure how much of a plan came from real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ask about. Splitting: it used to be one fixed percentage for every trip; now it reads the wording, and on a two thousand dollar Istanbul trip the hotel budget moves from $327 to $664 depending on what the traveller says matters. Checking: tested on all 20 trips, it never wrongly refuses a trip that works, and misses 1 impossible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Cheaper and no less accurate, so there is no hidden trade-off. The third number is deliberately on this slide: 6 of my own design checks fail - message priority is declared and never used, and permissions are declared and never enforced. Cost coverage is also only 1 of 20 trips because the free API plans allow thirty flight searches a month. All of it is in the report rather than hidden.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claim and its limit together. The effect is large and the sample is narrow, and both are in the abstract. The saved replies, the test harness and the twenty trips are all committed, so this can be widened next month when the API limits reset, without rebuilding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822960" y="548640"/>
            <a:ext cx="10515600" cy="365760"/>
          </a:xfrm>
          <a:prstGeom prst="rect">
            <a:avLst/>
          </a:prstGeom>
          <a:noFill/>
        </p:spPr>
        <p:txBody>
          <a:bodyPr wrap="square" anchor="t">
            <a:spAutoFit/>
          </a:bodyPr>
          <a:lstStyle/>
          <a:p>
            <a:pPr algn="l">
              <a:lnSpc>
                <a:spcPct val="100000"/>
              </a:lnSpc>
            </a:pPr>
            <a:r>
              <a:rPr sz="1200" b="1">
                <a:solidFill>
                  <a:srgbClr val="9CA3F5"/>
                </a:solidFill>
                <a:latin typeface="Calibri"/>
              </a:rPr>
              <a:t>MSc DISSERTATION  ·  VIVA VOCE  ·  CMP7200 — Individual Master's Project</a:t>
            </a:r>
          </a:p>
        </p:txBody>
      </p:sp>
      <p:sp>
        <p:nvSpPr>
          <p:cNvPr id="3" name="TextBox 2"/>
          <p:cNvSpPr txBox="1"/>
          <p:nvPr/>
        </p:nvSpPr>
        <p:spPr>
          <a:xfrm>
            <a:off x="822960" y="960120"/>
            <a:ext cx="10515600" cy="1005840"/>
          </a:xfrm>
          <a:prstGeom prst="rect">
            <a:avLst/>
          </a:prstGeom>
          <a:noFill/>
        </p:spPr>
        <p:txBody>
          <a:bodyPr wrap="square" anchor="t">
            <a:spAutoFit/>
          </a:bodyPr>
          <a:lstStyle/>
          <a:p>
            <a:pPr algn="l">
              <a:lnSpc>
                <a:spcPct val="100000"/>
              </a:lnSpc>
            </a:pPr>
            <a:r>
              <a:rPr sz="4600" b="1">
                <a:solidFill>
                  <a:srgbClr val="FFFFFF"/>
                </a:solidFill>
                <a:latin typeface="Calibri"/>
              </a:rPr>
              <a:t>AI Trip Planner</a:t>
            </a:r>
          </a:p>
        </p:txBody>
      </p:sp>
      <p:sp>
        <p:nvSpPr>
          <p:cNvPr id="4" name="TextBox 3"/>
          <p:cNvSpPr txBox="1"/>
          <p:nvPr/>
        </p:nvSpPr>
        <p:spPr>
          <a:xfrm>
            <a:off x="822960" y="1965960"/>
            <a:ext cx="10515600" cy="548640"/>
          </a:xfrm>
          <a:prstGeom prst="rect">
            <a:avLst/>
          </a:prstGeom>
          <a:noFill/>
        </p:spPr>
        <p:txBody>
          <a:bodyPr wrap="square" anchor="t">
            <a:spAutoFit/>
          </a:bodyPr>
          <a:lstStyle/>
          <a:p>
            <a:pPr algn="l">
              <a:lnSpc>
                <a:spcPct val="100000"/>
              </a:lnSpc>
            </a:pPr>
            <a:r>
              <a:rPr sz="1700" b="0">
                <a:solidFill>
                  <a:srgbClr val="C7D2FE"/>
                </a:solidFill>
                <a:latin typeface="Calibri"/>
              </a:rPr>
              <a:t>You type where you want to go. It gives you a day-by-day plan with real flight and hotel prices.</a:t>
            </a:r>
          </a:p>
        </p:txBody>
      </p:sp>
      <p:sp>
        <p:nvSpPr>
          <p:cNvPr id="5" name="Rectangle 4"/>
          <p:cNvSpPr/>
          <p:nvPr/>
        </p:nvSpPr>
        <p:spPr>
          <a:xfrm>
            <a:off x="822960" y="2697480"/>
            <a:ext cx="128016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108960"/>
            <a:ext cx="4937760" cy="2286000"/>
          </a:xfrm>
          <a:prstGeom prst="rect">
            <a:avLst/>
          </a:prstGeom>
          <a:noFill/>
        </p:spPr>
        <p:txBody>
          <a:bodyPr wrap="square" anchor="t">
            <a:spAutoFit/>
          </a:bodyPr>
          <a:lstStyle/>
          <a:p>
            <a:pPr algn="l">
              <a:lnSpc>
                <a:spcPct val="125000"/>
              </a:lnSpc>
            </a:pPr>
            <a:r>
              <a:rPr sz="1300" b="1">
                <a:solidFill>
                  <a:srgbClr val="F0B46A"/>
                </a:solidFill>
                <a:latin typeface="Calibri"/>
              </a:rPr>
              <a:t>THE PROBLEM</a:t>
            </a:r>
          </a:p>
          <a:p>
            <a:pPr algn="l">
              <a:lnSpc>
                <a:spcPct val="125000"/>
              </a:lnSpc>
            </a:pPr>
            <a:r>
              <a:rPr sz="600" b="0">
                <a:solidFill>
                  <a:srgbClr val="FFFFFF"/>
                </a:solidFill>
                <a:latin typeface="Calibri"/>
              </a:rPr>
              <a:t/>
            </a:r>
          </a:p>
          <a:p>
            <a:pPr algn="l">
              <a:lnSpc>
                <a:spcPct val="125000"/>
              </a:lnSpc>
            </a:pPr>
            <a:r>
              <a:rPr sz="1700" b="0">
                <a:solidFill>
                  <a:srgbClr val="FFFFFF"/>
                </a:solidFill>
                <a:latin typeface="Calibri"/>
              </a:rPr>
              <a:t>Planning a trip needs flights, hotels, places to visit and a budget that adds up.</a:t>
            </a:r>
          </a:p>
          <a:p>
            <a:pPr algn="l">
              <a:lnSpc>
                <a:spcPct val="125000"/>
              </a:lnSpc>
            </a:pPr>
            <a:r>
              <a:rPr sz="400" b="0">
                <a:solidFill>
                  <a:srgbClr val="FFFFFF"/>
                </a:solidFill>
                <a:latin typeface="Calibri"/>
              </a:rPr>
              <a:t/>
            </a:r>
          </a:p>
          <a:p>
            <a:pPr algn="l">
              <a:lnSpc>
                <a:spcPct val="125000"/>
              </a:lnSpc>
            </a:pPr>
            <a:r>
              <a:rPr sz="1700" b="0">
                <a:solidFill>
                  <a:srgbClr val="FFFFFF"/>
                </a:solidFill>
                <a:latin typeface="Calibri"/>
              </a:rPr>
              <a:t>One AI doing all of it is slow, expensive, and makes prices up.</a:t>
            </a:r>
          </a:p>
        </p:txBody>
      </p:sp>
      <p:sp>
        <p:nvSpPr>
          <p:cNvPr id="7" name="TextBox 6"/>
          <p:cNvSpPr txBox="1"/>
          <p:nvPr/>
        </p:nvSpPr>
        <p:spPr>
          <a:xfrm>
            <a:off x="6309360" y="3108960"/>
            <a:ext cx="5029200" cy="2286000"/>
          </a:xfrm>
          <a:prstGeom prst="rect">
            <a:avLst/>
          </a:prstGeom>
          <a:noFill/>
        </p:spPr>
        <p:txBody>
          <a:bodyPr wrap="square" anchor="t">
            <a:spAutoFit/>
          </a:bodyPr>
          <a:lstStyle/>
          <a:p>
            <a:pPr algn="l">
              <a:lnSpc>
                <a:spcPct val="125000"/>
              </a:lnSpc>
            </a:pPr>
            <a:r>
              <a:rPr sz="1300" b="1">
                <a:solidFill>
                  <a:srgbClr val="6EE7DF"/>
                </a:solidFill>
                <a:latin typeface="Calibri"/>
              </a:rPr>
              <a:t>MY SOLUTION</a:t>
            </a:r>
          </a:p>
          <a:p>
            <a:pPr algn="l">
              <a:lnSpc>
                <a:spcPct val="125000"/>
              </a:lnSpc>
            </a:pPr>
            <a:r>
              <a:rPr sz="600" b="0">
                <a:solidFill>
                  <a:srgbClr val="FFFFFF"/>
                </a:solidFill>
                <a:latin typeface="Calibri"/>
              </a:rPr>
              <a:t/>
            </a:r>
          </a:p>
          <a:p>
            <a:pPr algn="l">
              <a:lnSpc>
                <a:spcPct val="125000"/>
              </a:lnSpc>
            </a:pPr>
            <a:r>
              <a:rPr sz="1700" b="0">
                <a:solidFill>
                  <a:srgbClr val="FFFFFF"/>
                </a:solidFill>
                <a:latin typeface="Calibri"/>
              </a:rPr>
              <a:t>Split the job between several small agents, each with one clear task.</a:t>
            </a:r>
          </a:p>
          <a:p>
            <a:pPr algn="l">
              <a:lnSpc>
                <a:spcPct val="125000"/>
              </a:lnSpc>
            </a:pPr>
            <a:r>
              <a:rPr sz="400" b="0">
                <a:solidFill>
                  <a:srgbClr val="FFFFFF"/>
                </a:solidFill>
                <a:latin typeface="Calibri"/>
              </a:rPr>
              <a:t/>
            </a:r>
          </a:p>
          <a:p>
            <a:pPr algn="l">
              <a:lnSpc>
                <a:spcPct val="125000"/>
              </a:lnSpc>
            </a:pPr>
            <a:r>
              <a:rPr sz="1700" b="0">
                <a:solidFill>
                  <a:srgbClr val="6EE7DF"/>
                </a:solidFill>
                <a:latin typeface="Calibri"/>
              </a:rPr>
              <a:t>Then give AI only to the agents that need to think.</a:t>
            </a:r>
          </a:p>
        </p:txBody>
      </p:sp>
      <p:sp>
        <p:nvSpPr>
          <p:cNvPr id="8" name="TextBox 7"/>
          <p:cNvSpPr txBox="1"/>
          <p:nvPr/>
        </p:nvSpPr>
        <p:spPr>
          <a:xfrm>
            <a:off x="822960" y="5806440"/>
            <a:ext cx="10515600" cy="457200"/>
          </a:xfrm>
          <a:prstGeom prst="rect">
            <a:avLst/>
          </a:prstGeom>
          <a:noFill/>
        </p:spPr>
        <p:txBody>
          <a:bodyPr wrap="square" anchor="t">
            <a:spAutoFit/>
          </a:bodyPr>
          <a:lstStyle/>
          <a:p>
            <a:pPr algn="l">
              <a:lnSpc>
                <a:spcPct val="100000"/>
              </a:lnSpc>
            </a:pPr>
            <a:r>
              <a:rPr sz="1200" b="0">
                <a:solidFill>
                  <a:srgbClr val="9CA3F5"/>
                </a:solidFill>
                <a:latin typeface="Calibri"/>
              </a:rPr>
              <a:t>Student 25182589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1  ·  WE USE SEVERAL AGENTS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Each one has a name and one job</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2560320"/>
        </p:xfrm>
        <a:graphic>
          <a:graphicData uri="http://schemas.openxmlformats.org/drawingml/2006/table">
            <a:tbl>
              <a:tblPr firstRow="1" bandRow="1">
                <a:tableStyleId>{5C22544A-7EE6-4342-B048-85BDC9FD1C3A}</a:tableStyleId>
              </a:tblPr>
              <a:tblGrid>
                <a:gridCol w="3250276"/>
                <a:gridCol w="4397432"/>
                <a:gridCol w="2867890"/>
              </a:tblGrid>
              <a:tr h="365760">
                <a:tc>
                  <a:txBody>
                    <a:bodyPr/>
                    <a:lstStyle/>
                    <a:p>
                      <a:r>
                        <a:rPr sz="1300" b="1">
                          <a:solidFill>
                            <a:srgbClr val="FFFFFF"/>
                          </a:solidFill>
                          <a:latin typeface="Calibri"/>
                        </a:rPr>
                        <a:t>Agent</a:t>
                      </a:r>
                    </a:p>
                  </a:txBody>
                  <a:tcPr>
                    <a:solidFill>
                      <a:srgbClr val="4338CA"/>
                    </a:solidFill>
                  </a:tcPr>
                </a:tc>
                <a:tc>
                  <a:txBody>
                    <a:bodyPr/>
                    <a:lstStyle/>
                    <a:p>
                      <a:r>
                        <a:rPr sz="1300" b="1">
                          <a:solidFill>
                            <a:srgbClr val="FFFFFF"/>
                          </a:solidFill>
                          <a:latin typeface="Calibri"/>
                        </a:rPr>
                        <a:t>What it does</a:t>
                      </a:r>
                    </a:p>
                  </a:txBody>
                  <a:tcPr>
                    <a:solidFill>
                      <a:srgbClr val="4338CA"/>
                    </a:solidFill>
                  </a:tcPr>
                </a:tc>
                <a:tc>
                  <a:txBody>
                    <a:bodyPr/>
                    <a:lstStyle/>
                    <a:p>
                      <a:r>
                        <a:rPr sz="1300" b="1">
                          <a:solidFill>
                            <a:srgbClr val="FFFFFF"/>
                          </a:solidFill>
                          <a:latin typeface="Calibri"/>
                        </a:rPr>
                        <a:t>Needs AI?</a:t>
                      </a:r>
                    </a:p>
                  </a:txBody>
                  <a:tcPr>
                    <a:solidFill>
                      <a:srgbClr val="4338CA"/>
                    </a:solidFill>
                  </a:tcPr>
                </a:tc>
              </a:tr>
              <a:tr h="365760">
                <a:tc>
                  <a:txBody>
                    <a:bodyPr/>
                    <a:lstStyle/>
                    <a:p>
                      <a:r>
                        <a:rPr sz="1300" b="0">
                          <a:solidFill>
                            <a:srgbClr val="161A23"/>
                          </a:solidFill>
                          <a:latin typeface="Calibri"/>
                        </a:rPr>
                        <a:t>Travel Conversation Assistant</a:t>
                      </a:r>
                    </a:p>
                  </a:txBody>
                  <a:tcPr>
                    <a:solidFill>
                      <a:srgbClr val="FFFFFF"/>
                    </a:solidFill>
                  </a:tcPr>
                </a:tc>
                <a:tc>
                  <a:txBody>
                    <a:bodyPr/>
                    <a:lstStyle/>
                    <a:p>
                      <a:r>
                        <a:rPr sz="1300" b="0">
                          <a:solidFill>
                            <a:srgbClr val="161A23"/>
                          </a:solidFill>
                          <a:latin typeface="Calibri"/>
                        </a:rPr>
                        <a:t>Asks the traveller for anything missing</a:t>
                      </a:r>
                    </a:p>
                  </a:txBody>
                  <a:tcPr>
                    <a:solidFill>
                      <a:srgbClr val="FFFFFF"/>
                    </a:solidFill>
                  </a:tcPr>
                </a:tc>
                <a:tc>
                  <a:txBody>
                    <a:bodyPr/>
                    <a:lstStyle/>
                    <a:p>
                      <a:r>
                        <a:rPr sz="1300" b="0">
                          <a:solidFill>
                            <a:srgbClr val="161A23"/>
                          </a:solidFill>
                          <a:latin typeface="Calibri"/>
                        </a:rPr>
                        <a:t>Yes - people write in many ways</a:t>
                      </a:r>
                    </a:p>
                  </a:txBody>
                  <a:tcPr>
                    <a:solidFill>
                      <a:srgbClr val="FFFFFF"/>
                    </a:solidFill>
                  </a:tcPr>
                </a:tc>
              </a:tr>
              <a:tr h="365760">
                <a:tc>
                  <a:txBody>
                    <a:bodyPr/>
                    <a:lstStyle/>
                    <a:p>
                      <a:r>
                        <a:rPr sz="1300" b="0">
                          <a:solidFill>
                            <a:srgbClr val="161A23"/>
                          </a:solidFill>
                          <a:latin typeface="Calibri"/>
                        </a:rPr>
                        <a:t>Travel Preferences Extractor</a:t>
                      </a:r>
                    </a:p>
                  </a:txBody>
                  <a:tcPr>
                    <a:solidFill>
                      <a:srgbClr val="F7F8FC"/>
                    </a:solidFill>
                  </a:tcPr>
                </a:tc>
                <a:tc>
                  <a:txBody>
                    <a:bodyPr/>
                    <a:lstStyle/>
                    <a:p>
                      <a:r>
                        <a:rPr sz="1300" b="0">
                          <a:solidFill>
                            <a:srgbClr val="161A23"/>
                          </a:solidFill>
                          <a:latin typeface="Calibri"/>
                        </a:rPr>
                        <a:t>Turns those words into exact fields</a:t>
                      </a:r>
                    </a:p>
                  </a:txBody>
                  <a:tcPr>
                    <a:solidFill>
                      <a:srgbClr val="F7F8FC"/>
                    </a:solidFill>
                  </a:tcPr>
                </a:tc>
                <a:tc>
                  <a:txBody>
                    <a:bodyPr/>
                    <a:lstStyle/>
                    <a:p>
                      <a:r>
                        <a:rPr sz="1300" b="0">
                          <a:solidFill>
                            <a:srgbClr val="161A23"/>
                          </a:solidFill>
                          <a:latin typeface="Calibri"/>
                        </a:rPr>
                        <a:t>Yes - same reason</a:t>
                      </a:r>
                    </a:p>
                  </a:txBody>
                  <a:tcPr>
                    <a:solidFill>
                      <a:srgbClr val="F7F8FC"/>
                    </a:solidFill>
                  </a:tcPr>
                </a:tc>
              </a:tr>
              <a:tr h="365760">
                <a:tc>
                  <a:txBody>
                    <a:bodyPr/>
                    <a:lstStyle/>
                    <a:p>
                      <a:r>
                        <a:rPr sz="1300" b="0">
                          <a:solidFill>
                            <a:srgbClr val="161A23"/>
                          </a:solidFill>
                          <a:latin typeface="Calibri"/>
                        </a:rPr>
                        <a:t>Flight Search Specialist</a:t>
                      </a:r>
                    </a:p>
                  </a:txBody>
                  <a:tcPr>
                    <a:solidFill>
                      <a:srgbClr val="FFFFFF"/>
                    </a:solidFill>
                  </a:tcPr>
                </a:tc>
                <a:tc>
                  <a:txBody>
                    <a:bodyPr/>
                    <a:lstStyle/>
                    <a:p>
                      <a:r>
                        <a:rPr sz="1300" b="0">
                          <a:solidFill>
                            <a:srgbClr val="161A23"/>
                          </a:solidFill>
                          <a:latin typeface="Calibri"/>
                        </a:rPr>
                        <a:t>Looks up flights</a:t>
                      </a:r>
                    </a:p>
                  </a:txBody>
                  <a:tcPr>
                    <a:solidFill>
                      <a:srgbClr val="FFFFFF"/>
                    </a:solidFill>
                  </a:tcPr>
                </a:tc>
                <a:tc>
                  <a:txBody>
                    <a:bodyPr/>
                    <a:lstStyle/>
                    <a:p>
                      <a:r>
                        <a:rPr sz="1300" b="0">
                          <a:solidFill>
                            <a:srgbClr val="161A23"/>
                          </a:solidFill>
                          <a:latin typeface="Calibri"/>
                        </a:rPr>
                        <a:t>No</a:t>
                      </a:r>
                    </a:p>
                  </a:txBody>
                  <a:tcPr>
                    <a:solidFill>
                      <a:srgbClr val="FFFFFF"/>
                    </a:solidFill>
                  </a:tcPr>
                </a:tc>
              </a:tr>
              <a:tr h="365760">
                <a:tc>
                  <a:txBody>
                    <a:bodyPr/>
                    <a:lstStyle/>
                    <a:p>
                      <a:r>
                        <a:rPr sz="1300" b="0">
                          <a:solidFill>
                            <a:srgbClr val="161A23"/>
                          </a:solidFill>
                          <a:latin typeface="Calibri"/>
                        </a:rPr>
                        <a:t>Hotel Search Specialist</a:t>
                      </a:r>
                    </a:p>
                  </a:txBody>
                  <a:tcPr>
                    <a:solidFill>
                      <a:srgbClr val="F7F8FC"/>
                    </a:solidFill>
                  </a:tcPr>
                </a:tc>
                <a:tc>
                  <a:txBody>
                    <a:bodyPr/>
                    <a:lstStyle/>
                    <a:p>
                      <a:r>
                        <a:rPr sz="1300" b="0">
                          <a:solidFill>
                            <a:srgbClr val="161A23"/>
                          </a:solidFill>
                          <a:latin typeface="Calibri"/>
                        </a:rPr>
                        <a:t>Looks up hotels</a:t>
                      </a:r>
                    </a:p>
                  </a:txBody>
                  <a:tcPr>
                    <a:solidFill>
                      <a:srgbClr val="F7F8FC"/>
                    </a:solidFill>
                  </a:tcPr>
                </a:tc>
                <a:tc>
                  <a:txBody>
                    <a:bodyPr/>
                    <a:lstStyle/>
                    <a:p>
                      <a:r>
                        <a:rPr sz="1300" b="0">
                          <a:solidFill>
                            <a:srgbClr val="161A23"/>
                          </a:solidFill>
                          <a:latin typeface="Calibri"/>
                        </a:rPr>
                        <a:t>No</a:t>
                      </a:r>
                    </a:p>
                  </a:txBody>
                  <a:tcPr>
                    <a:solidFill>
                      <a:srgbClr val="F7F8FC"/>
                    </a:solidFill>
                  </a:tcPr>
                </a:tc>
              </a:tr>
              <a:tr h="365760">
                <a:tc>
                  <a:txBody>
                    <a:bodyPr/>
                    <a:lstStyle/>
                    <a:p>
                      <a:r>
                        <a:rPr sz="1300" b="0">
                          <a:solidFill>
                            <a:srgbClr val="161A23"/>
                          </a:solidFill>
                          <a:latin typeface="Calibri"/>
                        </a:rPr>
                        <a:t>Activities Specialist</a:t>
                      </a:r>
                    </a:p>
                  </a:txBody>
                  <a:tcPr>
                    <a:solidFill>
                      <a:srgbClr val="FFFFFF"/>
                    </a:solidFill>
                  </a:tcPr>
                </a:tc>
                <a:tc>
                  <a:txBody>
                    <a:bodyPr/>
                    <a:lstStyle/>
                    <a:p>
                      <a:r>
                        <a:rPr sz="1300" b="0">
                          <a:solidFill>
                            <a:srgbClr val="161A23"/>
                          </a:solidFill>
                          <a:latin typeface="Calibri"/>
                        </a:rPr>
                        <a:t>Looks up places to visit and eat</a:t>
                      </a:r>
                    </a:p>
                  </a:txBody>
                  <a:tcPr>
                    <a:solidFill>
                      <a:srgbClr val="FFFFFF"/>
                    </a:solidFill>
                  </a:tcPr>
                </a:tc>
                <a:tc>
                  <a:txBody>
                    <a:bodyPr/>
                    <a:lstStyle/>
                    <a:p>
                      <a:r>
                        <a:rPr sz="1300" b="0">
                          <a:solidFill>
                            <a:srgbClr val="161A23"/>
                          </a:solidFill>
                          <a:latin typeface="Calibri"/>
                        </a:rPr>
                        <a:t>No</a:t>
                      </a:r>
                    </a:p>
                  </a:txBody>
                  <a:tcPr>
                    <a:solidFill>
                      <a:srgbClr val="FFFFFF"/>
                    </a:solidFill>
                  </a:tcPr>
                </a:tc>
              </a:tr>
              <a:tr h="365760">
                <a:tc>
                  <a:txBody>
                    <a:bodyPr/>
                    <a:lstStyle/>
                    <a:p>
                      <a:r>
                        <a:rPr sz="1300" b="0">
                          <a:solidFill>
                            <a:srgbClr val="161A23"/>
                          </a:solidFill>
                          <a:latin typeface="Calibri"/>
                        </a:rPr>
                        <a:t>Itinerary Coordinator</a:t>
                      </a:r>
                    </a:p>
                  </a:txBody>
                  <a:tcPr>
                    <a:solidFill>
                      <a:srgbClr val="F7F8FC"/>
                    </a:solidFill>
                  </a:tcPr>
                </a:tc>
                <a:tc>
                  <a:txBody>
                    <a:bodyPr/>
                    <a:lstStyle/>
                    <a:p>
                      <a:r>
                        <a:rPr sz="1300" b="0">
                          <a:solidFill>
                            <a:srgbClr val="161A23"/>
                          </a:solidFill>
                          <a:latin typeface="Calibri"/>
                        </a:rPr>
                        <a:t>Writes the day-by-day plan</a:t>
                      </a:r>
                    </a:p>
                  </a:txBody>
                  <a:tcPr>
                    <a:solidFill>
                      <a:srgbClr val="F7F8FC"/>
                    </a:solidFill>
                  </a:tcPr>
                </a:tc>
                <a:tc>
                  <a:txBody>
                    <a:bodyPr/>
                    <a:lstStyle/>
                    <a:p>
                      <a:r>
                        <a:rPr sz="1300" b="0">
                          <a:solidFill>
                            <a:srgbClr val="161A23"/>
                          </a:solidFill>
                          <a:latin typeface="Calibri"/>
                        </a:rPr>
                        <a:t>Yes - which day, what order</a:t>
                      </a:r>
                    </a:p>
                  </a:txBody>
                  <a:tcPr>
                    <a:solidFill>
                      <a:srgbClr val="F7F8FC"/>
                    </a:solidFill>
                  </a:tcPr>
                </a:tc>
              </a:tr>
            </a:tbl>
          </a:graphicData>
        </a:graphic>
      </p:graphicFrame>
      <p:sp>
        <p:nvSpPr>
          <p:cNvPr id="6" name="TextBox 5"/>
          <p:cNvSpPr txBox="1"/>
          <p:nvPr/>
        </p:nvSpPr>
        <p:spPr>
          <a:xfrm>
            <a:off x="822960" y="5394960"/>
            <a:ext cx="10515600" cy="822960"/>
          </a:xfrm>
          <a:prstGeom prst="rect">
            <a:avLst/>
          </a:prstGeom>
          <a:noFill/>
        </p:spPr>
        <p:txBody>
          <a:bodyPr wrap="square" anchor="t">
            <a:spAutoFit/>
          </a:bodyPr>
          <a:lstStyle/>
          <a:p>
            <a:pPr algn="l">
              <a:lnSpc>
                <a:spcPct val="100000"/>
              </a:lnSpc>
            </a:pPr>
            <a:r>
              <a:rPr sz="1900" b="1">
                <a:solidFill>
                  <a:srgbClr val="4338CA"/>
                </a:solidFill>
                <a:latin typeface="Calibri"/>
              </a:rPr>
              <a:t>Looking something up does not need thinking. Only three agents really need AI.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2  ·  I BUILT IT FOUR WAYS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So I could compare them fairly</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9" cy="1828800"/>
        </p:xfrm>
        <a:graphic>
          <a:graphicData uri="http://schemas.openxmlformats.org/drawingml/2006/table">
            <a:tbl>
              <a:tblPr firstRow="1" bandRow="1">
                <a:tableStyleId>{5C22544A-7EE6-4342-B048-85BDC9FD1C3A}</a:tableStyleId>
              </a:tblPr>
              <a:tblGrid>
                <a:gridCol w="477981"/>
                <a:gridCol w="2389909"/>
                <a:gridCol w="7647709"/>
              </a:tblGrid>
              <a:tr h="365760">
                <a:tc>
                  <a:txBody>
                    <a:bodyPr/>
                    <a:lstStyle/>
                    <a:p>
                      <a:r>
                        <a:rPr sz="1350" b="1">
                          <a:solidFill>
                            <a:srgbClr val="FFFFFF"/>
                          </a:solidFill>
                          <a:latin typeface="Calibri"/>
                        </a:rPr>
                        <a:t> </a:t>
                      </a:r>
                    </a:p>
                  </a:txBody>
                  <a:tcPr>
                    <a:solidFill>
                      <a:srgbClr val="4338CA"/>
                    </a:solidFill>
                  </a:tcPr>
                </a:tc>
                <a:tc>
                  <a:txBody>
                    <a:bodyPr/>
                    <a:lstStyle/>
                    <a:p>
                      <a:r>
                        <a:rPr sz="1350" b="1">
                          <a:solidFill>
                            <a:srgbClr val="FFFFFF"/>
                          </a:solidFill>
                          <a:latin typeface="Calibri"/>
                        </a:rPr>
                        <a:t>Name</a:t>
                      </a:r>
                    </a:p>
                  </a:txBody>
                  <a:tcPr>
                    <a:solidFill>
                      <a:srgbClr val="4338CA"/>
                    </a:solidFill>
                  </a:tcPr>
                </a:tc>
                <a:tc>
                  <a:txBody>
                    <a:bodyPr/>
                    <a:lstStyle/>
                    <a:p>
                      <a:r>
                        <a:rPr sz="1350" b="1">
                          <a:solidFill>
                            <a:srgbClr val="FFFFFF"/>
                          </a:solidFill>
                          <a:latin typeface="Calibri"/>
                        </a:rPr>
                        <a:t>What it is</a:t>
                      </a:r>
                    </a:p>
                  </a:txBody>
                  <a:tcPr>
                    <a:solidFill>
                      <a:srgbClr val="4338CA"/>
                    </a:solidFill>
                  </a:tcPr>
                </a:tc>
              </a:tr>
              <a:tr h="365760">
                <a:tc>
                  <a:txBody>
                    <a:bodyPr/>
                    <a:lstStyle/>
                    <a:p>
                      <a:r>
                        <a:rPr sz="1350" b="0">
                          <a:solidFill>
                            <a:srgbClr val="161A23"/>
                          </a:solidFill>
                          <a:latin typeface="Calibri"/>
                        </a:rPr>
                        <a:t>A</a:t>
                      </a:r>
                    </a:p>
                  </a:txBody>
                  <a:tcPr>
                    <a:solidFill>
                      <a:srgbClr val="FFFFFF"/>
                    </a:solidFill>
                  </a:tcPr>
                </a:tc>
                <a:tc>
                  <a:txBody>
                    <a:bodyPr/>
                    <a:lstStyle/>
                    <a:p>
                      <a:r>
                        <a:rPr sz="1350" b="0">
                          <a:solidFill>
                            <a:srgbClr val="161A23"/>
                          </a:solidFill>
                          <a:latin typeface="Calibri"/>
                        </a:rPr>
                        <a:t>One AI, no tools</a:t>
                      </a:r>
                    </a:p>
                  </a:txBody>
                  <a:tcPr>
                    <a:solidFill>
                      <a:srgbClr val="FFFFFF"/>
                    </a:solidFill>
                  </a:tcPr>
                </a:tc>
                <a:tc>
                  <a:txBody>
                    <a:bodyPr/>
                    <a:lstStyle/>
                    <a:p>
                      <a:r>
                        <a:rPr sz="1350" b="0">
                          <a:solidFill>
                            <a:srgbClr val="161A23"/>
                          </a:solidFill>
                          <a:latin typeface="Calibri"/>
                        </a:rPr>
                        <a:t>A single AI call. It has no way to look anything up, so it invents the whole plan</a:t>
                      </a:r>
                    </a:p>
                  </a:txBody>
                  <a:tcPr>
                    <a:solidFill>
                      <a:srgbClr val="FFFFFF"/>
                    </a:solidFill>
                  </a:tcPr>
                </a:tc>
              </a:tr>
              <a:tr h="365760">
                <a:tc>
                  <a:txBody>
                    <a:bodyPr/>
                    <a:lstStyle/>
                    <a:p>
                      <a:r>
                        <a:rPr sz="1350" b="0">
                          <a:solidFill>
                            <a:srgbClr val="161A23"/>
                          </a:solidFill>
                          <a:latin typeface="Calibri"/>
                        </a:rPr>
                        <a:t>B</a:t>
                      </a:r>
                    </a:p>
                  </a:txBody>
                  <a:tcPr>
                    <a:solidFill>
                      <a:srgbClr val="F7F8FC"/>
                    </a:solidFill>
                  </a:tcPr>
                </a:tc>
                <a:tc>
                  <a:txBody>
                    <a:bodyPr/>
                    <a:lstStyle/>
                    <a:p>
                      <a:r>
                        <a:rPr sz="1350" b="0">
                          <a:solidFill>
                            <a:srgbClr val="161A23"/>
                          </a:solidFill>
                          <a:latin typeface="Calibri"/>
                        </a:rPr>
                        <a:t>Six agents, first try</a:t>
                      </a:r>
                    </a:p>
                  </a:txBody>
                  <a:tcPr>
                    <a:solidFill>
                      <a:srgbClr val="F7F8FC"/>
                    </a:solidFill>
                  </a:tcPr>
                </a:tc>
                <a:tc>
                  <a:txBody>
                    <a:bodyPr/>
                    <a:lstStyle/>
                    <a:p>
                      <a:r>
                        <a:rPr sz="1350" b="0">
                          <a:solidFill>
                            <a:srgbClr val="161A23"/>
                          </a:solidFill>
                          <a:latin typeface="Calibri"/>
                        </a:rPr>
                        <a:t>Every agent gets tools and decides for itself when to use them. This was my original plan</a:t>
                      </a:r>
                    </a:p>
                  </a:txBody>
                  <a:tcPr>
                    <a:solidFill>
                      <a:srgbClr val="F7F8FC"/>
                    </a:solidFill>
                  </a:tcPr>
                </a:tc>
              </a:tr>
              <a:tr h="365760">
                <a:tc>
                  <a:txBody>
                    <a:bodyPr/>
                    <a:lstStyle/>
                    <a:p>
                      <a:r>
                        <a:rPr sz="1350" b="0">
                          <a:solidFill>
                            <a:srgbClr val="161A23"/>
                          </a:solidFill>
                          <a:latin typeface="Calibri"/>
                        </a:rPr>
                        <a:t>C</a:t>
                      </a:r>
                    </a:p>
                  </a:txBody>
                  <a:tcPr>
                    <a:solidFill>
                      <a:srgbClr val="FFFFFF"/>
                    </a:solidFill>
                  </a:tcPr>
                </a:tc>
                <a:tc>
                  <a:txBody>
                    <a:bodyPr/>
                    <a:lstStyle/>
                    <a:p>
                      <a:r>
                        <a:rPr sz="1350" b="0">
                          <a:solidFill>
                            <a:srgbClr val="161A23"/>
                          </a:solidFill>
                          <a:latin typeface="Calibri"/>
                        </a:rPr>
                        <a:t>Six agents, tidied up</a:t>
                      </a:r>
                    </a:p>
                  </a:txBody>
                  <a:tcPr>
                    <a:solidFill>
                      <a:srgbClr val="FFFFFF"/>
                    </a:solidFill>
                  </a:tcPr>
                </a:tc>
                <a:tc>
                  <a:txBody>
                    <a:bodyPr/>
                    <a:lstStyle/>
                    <a:p>
                      <a:r>
                        <a:rPr sz="1350" b="0">
                          <a:solidFill>
                            <a:srgbClr val="161A23"/>
                          </a:solidFill>
                          <a:latin typeface="Calibri"/>
                        </a:rPr>
                        <a:t>Same six agents, but fewer tools each and a tighter limit on how long they can think</a:t>
                      </a:r>
                    </a:p>
                  </a:txBody>
                  <a:tcPr>
                    <a:solidFill>
                      <a:srgbClr val="FFFFFF"/>
                    </a:solidFill>
                  </a:tcPr>
                </a:tc>
              </a:tr>
              <a:tr h="365760">
                <a:tc>
                  <a:txBody>
                    <a:bodyPr/>
                    <a:lstStyle/>
                    <a:p>
                      <a:r>
                        <a:rPr sz="1350" b="0">
                          <a:solidFill>
                            <a:srgbClr val="161A23"/>
                          </a:solidFill>
                          <a:latin typeface="Calibri"/>
                        </a:rPr>
                        <a:t>D</a:t>
                      </a:r>
                    </a:p>
                  </a:txBody>
                  <a:tcPr>
                    <a:solidFill>
                      <a:srgbClr val="F7F8FC"/>
                    </a:solidFill>
                  </a:tcPr>
                </a:tc>
                <a:tc>
                  <a:txBody>
                    <a:bodyPr/>
                    <a:lstStyle/>
                    <a:p>
                      <a:r>
                        <a:rPr sz="1350" b="0">
                          <a:solidFill>
                            <a:srgbClr val="161A23"/>
                          </a:solidFill>
                          <a:latin typeface="Calibri"/>
                        </a:rPr>
                        <a:t>Three agents</a:t>
                      </a:r>
                    </a:p>
                  </a:txBody>
                  <a:tcPr>
                    <a:solidFill>
                      <a:srgbClr val="F7F8FC"/>
                    </a:solidFill>
                  </a:tcPr>
                </a:tc>
                <a:tc>
                  <a:txBody>
                    <a:bodyPr/>
                    <a:lstStyle/>
                    <a:p>
                      <a:r>
                        <a:rPr sz="1350" b="0">
                          <a:solidFill>
                            <a:srgbClr val="161A23"/>
                          </a:solidFill>
                          <a:latin typeface="Calibri"/>
                        </a:rPr>
                        <a:t>The look-up agents are gone. Normal code fetches the data. This is what I ship</a:t>
                      </a:r>
                    </a:p>
                  </a:txBody>
                  <a:tcPr>
                    <a:solidFill>
                      <a:srgbClr val="F7F8FC"/>
                    </a:solidFill>
                  </a:tcPr>
                </a:tc>
              </a:tr>
            </a:tbl>
          </a:graphicData>
        </a:graphic>
      </p:graphicFrame>
      <p:sp>
        <p:nvSpPr>
          <p:cNvPr id="6" name="TextBox 5"/>
          <p:cNvSpPr txBox="1"/>
          <p:nvPr/>
        </p:nvSpPr>
        <p:spPr>
          <a:xfrm>
            <a:off x="822960" y="5212080"/>
            <a:ext cx="10515600" cy="914400"/>
          </a:xfrm>
          <a:prstGeom prst="rect">
            <a:avLst/>
          </a:prstGeom>
          <a:noFill/>
        </p:spPr>
        <p:txBody>
          <a:bodyPr wrap="square" anchor="t">
            <a:spAutoFit/>
          </a:bodyPr>
          <a:lstStyle/>
          <a:p>
            <a:pPr algn="l">
              <a:lnSpc>
                <a:spcPct val="100000"/>
              </a:lnSpc>
            </a:pPr>
            <a:r>
              <a:rPr sz="1900" b="1">
                <a:solidFill>
                  <a:srgbClr val="4338CA"/>
                </a:solidFill>
                <a:latin typeface="Calibri"/>
              </a:rPr>
              <a:t>C exists so nobody can say D only won because B was set up badly.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3  ·  WHICH TOOLS EACH AGENT GETS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Read from the code. A has none at all</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920240"/>
          <a:ext cx="10515598" cy="2926080"/>
        </p:xfrm>
        <a:graphic>
          <a:graphicData uri="http://schemas.openxmlformats.org/drawingml/2006/table">
            <a:tbl>
              <a:tblPr firstRow="1" bandRow="1">
                <a:tableStyleId>{5C22544A-7EE6-4342-B048-85BDC9FD1C3A}</a:tableStyleId>
              </a:tblPr>
              <a:tblGrid>
                <a:gridCol w="2029326"/>
                <a:gridCol w="3874168"/>
                <a:gridCol w="2398294"/>
                <a:gridCol w="2213810"/>
              </a:tblGrid>
              <a:tr h="365760">
                <a:tc>
                  <a:txBody>
                    <a:bodyPr/>
                    <a:lstStyle/>
                    <a:p>
                      <a:r>
                        <a:rPr sz="950" b="1">
                          <a:solidFill>
                            <a:srgbClr val="FFFFFF"/>
                          </a:solidFill>
                          <a:latin typeface="Calibri"/>
                        </a:rPr>
                        <a:t>Agent</a:t>
                      </a:r>
                    </a:p>
                  </a:txBody>
                  <a:tcPr>
                    <a:solidFill>
                      <a:srgbClr val="4338CA"/>
                    </a:solidFill>
                  </a:tcPr>
                </a:tc>
                <a:tc>
                  <a:txBody>
                    <a:bodyPr/>
                    <a:lstStyle/>
                    <a:p>
                      <a:r>
                        <a:rPr sz="950" b="1">
                          <a:solidFill>
                            <a:srgbClr val="FFFFFF"/>
                          </a:solidFill>
                          <a:latin typeface="Calibri"/>
                        </a:rPr>
                        <a:t>B  (first try)</a:t>
                      </a:r>
                    </a:p>
                  </a:txBody>
                  <a:tcPr>
                    <a:solidFill>
                      <a:srgbClr val="4338CA"/>
                    </a:solidFill>
                  </a:tcPr>
                </a:tc>
                <a:tc>
                  <a:txBody>
                    <a:bodyPr/>
                    <a:lstStyle/>
                    <a:p>
                      <a:r>
                        <a:rPr sz="950" b="1">
                          <a:solidFill>
                            <a:srgbClr val="FFFFFF"/>
                          </a:solidFill>
                          <a:latin typeface="Calibri"/>
                        </a:rPr>
                        <a:t>C  (tidied)</a:t>
                      </a:r>
                    </a:p>
                  </a:txBody>
                  <a:tcPr>
                    <a:solidFill>
                      <a:srgbClr val="4338CA"/>
                    </a:solidFill>
                  </a:tcPr>
                </a:tc>
                <a:tc>
                  <a:txBody>
                    <a:bodyPr/>
                    <a:lstStyle/>
                    <a:p>
                      <a:r>
                        <a:rPr sz="950" b="1">
                          <a:solidFill>
                            <a:srgbClr val="FFFFFF"/>
                          </a:solidFill>
                          <a:latin typeface="Calibri"/>
                        </a:rPr>
                        <a:t>D  (shipped)</a:t>
                      </a:r>
                    </a:p>
                  </a:txBody>
                  <a:tcPr>
                    <a:solidFill>
                      <a:srgbClr val="4338CA"/>
                    </a:solidFill>
                  </a:tcPr>
                </a:tc>
              </a:tr>
              <a:tr h="365760">
                <a:tc>
                  <a:txBody>
                    <a:bodyPr/>
                    <a:lstStyle/>
                    <a:p>
                      <a:r>
                        <a:rPr sz="950" b="0">
                          <a:solidFill>
                            <a:srgbClr val="161A23"/>
                          </a:solidFill>
                          <a:latin typeface="Calibri"/>
                        </a:rPr>
                        <a:t>Preferences Extractor</a:t>
                      </a:r>
                    </a:p>
                  </a:txBody>
                  <a:tcPr>
                    <a:solidFill>
                      <a:srgbClr val="FFFFFF"/>
                    </a:solidFill>
                  </a:tcPr>
                </a:tc>
                <a:tc>
                  <a:txBody>
                    <a:bodyPr/>
                    <a:lstStyle/>
                    <a:p>
                      <a:r>
                        <a:rPr sz="950" b="0">
                          <a:solidFill>
                            <a:srgbClr val="161A23"/>
                          </a:solidFill>
                          <a:latin typeface="Calibri"/>
                        </a:rPr>
                        <a:t>none</a:t>
                      </a:r>
                    </a:p>
                  </a:txBody>
                  <a:tcPr>
                    <a:solidFill>
                      <a:srgbClr val="FFFFFF"/>
                    </a:solidFill>
                  </a:tcPr>
                </a:tc>
                <a:tc>
                  <a:txBody>
                    <a:bodyPr/>
                    <a:lstStyle/>
                    <a:p>
                      <a:r>
                        <a:rPr sz="950" b="0">
                          <a:solidFill>
                            <a:srgbClr val="161A23"/>
                          </a:solidFill>
                          <a:latin typeface="Calibri"/>
                        </a:rPr>
                        <a:t>none</a:t>
                      </a:r>
                    </a:p>
                  </a:txBody>
                  <a:tcPr>
                    <a:solidFill>
                      <a:srgbClr val="FFFFFF"/>
                    </a:solidFill>
                  </a:tcPr>
                </a:tc>
                <a:tc>
                  <a:txBody>
                    <a:bodyPr/>
                    <a:lstStyle/>
                    <a:p>
                      <a:r>
                        <a:rPr sz="950" b="0">
                          <a:solidFill>
                            <a:srgbClr val="161A23"/>
                          </a:solidFill>
                          <a:latin typeface="Calibri"/>
                        </a:rPr>
                        <a:t>none</a:t>
                      </a:r>
                    </a:p>
                  </a:txBody>
                  <a:tcPr>
                    <a:solidFill>
                      <a:srgbClr val="FFFFFF"/>
                    </a:solidFill>
                  </a:tcPr>
                </a:tc>
              </a:tr>
              <a:tr h="365760">
                <a:tc>
                  <a:txBody>
                    <a:bodyPr/>
                    <a:lstStyle/>
                    <a:p>
                      <a:r>
                        <a:rPr sz="950" b="0">
                          <a:solidFill>
                            <a:srgbClr val="161A23"/>
                          </a:solidFill>
                          <a:latin typeface="Calibri"/>
                        </a:rPr>
                        <a:t>Conversation Assistant</a:t>
                      </a:r>
                    </a:p>
                  </a:txBody>
                  <a:tcPr>
                    <a:solidFill>
                      <a:srgbClr val="F7F8FC"/>
                    </a:solidFill>
                  </a:tcPr>
                </a:tc>
                <a:tc>
                  <a:txBody>
                    <a:bodyPr/>
                    <a:lstStyle/>
                    <a:p>
                      <a:r>
                        <a:rPr sz="950" b="0">
                          <a:solidFill>
                            <a:srgbClr val="161A23"/>
                          </a:solidFill>
                          <a:latin typeface="Calibri"/>
                        </a:rPr>
                        <a:t>not used</a:t>
                      </a:r>
                    </a:p>
                  </a:txBody>
                  <a:tcPr>
                    <a:solidFill>
                      <a:srgbClr val="F7F8FC"/>
                    </a:solidFill>
                  </a:tcPr>
                </a:tc>
                <a:tc>
                  <a:txBody>
                    <a:bodyPr/>
                    <a:lstStyle/>
                    <a:p>
                      <a:r>
                        <a:rPr sz="950" b="0">
                          <a:solidFill>
                            <a:srgbClr val="161A23"/>
                          </a:solidFill>
                          <a:latin typeface="Calibri"/>
                        </a:rPr>
                        <a:t>not used</a:t>
                      </a:r>
                    </a:p>
                  </a:txBody>
                  <a:tcPr>
                    <a:solidFill>
                      <a:srgbClr val="F7F8FC"/>
                    </a:solidFill>
                  </a:tcPr>
                </a:tc>
                <a:tc>
                  <a:txBody>
                    <a:bodyPr/>
                    <a:lstStyle/>
                    <a:p>
                      <a:r>
                        <a:rPr sz="950" b="0">
                          <a:solidFill>
                            <a:srgbClr val="161A23"/>
                          </a:solidFill>
                          <a:latin typeface="Calibri"/>
                        </a:rPr>
                        <a:t>none</a:t>
                      </a:r>
                    </a:p>
                  </a:txBody>
                  <a:tcPr>
                    <a:solidFill>
                      <a:srgbClr val="F7F8FC"/>
                    </a:solidFill>
                  </a:tcPr>
                </a:tc>
              </a:tr>
              <a:tr h="365760">
                <a:tc>
                  <a:txBody>
                    <a:bodyPr/>
                    <a:lstStyle/>
                    <a:p>
                      <a:r>
                        <a:rPr sz="950" b="0">
                          <a:solidFill>
                            <a:srgbClr val="161A23"/>
                          </a:solidFill>
                          <a:latin typeface="Calibri"/>
                        </a:rPr>
                        <a:t>Flight Search</a:t>
                      </a:r>
                    </a:p>
                  </a:txBody>
                  <a:tcPr>
                    <a:solidFill>
                      <a:srgbClr val="FFFFFF"/>
                    </a:solidFill>
                  </a:tcPr>
                </a:tc>
                <a:tc>
                  <a:txBody>
                    <a:bodyPr/>
                    <a:lstStyle/>
                    <a:p>
                      <a:r>
                        <a:rPr sz="950" b="0">
                          <a:solidFill>
                            <a:srgbClr val="161A23"/>
                          </a:solidFill>
                          <a:latin typeface="Calibri"/>
                        </a:rPr>
                        <a:t>search_comprehensive_flights, search_round_trip_flights, search_internet, calculate</a:t>
                      </a:r>
                    </a:p>
                  </a:txBody>
                  <a:tcPr>
                    <a:solidFill>
                      <a:srgbClr val="FFFFFF"/>
                    </a:solidFill>
                  </a:tcPr>
                </a:tc>
                <a:tc>
                  <a:txBody>
                    <a:bodyPr/>
                    <a:lstStyle/>
                    <a:p>
                      <a:r>
                        <a:rPr sz="950" b="0">
                          <a:solidFill>
                            <a:srgbClr val="161A23"/>
                          </a:solidFill>
                          <a:latin typeface="Calibri"/>
                        </a:rPr>
                        <a:t>distilled_search_flights</a:t>
                      </a:r>
                    </a:p>
                  </a:txBody>
                  <a:tcPr>
                    <a:solidFill>
                      <a:srgbClr val="FFFFFF"/>
                    </a:solidFill>
                  </a:tcPr>
                </a:tc>
                <a:tc>
                  <a:txBody>
                    <a:bodyPr/>
                    <a:lstStyle/>
                    <a:p>
                      <a:r>
                        <a:rPr sz="950" b="0">
                          <a:solidFill>
                            <a:srgbClr val="161A23"/>
                          </a:solidFill>
                          <a:latin typeface="Calibri"/>
                        </a:rPr>
                        <a:t>agent removed</a:t>
                      </a:r>
                    </a:p>
                  </a:txBody>
                  <a:tcPr>
                    <a:solidFill>
                      <a:srgbClr val="FFFFFF"/>
                    </a:solidFill>
                  </a:tcPr>
                </a:tc>
              </a:tr>
              <a:tr h="365760">
                <a:tc>
                  <a:txBody>
                    <a:bodyPr/>
                    <a:lstStyle/>
                    <a:p>
                      <a:r>
                        <a:rPr sz="950" b="0">
                          <a:solidFill>
                            <a:srgbClr val="161A23"/>
                          </a:solidFill>
                          <a:latin typeface="Calibri"/>
                        </a:rPr>
                        <a:t>Hotel Search</a:t>
                      </a:r>
                    </a:p>
                  </a:txBody>
                  <a:tcPr>
                    <a:solidFill>
                      <a:srgbClr val="F7F8FC"/>
                    </a:solidFill>
                  </a:tcPr>
                </a:tc>
                <a:tc>
                  <a:txBody>
                    <a:bodyPr/>
                    <a:lstStyle/>
                    <a:p>
                      <a:r>
                        <a:rPr sz="950" b="0">
                          <a:solidFill>
                            <a:srgbClr val="161A23"/>
                          </a:solidFill>
                          <a:latin typeface="Calibri"/>
                        </a:rPr>
                        <a:t>search_hotels_comprehensive, search_accommodations_with_location, search_hotel_destination, search_hotels_by_dest_id, get_hotel_reviews, get_attractions_near_hotel, search_internet, calculate</a:t>
                      </a:r>
                    </a:p>
                  </a:txBody>
                  <a:tcPr>
                    <a:solidFill>
                      <a:srgbClr val="F7F8FC"/>
                    </a:solidFill>
                  </a:tcPr>
                </a:tc>
                <a:tc>
                  <a:txBody>
                    <a:bodyPr/>
                    <a:lstStyle/>
                    <a:p>
                      <a:r>
                        <a:rPr sz="950" b="0">
                          <a:solidFill>
                            <a:srgbClr val="161A23"/>
                          </a:solidFill>
                          <a:latin typeface="Calibri"/>
                        </a:rPr>
                        <a:t>distilled_search_hotels</a:t>
                      </a:r>
                    </a:p>
                  </a:txBody>
                  <a:tcPr>
                    <a:solidFill>
                      <a:srgbClr val="F7F8FC"/>
                    </a:solidFill>
                  </a:tcPr>
                </a:tc>
                <a:tc>
                  <a:txBody>
                    <a:bodyPr/>
                    <a:lstStyle/>
                    <a:p>
                      <a:r>
                        <a:rPr sz="950" b="0">
                          <a:solidFill>
                            <a:srgbClr val="161A23"/>
                          </a:solidFill>
                          <a:latin typeface="Calibri"/>
                        </a:rPr>
                        <a:t>agent removed</a:t>
                      </a:r>
                    </a:p>
                  </a:txBody>
                  <a:tcPr>
                    <a:solidFill>
                      <a:srgbClr val="F7F8FC"/>
                    </a:solidFill>
                  </a:tcPr>
                </a:tc>
              </a:tr>
              <a:tr h="365760">
                <a:tc>
                  <a:txBody>
                    <a:bodyPr/>
                    <a:lstStyle/>
                    <a:p>
                      <a:r>
                        <a:rPr sz="950" b="0">
                          <a:solidFill>
                            <a:srgbClr val="161A23"/>
                          </a:solidFill>
                          <a:latin typeface="Calibri"/>
                        </a:rPr>
                        <a:t>Activities</a:t>
                      </a:r>
                    </a:p>
                  </a:txBody>
                  <a:tcPr>
                    <a:solidFill>
                      <a:srgbClr val="FFFFFF"/>
                    </a:solidFill>
                  </a:tcPr>
                </a:tc>
                <a:tc>
                  <a:txBody>
                    <a:bodyPr/>
                    <a:lstStyle/>
                    <a:p>
                      <a:r>
                        <a:rPr sz="950" b="0">
                          <a:solidFill>
                            <a:srgbClr val="161A23"/>
                          </a:solidFill>
                          <a:latin typeface="Calibri"/>
                        </a:rPr>
                        <a:t>search_attractions, search_restaurants, search_internet, calculate</a:t>
                      </a:r>
                    </a:p>
                  </a:txBody>
                  <a:tcPr>
                    <a:solidFill>
                      <a:srgbClr val="FFFFFF"/>
                    </a:solidFill>
                  </a:tcPr>
                </a:tc>
                <a:tc>
                  <a:txBody>
                    <a:bodyPr/>
                    <a:lstStyle/>
                    <a:p>
                      <a:r>
                        <a:rPr sz="950" b="0">
                          <a:solidFill>
                            <a:srgbClr val="161A23"/>
                          </a:solidFill>
                          <a:latin typeface="Calibri"/>
                        </a:rPr>
                        <a:t>distilled_search_attractions, distilled_search_restaurants</a:t>
                      </a:r>
                    </a:p>
                  </a:txBody>
                  <a:tcPr>
                    <a:solidFill>
                      <a:srgbClr val="FFFFFF"/>
                    </a:solidFill>
                  </a:tcPr>
                </a:tc>
                <a:tc>
                  <a:txBody>
                    <a:bodyPr/>
                    <a:lstStyle/>
                    <a:p>
                      <a:r>
                        <a:rPr sz="950" b="0">
                          <a:solidFill>
                            <a:srgbClr val="161A23"/>
                          </a:solidFill>
                          <a:latin typeface="Calibri"/>
                        </a:rPr>
                        <a:t>agent removed</a:t>
                      </a:r>
                    </a:p>
                  </a:txBody>
                  <a:tcPr>
                    <a:solidFill>
                      <a:srgbClr val="FFFFFF"/>
                    </a:solidFill>
                  </a:tcPr>
                </a:tc>
              </a:tr>
              <a:tr h="365760">
                <a:tc>
                  <a:txBody>
                    <a:bodyPr/>
                    <a:lstStyle/>
                    <a:p>
                      <a:r>
                        <a:rPr sz="950" b="0">
                          <a:solidFill>
                            <a:srgbClr val="161A23"/>
                          </a:solidFill>
                          <a:latin typeface="Calibri"/>
                        </a:rPr>
                        <a:t>Itinerary Coordinator</a:t>
                      </a:r>
                    </a:p>
                  </a:txBody>
                  <a:tcPr>
                    <a:solidFill>
                      <a:srgbClr val="F7F8FC"/>
                    </a:solidFill>
                  </a:tcPr>
                </a:tc>
                <a:tc>
                  <a:txBody>
                    <a:bodyPr/>
                    <a:lstStyle/>
                    <a:p>
                      <a:r>
                        <a:rPr sz="950" b="0">
                          <a:solidFill>
                            <a:srgbClr val="161A23"/>
                          </a:solidFill>
                          <a:latin typeface="Calibri"/>
                        </a:rPr>
                        <a:t>calculate, search_internet, search_attractions, search_restaurants</a:t>
                      </a:r>
                    </a:p>
                  </a:txBody>
                  <a:tcPr>
                    <a:solidFill>
                      <a:srgbClr val="F7F8FC"/>
                    </a:solidFill>
                  </a:tcPr>
                </a:tc>
                <a:tc>
                  <a:txBody>
                    <a:bodyPr/>
                    <a:lstStyle/>
                    <a:p>
                      <a:r>
                        <a:rPr sz="950" b="0">
                          <a:solidFill>
                            <a:srgbClr val="161A23"/>
                          </a:solidFill>
                          <a:latin typeface="Calibri"/>
                        </a:rPr>
                        <a:t>none</a:t>
                      </a:r>
                    </a:p>
                  </a:txBody>
                  <a:tcPr>
                    <a:solidFill>
                      <a:srgbClr val="F7F8FC"/>
                    </a:solidFill>
                  </a:tcPr>
                </a:tc>
                <a:tc>
                  <a:txBody>
                    <a:bodyPr/>
                    <a:lstStyle/>
                    <a:p>
                      <a:r>
                        <a:rPr sz="950" b="0">
                          <a:solidFill>
                            <a:srgbClr val="161A23"/>
                          </a:solidFill>
                          <a:latin typeface="Calibri"/>
                        </a:rPr>
                        <a:t>calculate, search_internet, search_attractions, search_restaurants</a:t>
                      </a:r>
                    </a:p>
                  </a:txBody>
                  <a:tcPr>
                    <a:solidFill>
                      <a:srgbClr val="F7F8FC"/>
                    </a:solidFill>
                  </a:tcPr>
                </a:tc>
              </a:tr>
              <a:tr h="365760">
                <a:tc>
                  <a:txBody>
                    <a:bodyPr/>
                    <a:lstStyle/>
                    <a:p>
                      <a:r>
                        <a:rPr sz="950" b="0">
                          <a:solidFill>
                            <a:srgbClr val="161A23"/>
                          </a:solidFill>
                          <a:latin typeface="Calibri"/>
                        </a:rPr>
                        <a:t>TOTAL TOOLS</a:t>
                      </a:r>
                    </a:p>
                  </a:txBody>
                  <a:tcPr>
                    <a:solidFill>
                      <a:srgbClr val="FFFFFF"/>
                    </a:solidFill>
                  </a:tcPr>
                </a:tc>
                <a:tc>
                  <a:txBody>
                    <a:bodyPr/>
                    <a:lstStyle/>
                    <a:p>
                      <a:r>
                        <a:rPr sz="950" b="0">
                          <a:solidFill>
                            <a:srgbClr val="161A23"/>
                          </a:solidFill>
                          <a:latin typeface="Calibri"/>
                        </a:rPr>
                        <a:t>20</a:t>
                      </a:r>
                    </a:p>
                  </a:txBody>
                  <a:tcPr>
                    <a:solidFill>
                      <a:srgbClr val="FFFFFF"/>
                    </a:solidFill>
                  </a:tcPr>
                </a:tc>
                <a:tc>
                  <a:txBody>
                    <a:bodyPr/>
                    <a:lstStyle/>
                    <a:p>
                      <a:r>
                        <a:rPr sz="950" b="0">
                          <a:solidFill>
                            <a:srgbClr val="161A23"/>
                          </a:solidFill>
                          <a:latin typeface="Calibri"/>
                        </a:rPr>
                        <a:t>4</a:t>
                      </a:r>
                    </a:p>
                  </a:txBody>
                  <a:tcPr>
                    <a:solidFill>
                      <a:srgbClr val="FFFFFF"/>
                    </a:solidFill>
                  </a:tcPr>
                </a:tc>
                <a:tc>
                  <a:txBody>
                    <a:bodyPr/>
                    <a:lstStyle/>
                    <a:p>
                      <a:r>
                        <a:rPr sz="950" b="0">
                          <a:solidFill>
                            <a:srgbClr val="161A23"/>
                          </a:solidFill>
                          <a:latin typeface="Calibri"/>
                        </a:rPr>
                        <a:t>4</a:t>
                      </a:r>
                    </a:p>
                  </a:txBody>
                  <a:tcPr>
                    <a:solidFill>
                      <a:srgbClr val="FFFFFF"/>
                    </a:solidFill>
                  </a:tcPr>
                </a:tc>
              </a:tr>
            </a:tbl>
          </a:graphicData>
        </a:graphic>
      </p:graphicFrame>
      <p:sp>
        <p:nvSpPr>
          <p:cNvPr id="6" name="TextBox 5"/>
          <p:cNvSpPr txBox="1"/>
          <p:nvPr/>
        </p:nvSpPr>
        <p:spPr>
          <a:xfrm>
            <a:off x="822960" y="5852160"/>
            <a:ext cx="10515600" cy="640080"/>
          </a:xfrm>
          <a:prstGeom prst="rect">
            <a:avLst/>
          </a:prstGeom>
          <a:noFill/>
        </p:spPr>
        <p:txBody>
          <a:bodyPr wrap="square" anchor="t">
            <a:spAutoFit/>
          </a:bodyPr>
          <a:lstStyle/>
          <a:p>
            <a:pPr algn="l">
              <a:lnSpc>
                <a:spcPct val="100000"/>
              </a:lnSpc>
            </a:pPr>
            <a:r>
              <a:rPr sz="1600" b="1">
                <a:solidFill>
                  <a:srgbClr val="161A23"/>
                </a:solidFill>
                <a:latin typeface="Calibri"/>
              </a:rPr>
              <a:t>The hotel agent alone had 8 tools. Every time it thinks, all 8 tool descriptions are sent to the AI again.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4  ·  HOW MANY AI CALLS EACH ONE MAKES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Per trip planned</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103120"/>
          <a:ext cx="10515598" cy="1828800"/>
        </p:xfrm>
        <a:graphic>
          <a:graphicData uri="http://schemas.openxmlformats.org/drawingml/2006/table">
            <a:tbl>
              <a:tblPr firstRow="1" bandRow="1">
                <a:tableStyleId>{5C22544A-7EE6-4342-B048-85BDC9FD1C3A}</a:tableStyleId>
              </a:tblPr>
              <a:tblGrid>
                <a:gridCol w="510466"/>
                <a:gridCol w="3471168"/>
                <a:gridCol w="1633491"/>
                <a:gridCol w="2654423"/>
                <a:gridCol w="2246050"/>
              </a:tblGrid>
              <a:tr h="365760">
                <a:tc>
                  <a:txBody>
                    <a:bodyPr/>
                    <a:lstStyle/>
                    <a:p>
                      <a:r>
                        <a:rPr sz="1400" b="1">
                          <a:solidFill>
                            <a:srgbClr val="FFFFFF"/>
                          </a:solidFill>
                          <a:latin typeface="Calibri"/>
                        </a:rPr>
                        <a:t> </a:t>
                      </a:r>
                    </a:p>
                  </a:txBody>
                  <a:tcPr>
                    <a:solidFill>
                      <a:srgbClr val="4338CA"/>
                    </a:solidFill>
                  </a:tcPr>
                </a:tc>
                <a:tc>
                  <a:txBody>
                    <a:bodyPr/>
                    <a:lstStyle/>
                    <a:p>
                      <a:r>
                        <a:rPr sz="1400" b="1">
                          <a:solidFill>
                            <a:srgbClr val="FFFFFF"/>
                          </a:solidFill>
                          <a:latin typeface="Calibri"/>
                        </a:rPr>
                        <a:t>Approach</a:t>
                      </a:r>
                    </a:p>
                  </a:txBody>
                  <a:tcPr>
                    <a:solidFill>
                      <a:srgbClr val="4338CA"/>
                    </a:solidFill>
                  </a:tcPr>
                </a:tc>
                <a:tc>
                  <a:txBody>
                    <a:bodyPr/>
                    <a:lstStyle/>
                    <a:p>
                      <a:r>
                        <a:rPr sz="1400" b="1">
                          <a:solidFill>
                            <a:srgbClr val="FFFFFF"/>
                          </a:solidFill>
                          <a:latin typeface="Calibri"/>
                        </a:rPr>
                        <a:t>AI calls</a:t>
                      </a:r>
                    </a:p>
                  </a:txBody>
                  <a:tcPr>
                    <a:solidFill>
                      <a:srgbClr val="4338CA"/>
                    </a:solidFill>
                  </a:tcPr>
                </a:tc>
                <a:tc>
                  <a:txBody>
                    <a:bodyPr/>
                    <a:lstStyle/>
                    <a:p>
                      <a:r>
                        <a:rPr sz="1400" b="1">
                          <a:solidFill>
                            <a:srgbClr val="FFFFFF"/>
                          </a:solidFill>
                          <a:latin typeface="Calibri"/>
                        </a:rPr>
                        <a:t>Text sent to the AI</a:t>
                      </a:r>
                    </a:p>
                  </a:txBody>
                  <a:tcPr>
                    <a:solidFill>
                      <a:srgbClr val="4338CA"/>
                    </a:solidFill>
                  </a:tcPr>
                </a:tc>
                <a:tc>
                  <a:txBody>
                    <a:bodyPr/>
                    <a:lstStyle/>
                    <a:p>
                      <a:r>
                        <a:rPr sz="1400" b="1">
                          <a:solidFill>
                            <a:srgbClr val="FFFFFF"/>
                          </a:solidFill>
                          <a:latin typeface="Calibri"/>
                        </a:rPr>
                        <a:t>Cost per trip</a:t>
                      </a:r>
                    </a:p>
                  </a:txBody>
                  <a:tcPr>
                    <a:solidFill>
                      <a:srgbClr val="4338CA"/>
                    </a:solidFill>
                  </a:tcPr>
                </a:tc>
              </a:tr>
              <a:tr h="365760">
                <a:tc>
                  <a:txBody>
                    <a:bodyPr/>
                    <a:lstStyle/>
                    <a:p>
                      <a:r>
                        <a:rPr sz="1400" b="0">
                          <a:solidFill>
                            <a:srgbClr val="161A23"/>
                          </a:solidFill>
                          <a:latin typeface="Calibri"/>
                        </a:rPr>
                        <a:t>A</a:t>
                      </a:r>
                    </a:p>
                  </a:txBody>
                  <a:tcPr>
                    <a:solidFill>
                      <a:srgbClr val="FFFFFF"/>
                    </a:solidFill>
                  </a:tcPr>
                </a:tc>
                <a:tc>
                  <a:txBody>
                    <a:bodyPr/>
                    <a:lstStyle/>
                    <a:p>
                      <a:r>
                        <a:rPr sz="1400" b="0">
                          <a:solidFill>
                            <a:srgbClr val="161A23"/>
                          </a:solidFill>
                          <a:latin typeface="Calibri"/>
                        </a:rPr>
                        <a:t>One AI, no tools</a:t>
                      </a:r>
                    </a:p>
                  </a:txBody>
                  <a:tcPr>
                    <a:solidFill>
                      <a:srgbClr val="FFFFFF"/>
                    </a:solidFill>
                  </a:tcPr>
                </a:tc>
                <a:tc>
                  <a:txBody>
                    <a:bodyPr/>
                    <a:lstStyle/>
                    <a:p>
                      <a:r>
                        <a:rPr sz="1400" b="0">
                          <a:solidFill>
                            <a:srgbClr val="161A23"/>
                          </a:solidFill>
                          <a:latin typeface="Calibri"/>
                        </a:rPr>
                        <a:t>1</a:t>
                      </a:r>
                    </a:p>
                  </a:txBody>
                  <a:tcPr>
                    <a:solidFill>
                      <a:srgbClr val="FFFFFF"/>
                    </a:solidFill>
                  </a:tcPr>
                </a:tc>
                <a:tc>
                  <a:txBody>
                    <a:bodyPr/>
                    <a:lstStyle/>
                    <a:p>
                      <a:r>
                        <a:rPr sz="1400" b="0">
                          <a:solidFill>
                            <a:srgbClr val="161A23"/>
                          </a:solidFill>
                          <a:latin typeface="Calibri"/>
                        </a:rPr>
                        <a:t>4,644</a:t>
                      </a:r>
                    </a:p>
                  </a:txBody>
                  <a:tcPr>
                    <a:solidFill>
                      <a:srgbClr val="FFFFFF"/>
                    </a:solidFill>
                  </a:tcPr>
                </a:tc>
                <a:tc>
                  <a:txBody>
                    <a:bodyPr/>
                    <a:lstStyle/>
                    <a:p>
                      <a:r>
                        <a:rPr sz="1400" b="0">
                          <a:solidFill>
                            <a:srgbClr val="161A23"/>
                          </a:solidFill>
                          <a:latin typeface="Calibri"/>
                        </a:rPr>
                        <a:t>$0.017</a:t>
                      </a:r>
                    </a:p>
                  </a:txBody>
                  <a:tcPr>
                    <a:solidFill>
                      <a:srgbClr val="FFFFFF"/>
                    </a:solidFill>
                  </a:tcPr>
                </a:tc>
              </a:tr>
              <a:tr h="365760">
                <a:tc>
                  <a:txBody>
                    <a:bodyPr/>
                    <a:lstStyle/>
                    <a:p>
                      <a:r>
                        <a:rPr sz="1400" b="0">
                          <a:solidFill>
                            <a:srgbClr val="161A23"/>
                          </a:solidFill>
                          <a:latin typeface="Calibri"/>
                        </a:rPr>
                        <a:t>B</a:t>
                      </a:r>
                    </a:p>
                  </a:txBody>
                  <a:tcPr>
                    <a:solidFill>
                      <a:srgbClr val="F7F8FC"/>
                    </a:solidFill>
                  </a:tcPr>
                </a:tc>
                <a:tc>
                  <a:txBody>
                    <a:bodyPr/>
                    <a:lstStyle/>
                    <a:p>
                      <a:r>
                        <a:rPr sz="1400" b="0">
                          <a:solidFill>
                            <a:srgbClr val="161A23"/>
                          </a:solidFill>
                          <a:latin typeface="Calibri"/>
                        </a:rPr>
                        <a:t>Six agents, first try</a:t>
                      </a:r>
                    </a:p>
                  </a:txBody>
                  <a:tcPr>
                    <a:solidFill>
                      <a:srgbClr val="F7F8FC"/>
                    </a:solidFill>
                  </a:tcPr>
                </a:tc>
                <a:tc>
                  <a:txBody>
                    <a:bodyPr/>
                    <a:lstStyle/>
                    <a:p>
                      <a:r>
                        <a:rPr sz="1400" b="0">
                          <a:solidFill>
                            <a:srgbClr val="161A23"/>
                          </a:solidFill>
                          <a:latin typeface="Calibri"/>
                        </a:rPr>
                        <a:t>21</a:t>
                      </a:r>
                    </a:p>
                  </a:txBody>
                  <a:tcPr>
                    <a:solidFill>
                      <a:srgbClr val="F7F8FC"/>
                    </a:solidFill>
                  </a:tcPr>
                </a:tc>
                <a:tc>
                  <a:txBody>
                    <a:bodyPr/>
                    <a:lstStyle/>
                    <a:p>
                      <a:r>
                        <a:rPr sz="1400" b="0">
                          <a:solidFill>
                            <a:srgbClr val="161A23"/>
                          </a:solidFill>
                          <a:latin typeface="Calibri"/>
                        </a:rPr>
                        <a:t>120,703</a:t>
                      </a:r>
                    </a:p>
                  </a:txBody>
                  <a:tcPr>
                    <a:solidFill>
                      <a:srgbClr val="F7F8FC"/>
                    </a:solidFill>
                  </a:tcPr>
                </a:tc>
                <a:tc>
                  <a:txBody>
                    <a:bodyPr/>
                    <a:lstStyle/>
                    <a:p>
                      <a:r>
                        <a:rPr sz="1400" b="0">
                          <a:solidFill>
                            <a:srgbClr val="161A23"/>
                          </a:solidFill>
                          <a:latin typeface="Calibri"/>
                        </a:rPr>
                        <a:t>$0.186</a:t>
                      </a:r>
                    </a:p>
                  </a:txBody>
                  <a:tcPr>
                    <a:solidFill>
                      <a:srgbClr val="F7F8FC"/>
                    </a:solidFill>
                  </a:tcPr>
                </a:tc>
              </a:tr>
              <a:tr h="365760">
                <a:tc>
                  <a:txBody>
                    <a:bodyPr/>
                    <a:lstStyle/>
                    <a:p>
                      <a:r>
                        <a:rPr sz="1400" b="0">
                          <a:solidFill>
                            <a:srgbClr val="161A23"/>
                          </a:solidFill>
                          <a:latin typeface="Calibri"/>
                        </a:rPr>
                        <a:t>C</a:t>
                      </a:r>
                    </a:p>
                  </a:txBody>
                  <a:tcPr>
                    <a:solidFill>
                      <a:srgbClr val="FFFFFF"/>
                    </a:solidFill>
                  </a:tcPr>
                </a:tc>
                <a:tc>
                  <a:txBody>
                    <a:bodyPr/>
                    <a:lstStyle/>
                    <a:p>
                      <a:r>
                        <a:rPr sz="1400" b="0">
                          <a:solidFill>
                            <a:srgbClr val="161A23"/>
                          </a:solidFill>
                          <a:latin typeface="Calibri"/>
                        </a:rPr>
                        <a:t>Six agents, tidied up</a:t>
                      </a:r>
                    </a:p>
                  </a:txBody>
                  <a:tcPr>
                    <a:solidFill>
                      <a:srgbClr val="FFFFFF"/>
                    </a:solidFill>
                  </a:tcPr>
                </a:tc>
                <a:tc>
                  <a:txBody>
                    <a:bodyPr/>
                    <a:lstStyle/>
                    <a:p>
                      <a:r>
                        <a:rPr sz="1400" b="0">
                          <a:solidFill>
                            <a:srgbClr val="161A23"/>
                          </a:solidFill>
                          <a:latin typeface="Calibri"/>
                        </a:rPr>
                        <a:t>10</a:t>
                      </a:r>
                    </a:p>
                  </a:txBody>
                  <a:tcPr>
                    <a:solidFill>
                      <a:srgbClr val="FFFFFF"/>
                    </a:solidFill>
                  </a:tcPr>
                </a:tc>
                <a:tc>
                  <a:txBody>
                    <a:bodyPr/>
                    <a:lstStyle/>
                    <a:p>
                      <a:r>
                        <a:rPr sz="1400" b="0">
                          <a:solidFill>
                            <a:srgbClr val="161A23"/>
                          </a:solidFill>
                          <a:latin typeface="Calibri"/>
                        </a:rPr>
                        <a:t>13,521</a:t>
                      </a:r>
                    </a:p>
                  </a:txBody>
                  <a:tcPr>
                    <a:solidFill>
                      <a:srgbClr val="FFFFFF"/>
                    </a:solidFill>
                  </a:tcPr>
                </a:tc>
                <a:tc>
                  <a:txBody>
                    <a:bodyPr/>
                    <a:lstStyle/>
                    <a:p>
                      <a:r>
                        <a:rPr sz="1400" b="0">
                          <a:solidFill>
                            <a:srgbClr val="161A23"/>
                          </a:solidFill>
                          <a:latin typeface="Calibri"/>
                        </a:rPr>
                        <a:t>$0.031</a:t>
                      </a:r>
                    </a:p>
                  </a:txBody>
                  <a:tcPr>
                    <a:solidFill>
                      <a:srgbClr val="FFFFFF"/>
                    </a:solidFill>
                  </a:tcPr>
                </a:tc>
              </a:tr>
              <a:tr h="365760">
                <a:tc>
                  <a:txBody>
                    <a:bodyPr/>
                    <a:lstStyle/>
                    <a:p>
                      <a:r>
                        <a:rPr sz="1400" b="0">
                          <a:solidFill>
                            <a:srgbClr val="161A23"/>
                          </a:solidFill>
                          <a:latin typeface="Calibri"/>
                        </a:rPr>
                        <a:t>D</a:t>
                      </a:r>
                    </a:p>
                  </a:txBody>
                  <a:tcPr>
                    <a:solidFill>
                      <a:srgbClr val="F7F8FC"/>
                    </a:solidFill>
                  </a:tcPr>
                </a:tc>
                <a:tc>
                  <a:txBody>
                    <a:bodyPr/>
                    <a:lstStyle/>
                    <a:p>
                      <a:r>
                        <a:rPr sz="1400" b="0">
                          <a:solidFill>
                            <a:srgbClr val="161A23"/>
                          </a:solidFill>
                          <a:latin typeface="Calibri"/>
                        </a:rPr>
                        <a:t>Three agents  (shipped)</a:t>
                      </a:r>
                    </a:p>
                  </a:txBody>
                  <a:tcPr>
                    <a:solidFill>
                      <a:srgbClr val="F7F8FC"/>
                    </a:solidFill>
                  </a:tcPr>
                </a:tc>
                <a:tc>
                  <a:txBody>
                    <a:bodyPr/>
                    <a:lstStyle/>
                    <a:p>
                      <a:r>
                        <a:rPr sz="1400" b="0">
                          <a:solidFill>
                            <a:srgbClr val="161A23"/>
                          </a:solidFill>
                          <a:latin typeface="Calibri"/>
                        </a:rPr>
                        <a:t>2</a:t>
                      </a:r>
                    </a:p>
                  </a:txBody>
                  <a:tcPr>
                    <a:solidFill>
                      <a:srgbClr val="F7F8FC"/>
                    </a:solidFill>
                  </a:tcPr>
                </a:tc>
                <a:tc>
                  <a:txBody>
                    <a:bodyPr/>
                    <a:lstStyle/>
                    <a:p>
                      <a:r>
                        <a:rPr sz="1400" b="0">
                          <a:solidFill>
                            <a:srgbClr val="161A23"/>
                          </a:solidFill>
                          <a:latin typeface="Calibri"/>
                        </a:rPr>
                        <a:t>7,840</a:t>
                      </a:r>
                    </a:p>
                  </a:txBody>
                  <a:tcPr>
                    <a:solidFill>
                      <a:srgbClr val="F7F8FC"/>
                    </a:solidFill>
                  </a:tcPr>
                </a:tc>
                <a:tc>
                  <a:txBody>
                    <a:bodyPr/>
                    <a:lstStyle/>
                    <a:p>
                      <a:r>
                        <a:rPr sz="1400" b="0">
                          <a:solidFill>
                            <a:srgbClr val="161A23"/>
                          </a:solidFill>
                          <a:latin typeface="Calibri"/>
                        </a:rPr>
                        <a:t>$0.018</a:t>
                      </a:r>
                    </a:p>
                  </a:txBody>
                  <a:tcPr>
                    <a:solidFill>
                      <a:srgbClr val="F7F8FC"/>
                    </a:solidFill>
                  </a:tcPr>
                </a:tc>
              </a:tr>
            </a:tbl>
          </a:graphicData>
        </a:graphic>
      </p:graphicFrame>
      <p:sp>
        <p:nvSpPr>
          <p:cNvPr id="6" name="TextBox 5"/>
          <p:cNvSpPr txBox="1"/>
          <p:nvPr/>
        </p:nvSpPr>
        <p:spPr>
          <a:xfrm>
            <a:off x="822960" y="4480560"/>
            <a:ext cx="10515600" cy="1463040"/>
          </a:xfrm>
          <a:prstGeom prst="rect">
            <a:avLst/>
          </a:prstGeom>
          <a:noFill/>
        </p:spPr>
        <p:txBody>
          <a:bodyPr wrap="square" anchor="t">
            <a:spAutoFit/>
          </a:bodyPr>
          <a:lstStyle/>
          <a:p>
            <a:pPr algn="l">
              <a:lnSpc>
                <a:spcPct val="125000"/>
              </a:lnSpc>
            </a:pPr>
            <a:r>
              <a:rPr sz="2600" b="1">
                <a:solidFill>
                  <a:srgbClr val="4338CA"/>
                </a:solidFill>
                <a:latin typeface="Calibri"/>
              </a:rPr>
              <a:t>B needs 21 AI calls. D needs 2.</a:t>
            </a:r>
          </a:p>
          <a:p>
            <a:pPr algn="l">
              <a:lnSpc>
                <a:spcPct val="125000"/>
              </a:lnSpc>
            </a:pPr>
            <a:r>
              <a:rPr sz="600" b="0">
                <a:solidFill>
                  <a:srgbClr val="161A23"/>
                </a:solidFill>
                <a:latin typeface="Calibri"/>
              </a:rPr>
              <a:t/>
            </a:r>
          </a:p>
          <a:p>
            <a:pPr algn="l">
              <a:lnSpc>
                <a:spcPct val="125000"/>
              </a:lnSpc>
            </a:pPr>
            <a:r>
              <a:rPr sz="1900" b="0">
                <a:solidFill>
                  <a:srgbClr val="545C6E"/>
                </a:solidFill>
                <a:latin typeface="Calibri"/>
              </a:rPr>
              <a:t>That is 15 times less text, for the same finished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5  ·  WHAT THE USER SEES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form, live progress, the plan in tabs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end.png"/>
          <p:cNvPicPr>
            <a:picLocks noChangeAspect="1"/>
          </p:cNvPicPr>
          <p:nvPr/>
        </p:nvPicPr>
        <p:blipFill>
          <a:blip r:embed="rId2"/>
          <a:stretch>
            <a:fillRect/>
          </a:stretch>
        </p:blipFill>
        <p:spPr>
          <a:xfrm>
            <a:off x="2352101" y="1783080"/>
            <a:ext cx="7487493" cy="4297680"/>
          </a:xfrm>
          <a:prstGeom prst="rect">
            <a:avLst/>
          </a:prstGeom>
        </p:spPr>
      </p:pic>
      <p:sp>
        <p:nvSpPr>
          <p:cNvPr id="6" name="TextBox 5"/>
          <p:cNvSpPr txBox="1"/>
          <p:nvPr/>
        </p:nvSpPr>
        <p:spPr>
          <a:xfrm>
            <a:off x="822960" y="6172200"/>
            <a:ext cx="10515600" cy="457200"/>
          </a:xfrm>
          <a:prstGeom prst="rect">
            <a:avLst/>
          </a:prstGeom>
          <a:noFill/>
        </p:spPr>
        <p:txBody>
          <a:bodyPr wrap="square" anchor="t">
            <a:spAutoFit/>
          </a:bodyPr>
          <a:lstStyle/>
          <a:p>
            <a:pPr algn="l">
              <a:lnSpc>
                <a:spcPct val="100000"/>
              </a:lnSpc>
            </a:pPr>
            <a:r>
              <a:rPr sz="1500" b="0">
                <a:solidFill>
                  <a:srgbClr val="545C6E"/>
                </a:solidFill>
                <a:latin typeface="Calibri"/>
              </a:rPr>
              <a:t>Purple steps use AI. Green steps are normal code.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6  ·  WHAT WENT WRONG IN EACH ONE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Measured, not guessed. This is why D exists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9" cy="1828800"/>
        </p:xfrm>
        <a:graphic>
          <a:graphicData uri="http://schemas.openxmlformats.org/drawingml/2006/table">
            <a:tbl>
              <a:tblPr firstRow="1" bandRow="1">
                <a:tableStyleId>{5C22544A-7EE6-4342-B048-85BDC9FD1C3A}</a:tableStyleId>
              </a:tblPr>
              <a:tblGrid>
                <a:gridCol w="477981"/>
                <a:gridCol w="10037618"/>
              </a:tblGrid>
              <a:tr h="365760">
                <a:tc>
                  <a:txBody>
                    <a:bodyPr/>
                    <a:lstStyle/>
                    <a:p>
                      <a:r>
                        <a:rPr sz="1350" b="1">
                          <a:solidFill>
                            <a:srgbClr val="FFFFFF"/>
                          </a:solidFill>
                          <a:latin typeface="Calibri"/>
                        </a:rPr>
                        <a:t> </a:t>
                      </a:r>
                    </a:p>
                  </a:txBody>
                  <a:tcPr>
                    <a:solidFill>
                      <a:srgbClr val="4338CA"/>
                    </a:solidFill>
                  </a:tcPr>
                </a:tc>
                <a:tc>
                  <a:txBody>
                    <a:bodyPr/>
                    <a:lstStyle/>
                    <a:p>
                      <a:r>
                        <a:rPr sz="1350" b="1">
                          <a:solidFill>
                            <a:srgbClr val="FFFFFF"/>
                          </a:solidFill>
                          <a:latin typeface="Calibri"/>
                        </a:rPr>
                        <a:t>The problem I measured</a:t>
                      </a:r>
                    </a:p>
                  </a:txBody>
                  <a:tcPr>
                    <a:solidFill>
                      <a:srgbClr val="4338CA"/>
                    </a:solidFill>
                  </a:tcPr>
                </a:tc>
              </a:tr>
              <a:tr h="365760">
                <a:tc>
                  <a:txBody>
                    <a:bodyPr/>
                    <a:lstStyle/>
                    <a:p>
                      <a:r>
                        <a:rPr sz="1350" b="0">
                          <a:solidFill>
                            <a:srgbClr val="161A23"/>
                          </a:solidFill>
                          <a:latin typeface="Calibri"/>
                        </a:rPr>
                        <a:t>A</a:t>
                      </a:r>
                    </a:p>
                  </a:txBody>
                  <a:tcPr>
                    <a:solidFill>
                      <a:srgbClr val="FFFFFF"/>
                    </a:solidFill>
                  </a:tcPr>
                </a:tc>
                <a:tc>
                  <a:txBody>
                    <a:bodyPr/>
                    <a:lstStyle/>
                    <a:p>
                      <a:r>
                        <a:rPr sz="1350" b="0">
                          <a:solidFill>
                            <a:srgbClr val="161A23"/>
                          </a:solidFill>
                          <a:latin typeface="Calibri"/>
                        </a:rPr>
                        <a:t>No tools, so it invents everything. Only 1.7% of its prices matched a real one</a:t>
                      </a:r>
                    </a:p>
                  </a:txBody>
                  <a:tcPr>
                    <a:solidFill>
                      <a:srgbClr val="FFFFFF"/>
                    </a:solidFill>
                  </a:tcPr>
                </a:tc>
              </a:tr>
              <a:tr h="365760">
                <a:tc>
                  <a:txBody>
                    <a:bodyPr/>
                    <a:lstStyle/>
                    <a:p>
                      <a:r>
                        <a:rPr sz="1350" b="0">
                          <a:solidFill>
                            <a:srgbClr val="161A23"/>
                          </a:solidFill>
                          <a:latin typeface="Calibri"/>
                        </a:rPr>
                        <a:t>B</a:t>
                      </a:r>
                    </a:p>
                  </a:txBody>
                  <a:tcPr>
                    <a:solidFill>
                      <a:srgbClr val="F7F8FC"/>
                    </a:solidFill>
                  </a:tcPr>
                </a:tc>
                <a:tc>
                  <a:txBody>
                    <a:bodyPr/>
                    <a:lstStyle/>
                    <a:p>
                      <a:r>
                        <a:rPr sz="1350" b="0">
                          <a:solidFill>
                            <a:srgbClr val="161A23"/>
                          </a:solidFill>
                          <a:latin typeface="Calibri"/>
                        </a:rPr>
                        <a:t>Did not use its own tools: never called the attractions or the restaurant tool once. Twice gave broken output</a:t>
                      </a:r>
                    </a:p>
                  </a:txBody>
                  <a:tcPr>
                    <a:solidFill>
                      <a:srgbClr val="F7F8FC"/>
                    </a:solidFill>
                  </a:tcPr>
                </a:tc>
              </a:tr>
              <a:tr h="365760">
                <a:tc>
                  <a:txBody>
                    <a:bodyPr/>
                    <a:lstStyle/>
                    <a:p>
                      <a:r>
                        <a:rPr sz="1350" b="0">
                          <a:solidFill>
                            <a:srgbClr val="161A23"/>
                          </a:solidFill>
                          <a:latin typeface="Calibri"/>
                        </a:rPr>
                        <a:t>C</a:t>
                      </a:r>
                    </a:p>
                  </a:txBody>
                  <a:tcPr>
                    <a:solidFill>
                      <a:srgbClr val="FFFFFF"/>
                    </a:solidFill>
                  </a:tcPr>
                </a:tc>
                <a:tc>
                  <a:txBody>
                    <a:bodyPr/>
                    <a:lstStyle/>
                    <a:p>
                      <a:r>
                        <a:rPr sz="1350" b="0">
                          <a:solidFill>
                            <a:srgbClr val="161A23"/>
                          </a:solidFill>
                          <a:latin typeface="Calibri"/>
                        </a:rPr>
                        <a:t>Better, but still missed things: never called the flight tool at all on the recorded run</a:t>
                      </a:r>
                    </a:p>
                  </a:txBody>
                  <a:tcPr>
                    <a:solidFill>
                      <a:srgbClr val="FFFFFF"/>
                    </a:solidFill>
                  </a:tcPr>
                </a:tc>
              </a:tr>
              <a:tr h="365760">
                <a:tc>
                  <a:txBody>
                    <a:bodyPr/>
                    <a:lstStyle/>
                    <a:p>
                      <a:r>
                        <a:rPr sz="1350" b="0">
                          <a:solidFill>
                            <a:srgbClr val="161A23"/>
                          </a:solidFill>
                          <a:latin typeface="Calibri"/>
                        </a:rPr>
                        <a:t>D</a:t>
                      </a:r>
                    </a:p>
                  </a:txBody>
                  <a:tcPr>
                    <a:solidFill>
                      <a:srgbClr val="F7F8FC"/>
                    </a:solidFill>
                  </a:tcPr>
                </a:tc>
                <a:tc>
                  <a:txBody>
                    <a:bodyPr/>
                    <a:lstStyle/>
                    <a:p>
                      <a:r>
                        <a:rPr sz="1350" b="0">
                          <a:solidFill>
                            <a:srgbClr val="161A23"/>
                          </a:solidFill>
                          <a:latin typeface="Calibri"/>
                        </a:rPr>
                        <a:t>Always makes the same 5 requests, because code decides, not AI. Nothing gets skipped</a:t>
                      </a:r>
                    </a:p>
                  </a:txBody>
                  <a:tcPr>
                    <a:solidFill>
                      <a:srgbClr val="F7F8FC"/>
                    </a:solidFill>
                  </a:tcPr>
                </a:tc>
              </a:tr>
            </a:tbl>
          </a:graphicData>
        </a:graphic>
      </p:graphicFrame>
      <p:sp>
        <p:nvSpPr>
          <p:cNvPr id="6" name="TextBox 5"/>
          <p:cNvSpPr txBox="1"/>
          <p:nvPr/>
        </p:nvSpPr>
        <p:spPr>
          <a:xfrm>
            <a:off x="822960" y="4937760"/>
            <a:ext cx="10515600" cy="1188720"/>
          </a:xfrm>
          <a:prstGeom prst="rect">
            <a:avLst/>
          </a:prstGeom>
          <a:noFill/>
        </p:spPr>
        <p:txBody>
          <a:bodyPr wrap="square" anchor="t">
            <a:spAutoFit/>
          </a:bodyPr>
          <a:lstStyle/>
          <a:p>
            <a:pPr algn="l">
              <a:lnSpc>
                <a:spcPct val="125000"/>
              </a:lnSpc>
            </a:pPr>
            <a:r>
              <a:rPr sz="2100" b="1">
                <a:solidFill>
                  <a:srgbClr val="A85B00"/>
                </a:solidFill>
                <a:latin typeface="Calibri"/>
              </a:rPr>
              <a:t>When AI decides which tools to use, sometimes it just does not use them.</a:t>
            </a:r>
          </a:p>
          <a:p>
            <a:pPr algn="l">
              <a:lnSpc>
                <a:spcPct val="125000"/>
              </a:lnSpc>
            </a:pPr>
            <a:r>
              <a:rPr sz="1700" b="0">
                <a:solidFill>
                  <a:srgbClr val="545C6E"/>
                </a:solidFill>
                <a:latin typeface="Calibri"/>
              </a:rPr>
              <a:t>The plan still looks complete. That is what makes it dangerous.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7  ·  THE BUDGET CHECK</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It splits the money, then refuses the impossible</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965960"/>
          <a:ext cx="10515599" cy="1828800"/>
        </p:xfrm>
        <a:graphic>
          <a:graphicData uri="http://schemas.openxmlformats.org/drawingml/2006/table">
            <a:tbl>
              <a:tblPr firstRow="1" bandRow="1">
                <a:tableStyleId>{5C22544A-7EE6-4342-B048-85BDC9FD1C3A}</a:tableStyleId>
              </a:tblPr>
              <a:tblGrid>
                <a:gridCol w="1602377"/>
                <a:gridCol w="8913222"/>
              </a:tblGrid>
              <a:tr h="365760">
                <a:tc>
                  <a:txBody>
                    <a:bodyPr/>
                    <a:lstStyle/>
                    <a:p>
                      <a:r>
                        <a:rPr sz="1350" b="1">
                          <a:solidFill>
                            <a:srgbClr val="FFFFFF"/>
                          </a:solidFill>
                          <a:latin typeface="Calibri"/>
                        </a:rPr>
                        <a:t>Step</a:t>
                      </a:r>
                    </a:p>
                  </a:txBody>
                  <a:tcPr>
                    <a:solidFill>
                      <a:srgbClr val="4338CA"/>
                    </a:solidFill>
                  </a:tcPr>
                </a:tc>
                <a:tc>
                  <a:txBody>
                    <a:bodyPr/>
                    <a:lstStyle/>
                    <a:p>
                      <a:r>
                        <a:rPr sz="1350" b="1">
                          <a:solidFill>
                            <a:srgbClr val="FFFFFF"/>
                          </a:solidFill>
                          <a:latin typeface="Calibri"/>
                        </a:rPr>
                        <a:t>What it does</a:t>
                      </a:r>
                    </a:p>
                  </a:txBody>
                  <a:tcPr>
                    <a:solidFill>
                      <a:srgbClr val="4338CA"/>
                    </a:solidFill>
                  </a:tcPr>
                </a:tc>
              </a:tr>
              <a:tr h="365760">
                <a:tc>
                  <a:txBody>
                    <a:bodyPr/>
                    <a:lstStyle/>
                    <a:p>
                      <a:r>
                        <a:rPr sz="1350" b="0">
                          <a:solidFill>
                            <a:srgbClr val="161A23"/>
                          </a:solidFill>
                          <a:latin typeface="Calibri"/>
                        </a:rPr>
                        <a:t>1  Split</a:t>
                      </a:r>
                    </a:p>
                  </a:txBody>
                  <a:tcPr>
                    <a:solidFill>
                      <a:srgbClr val="FFFFFF"/>
                    </a:solidFill>
                  </a:tcPr>
                </a:tc>
                <a:tc>
                  <a:txBody>
                    <a:bodyPr/>
                    <a:lstStyle/>
                    <a:p>
                      <a:r>
                        <a:rPr sz="1350" b="0">
                          <a:solidFill>
                            <a:srgbClr val="161A23"/>
                          </a:solidFill>
                          <a:latin typeface="Calibri"/>
                        </a:rPr>
                        <a:t>Divides the budget across flights, hotel, food and things to do - based on this trip, not a fixed share</a:t>
                      </a:r>
                    </a:p>
                  </a:txBody>
                  <a:tcPr>
                    <a:solidFill>
                      <a:srgbClr val="FFFFFF"/>
                    </a:solidFill>
                  </a:tcPr>
                </a:tc>
              </a:tr>
              <a:tr h="365760">
                <a:tc>
                  <a:txBody>
                    <a:bodyPr/>
                    <a:lstStyle/>
                    <a:p>
                      <a:r>
                        <a:rPr sz="1350" b="0">
                          <a:solidFill>
                            <a:srgbClr val="161A23"/>
                          </a:solidFill>
                          <a:latin typeface="Calibri"/>
                        </a:rPr>
                        <a:t>2  Listen</a:t>
                      </a:r>
                    </a:p>
                  </a:txBody>
                  <a:tcPr>
                    <a:solidFill>
                      <a:srgbClr val="F7F8FC"/>
                    </a:solidFill>
                  </a:tcPr>
                </a:tc>
                <a:tc>
                  <a:txBody>
                    <a:bodyPr/>
                    <a:lstStyle/>
                    <a:p>
                      <a:r>
                        <a:rPr sz="1350" b="0">
                          <a:solidFill>
                            <a:srgbClr val="161A23"/>
                          </a:solidFill>
                          <a:latin typeface="Calibri"/>
                        </a:rPr>
                        <a:t>"a luxury stay" moves money to the hotel; "I can compromise" moves it to experiences</a:t>
                      </a:r>
                    </a:p>
                  </a:txBody>
                  <a:tcPr>
                    <a:solidFill>
                      <a:srgbClr val="F7F8FC"/>
                    </a:solidFill>
                  </a:tcPr>
                </a:tc>
              </a:tr>
              <a:tr h="365760">
                <a:tc>
                  <a:txBody>
                    <a:bodyPr/>
                    <a:lstStyle/>
                    <a:p>
                      <a:r>
                        <a:rPr sz="1350" b="0">
                          <a:solidFill>
                            <a:srgbClr val="161A23"/>
                          </a:solidFill>
                          <a:latin typeface="Calibri"/>
                        </a:rPr>
                        <a:t>3  Check</a:t>
                      </a:r>
                    </a:p>
                  </a:txBody>
                  <a:tcPr>
                    <a:solidFill>
                      <a:srgbClr val="FFFFFF"/>
                    </a:solidFill>
                  </a:tcPr>
                </a:tc>
                <a:tc>
                  <a:txBody>
                    <a:bodyPr/>
                    <a:lstStyle/>
                    <a:p>
                      <a:r>
                        <a:rPr sz="1350" b="0">
                          <a:solidFill>
                            <a:srgbClr val="161A23"/>
                          </a:solidFill>
                          <a:latin typeface="Calibri"/>
                        </a:rPr>
                        <a:t>Works out the cheapest this trip could possibly cost</a:t>
                      </a:r>
                    </a:p>
                  </a:txBody>
                  <a:tcPr>
                    <a:solidFill>
                      <a:srgbClr val="FFFFFF"/>
                    </a:solidFill>
                  </a:tcPr>
                </a:tc>
              </a:tr>
              <a:tr h="365760">
                <a:tc>
                  <a:txBody>
                    <a:bodyPr/>
                    <a:lstStyle/>
                    <a:p>
                      <a:r>
                        <a:rPr sz="1350" b="0">
                          <a:solidFill>
                            <a:srgbClr val="161A23"/>
                          </a:solidFill>
                          <a:latin typeface="Calibri"/>
                        </a:rPr>
                        <a:t>4  Refuse</a:t>
                      </a:r>
                    </a:p>
                  </a:txBody>
                  <a:tcPr>
                    <a:solidFill>
                      <a:srgbClr val="F7F8FC"/>
                    </a:solidFill>
                  </a:tcPr>
                </a:tc>
                <a:tc>
                  <a:txBody>
                    <a:bodyPr/>
                    <a:lstStyle/>
                    <a:p>
                      <a:r>
                        <a:rPr sz="1350" b="0">
                          <a:solidFill>
                            <a:srgbClr val="161A23"/>
                          </a:solidFill>
                          <a:latin typeface="Calibri"/>
                        </a:rPr>
                        <a:t>If the budget is below that, it says so and offers three ways to fix it</a:t>
                      </a:r>
                    </a:p>
                  </a:txBody>
                  <a:tcPr>
                    <a:solidFill>
                      <a:srgbClr val="F7F8FC"/>
                    </a:solidFill>
                  </a:tcPr>
                </a:tc>
              </a:tr>
            </a:tbl>
          </a:graphicData>
        </a:graphic>
      </p:graphicFrame>
      <p:sp>
        <p:nvSpPr>
          <p:cNvPr id="6" name="TextBox 5"/>
          <p:cNvSpPr txBox="1"/>
          <p:nvPr/>
        </p:nvSpPr>
        <p:spPr>
          <a:xfrm>
            <a:off x="822960" y="46177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$800</a:t>
            </a:r>
          </a:p>
        </p:txBody>
      </p:sp>
      <p:sp>
        <p:nvSpPr>
          <p:cNvPr id="7" name="TextBox 6"/>
          <p:cNvSpPr txBox="1"/>
          <p:nvPr/>
        </p:nvSpPr>
        <p:spPr>
          <a:xfrm>
            <a:off x="822960" y="57607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traveller asked for</a:t>
            </a:r>
          </a:p>
        </p:txBody>
      </p:sp>
      <p:sp>
        <p:nvSpPr>
          <p:cNvPr id="8" name="TextBox 7"/>
          <p:cNvSpPr txBox="1"/>
          <p:nvPr/>
        </p:nvSpPr>
        <p:spPr>
          <a:xfrm>
            <a:off x="4338218" y="46177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$837</a:t>
            </a:r>
          </a:p>
        </p:txBody>
      </p:sp>
      <p:sp>
        <p:nvSpPr>
          <p:cNvPr id="9" name="TextBox 8"/>
          <p:cNvSpPr txBox="1"/>
          <p:nvPr/>
        </p:nvSpPr>
        <p:spPr>
          <a:xfrm>
            <a:off x="4338218" y="57607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cheapest it can be done</a:t>
            </a:r>
          </a:p>
        </p:txBody>
      </p:sp>
      <p:sp>
        <p:nvSpPr>
          <p:cNvPr id="10" name="TextBox 9"/>
          <p:cNvSpPr txBox="1"/>
          <p:nvPr/>
        </p:nvSpPr>
        <p:spPr>
          <a:xfrm>
            <a:off x="7853476" y="46177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REFUSED</a:t>
            </a:r>
          </a:p>
        </p:txBody>
      </p:sp>
      <p:sp>
        <p:nvSpPr>
          <p:cNvPr id="11" name="TextBox 10"/>
          <p:cNvSpPr txBox="1"/>
          <p:nvPr/>
        </p:nvSpPr>
        <p:spPr>
          <a:xfrm>
            <a:off x="7853476" y="57607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with reasons given</a:t>
            </a:r>
          </a:p>
        </p:txBody>
      </p:sp>
      <p:sp>
        <p:nvSpPr>
          <p:cNvPr id="12" name="TextBox 11"/>
          <p:cNvSpPr txBox="1"/>
          <p:nvPr/>
        </p:nvSpPr>
        <p:spPr>
          <a:xfrm>
            <a:off x="822960" y="6035040"/>
            <a:ext cx="10515600" cy="548640"/>
          </a:xfrm>
          <a:prstGeom prst="rect">
            <a:avLst/>
          </a:prstGeom>
          <a:noFill/>
        </p:spPr>
        <p:txBody>
          <a:bodyPr wrap="square" anchor="t">
            <a:spAutoFit/>
          </a:bodyPr>
          <a:lstStyle/>
          <a:p>
            <a:pPr algn="l">
              <a:lnSpc>
                <a:spcPct val="100000"/>
              </a:lnSpc>
            </a:pPr>
            <a:r>
              <a:rPr sz="1500" b="0">
                <a:solidFill>
                  <a:srgbClr val="545C6E"/>
                </a:solidFill>
                <a:latin typeface="Calibri"/>
              </a:rPr>
              <a:t>It uses the real recorded price. The built-in table said $350; the API returned $734.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8  ·  RESULTS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Cheaper, and just as accurate</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fficiency.png"/>
          <p:cNvPicPr>
            <a:picLocks noChangeAspect="1"/>
          </p:cNvPicPr>
          <p:nvPr/>
        </p:nvPicPr>
        <p:blipFill>
          <a:blip r:embed="rId2"/>
          <a:stretch>
            <a:fillRect/>
          </a:stretch>
        </p:blipFill>
        <p:spPr>
          <a:xfrm>
            <a:off x="3156962" y="1737360"/>
            <a:ext cx="5877771" cy="3474720"/>
          </a:xfrm>
          <a:prstGeom prst="rect">
            <a:avLst/>
          </a:prstGeom>
        </p:spPr>
      </p:pic>
      <p:sp>
        <p:nvSpPr>
          <p:cNvPr id="6" name="TextBox 5"/>
          <p:cNvSpPr txBox="1"/>
          <p:nvPr/>
        </p:nvSpPr>
        <p:spPr>
          <a:xfrm>
            <a:off x="822960" y="53492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15x</a:t>
            </a:r>
          </a:p>
        </p:txBody>
      </p:sp>
      <p:sp>
        <p:nvSpPr>
          <p:cNvPr id="7" name="TextBox 6"/>
          <p:cNvSpPr txBox="1"/>
          <p:nvPr/>
        </p:nvSpPr>
        <p:spPr>
          <a:xfrm>
            <a:off x="822960" y="649224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cheaper than the all-agent version</a:t>
            </a:r>
          </a:p>
        </p:txBody>
      </p:sp>
      <p:sp>
        <p:nvSpPr>
          <p:cNvPr id="8" name="TextBox 7"/>
          <p:cNvSpPr txBox="1"/>
          <p:nvPr/>
        </p:nvSpPr>
        <p:spPr>
          <a:xfrm>
            <a:off x="4338218" y="53492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47%</a:t>
            </a:r>
          </a:p>
        </p:txBody>
      </p:sp>
      <p:sp>
        <p:nvSpPr>
          <p:cNvPr id="9" name="TextBox 8"/>
          <p:cNvSpPr txBox="1"/>
          <p:nvPr/>
        </p:nvSpPr>
        <p:spPr>
          <a:xfrm>
            <a:off x="4338218" y="649224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of my plan's prices are real</a:t>
            </a:r>
          </a:p>
        </p:txBody>
      </p:sp>
      <p:sp>
        <p:nvSpPr>
          <p:cNvPr id="10" name="TextBox 9"/>
          <p:cNvSpPr txBox="1"/>
          <p:nvPr/>
        </p:nvSpPr>
        <p:spPr>
          <a:xfrm>
            <a:off x="7853476" y="53492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3/9</a:t>
            </a:r>
          </a:p>
        </p:txBody>
      </p:sp>
      <p:sp>
        <p:nvSpPr>
          <p:cNvPr id="11" name="TextBox 10"/>
          <p:cNvSpPr txBox="1"/>
          <p:nvPr/>
        </p:nvSpPr>
        <p:spPr>
          <a:xfrm>
            <a:off x="7853476" y="649224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of my own design checks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46304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IN ONE SENTENCE</a:t>
            </a:r>
          </a:p>
        </p:txBody>
      </p:sp>
      <p:sp>
        <p:nvSpPr>
          <p:cNvPr id="3" name="TextBox 2"/>
          <p:cNvSpPr txBox="1"/>
          <p:nvPr/>
        </p:nvSpPr>
        <p:spPr>
          <a:xfrm>
            <a:off x="1005840" y="1920240"/>
            <a:ext cx="10241280" cy="2011680"/>
          </a:xfrm>
          <a:prstGeom prst="rect">
            <a:avLst/>
          </a:prstGeom>
          <a:noFill/>
        </p:spPr>
        <p:txBody>
          <a:bodyPr wrap="square" anchor="t">
            <a:spAutoFit/>
          </a:bodyPr>
          <a:lstStyle/>
          <a:p>
            <a:pPr algn="l">
              <a:lnSpc>
                <a:spcPct val="120000"/>
              </a:lnSpc>
            </a:pPr>
            <a:r>
              <a:rPr sz="3600" b="1">
                <a:solidFill>
                  <a:srgbClr val="FFFFFF"/>
                </a:solidFill>
                <a:latin typeface="Calibri"/>
              </a:rPr>
              <a:t>Give AI the steps that need thinking.</a:t>
            </a:r>
          </a:p>
          <a:p>
            <a:pPr algn="l">
              <a:lnSpc>
                <a:spcPct val="120000"/>
              </a:lnSpc>
            </a:pPr>
            <a:r>
              <a:rPr sz="3600" b="1">
                <a:solidFill>
                  <a:srgbClr val="6EE7DF"/>
                </a:solidFill>
                <a:latin typeface="Calibri"/>
              </a:rPr>
              <a:t>Let normal code do the looking up.</a:t>
            </a:r>
          </a:p>
        </p:txBody>
      </p:sp>
      <p:sp>
        <p:nvSpPr>
          <p:cNvPr id="4" name="Rectangle 3"/>
          <p:cNvSpPr/>
          <p:nvPr/>
        </p:nvSpPr>
        <p:spPr>
          <a:xfrm>
            <a:off x="1005840" y="416052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480560"/>
            <a:ext cx="10241280" cy="1828800"/>
          </a:xfrm>
          <a:prstGeom prst="rect">
            <a:avLst/>
          </a:prstGeom>
          <a:noFill/>
        </p:spPr>
        <p:txBody>
          <a:bodyPr wrap="square" anchor="t">
            <a:spAutoFit/>
          </a:bodyPr>
          <a:lstStyle/>
          <a:p>
            <a:pPr algn="l">
              <a:lnSpc>
                <a:spcPct val="130000"/>
              </a:lnSpc>
            </a:pPr>
            <a:r>
              <a:rPr sz="1700" b="0">
                <a:solidFill>
                  <a:srgbClr val="C7D2FE"/>
                </a:solidFill>
                <a:latin typeface="Calibri"/>
              </a:rPr>
              <a:t>15x cheaper  ·  same accuracy  ·  403 tests  ·  30 saved API replies so anyone can repeat it</a:t>
            </a:r>
          </a:p>
          <a:p>
            <a:pPr algn="l">
              <a:lnSpc>
                <a:spcPct val="130000"/>
              </a:lnSpc>
            </a:pPr>
            <a:r>
              <a:rPr sz="800" b="0">
                <a:solidFill>
                  <a:srgbClr val="FFFFFF"/>
                </a:solidFill>
                <a:latin typeface="Calibri"/>
              </a:rPr>
              <a:t/>
            </a:r>
          </a:p>
          <a:p>
            <a:pPr algn="l">
              <a:lnSpc>
                <a:spcPct val="130000"/>
              </a:lnSpc>
            </a:pPr>
            <a:r>
              <a:rPr sz="1500" b="0">
                <a:solidFill>
                  <a:srgbClr val="9CA3F5"/>
                </a:solidFill>
                <a:latin typeface="Calibri"/>
              </a:rPr>
              <a:t>The gap: only 1 of 20 trips measured for cost, because of the free API limits.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
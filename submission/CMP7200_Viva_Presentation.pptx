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slides, fifteen minutes. The project is a working travel planner. The research question is which steps inside it actually need AI. I built it four ways and measured all four: the agent version needed 20.6 AI calls per trip and mine needs 2.0.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agents became three. The three that stayed each fail the test "could I write this as ordinary code?" - you cannot write a rule that understands any phrasing a person might use, and you cannot write a rule that makes a day pleasant. The three that went were only ever making API calls, and an IF statement does that perfectly well.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Tuning the six agents without changing the design cut the text sent by 89%. Comparing B against D alone would have mixed two effects together and claimed credit for both.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useful table in the deck. The hotel agent held 8 tools and was allowed 10 loops. Every loop is a full AI call that re-sends the conversation and all 8 tool descriptions. Twenty tool slots in B, four in C, four in D - and in D they belong to the coordinator, which does not loop looking for data because the data is already there.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Worth demonstrating live. The seven rows tick over as each step finishes, so the page never looks frozen, and the same steps are narrated in the terminal at the same time. Ask for six nights in London on three thousand dollars and it refuses, names the shortfall, and offers a shorter trip or a nearer city.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heart of the argument. An agent that skips a tool still writes a confident, well-formatted itinerary, so you cannot tell by reading it. B never fetched attractions or restaurants at all and still produced a full plan. That is why groundedness is measured rather than judged by eye.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features people ask about. Dividing: it used to be one fixed percentage for every trip, and now it reads the wording - on a two thousand dollar Istanbul trip the room budget moves from $327 to $664 depending on what the traveller says matters. Checking: tested on all 20 trips, it never wrongly refuses a workable one and misses 1 impossible one. Agreement score 0.643.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runs of each version, so every bar has a range, and the ranges for B and D do not overlap. On accuracy: A is the control and scores 1.7% - a confident itinerary invented from nothing, which is what that measure exists to catch. It caught a real one: my first working run produced a complete plan while every tool call was silently failing.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of 9 checks fail: message priority is declared and never used, permissions declared and never enforced. Cost coverage is one trip because the free plans allow thirty flight searches a month, and 30 saved responses mean anyone can still reproduce every number with no API keys. All three are stated in the abstract, not buried.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claim and its limit in the same breath. The effect is large and the sample is narrow, and both are in the abstract. The saved replies, the harness and the twenty trips are committed, so the next person - or me next month when the limits reset - can widen it without rebuilding.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square" anchor="t">
            <a:spAutoFit/>
          </a:bodyPr>
          <a:lstStyle/>
          <a:p>
            <a:pPr algn="l">
              <a:lnSpc>
                <a:spcPct val="100000"/>
              </a:lnSpc>
            </a:pPr>
            <a:r>
              <a:rPr sz="1200" b="1">
                <a:solidFill>
                  <a:srgbClr val="9CA3F5"/>
                </a:solidFill>
                <a:latin typeface="Calibri"/>
              </a:rPr>
              <a:t>MSc DISSERTATION  ·  VIVA VOCE  ·  CMP7200 — Individual Master's Project</a:t>
            </a:r>
          </a:p>
        </p:txBody>
      </p:sp>
      <p:sp>
        <p:nvSpPr>
          <p:cNvPr id="3" name="TextBox 2"/>
          <p:cNvSpPr txBox="1"/>
          <p:nvPr/>
        </p:nvSpPr>
        <p:spPr>
          <a:xfrm>
            <a:off x="822960" y="914400"/>
            <a:ext cx="10515600" cy="1097280"/>
          </a:xfrm>
          <a:prstGeom prst="rect">
            <a:avLst/>
          </a:prstGeom>
          <a:noFill/>
        </p:spPr>
        <p:txBody>
          <a:bodyPr wrap="square" anchor="t">
            <a:spAutoFit/>
          </a:bodyPr>
          <a:lstStyle/>
          <a:p>
            <a:pPr algn="l">
              <a:lnSpc>
                <a:spcPct val="100000"/>
              </a:lnSpc>
            </a:pPr>
            <a:r>
              <a:rPr sz="4600" b="1">
                <a:solidFill>
                  <a:srgbClr val="FFFFFF"/>
                </a:solidFill>
                <a:latin typeface="Calibri"/>
              </a:rPr>
              <a:t>AI Trip Planner</a:t>
            </a:r>
          </a:p>
        </p:txBody>
      </p:sp>
      <p:sp>
        <p:nvSpPr>
          <p:cNvPr id="4" name="TextBox 3"/>
          <p:cNvSpPr txBox="1"/>
          <p:nvPr/>
        </p:nvSpPr>
        <p:spPr>
          <a:xfrm>
            <a:off x="822960" y="1965960"/>
            <a:ext cx="10515600" cy="640080"/>
          </a:xfrm>
          <a:prstGeom prst="rect">
            <a:avLst/>
          </a:prstGeom>
          <a:noFill/>
        </p:spPr>
        <p:txBody>
          <a:bodyPr wrap="square" anchor="t">
            <a:spAutoFit/>
          </a:bodyPr>
          <a:lstStyle/>
          <a:p>
            <a:pPr algn="l">
              <a:lnSpc>
                <a:spcPct val="100000"/>
              </a:lnSpc>
            </a:pPr>
            <a:r>
              <a:rPr sz="1700" b="0">
                <a:solidFill>
                  <a:srgbClr val="C7D2FE"/>
                </a:solidFill>
                <a:latin typeface="Calibri"/>
              </a:rPr>
              <a:t>Type where you want to go. Get a day-by-day plan built from real flight and hotel prices.</a:t>
            </a:r>
          </a:p>
        </p:txBody>
      </p:sp>
      <p:sp>
        <p:nvSpPr>
          <p:cNvPr id="5" name="Rectangle 4"/>
          <p:cNvSpPr/>
          <p:nvPr/>
        </p:nvSpPr>
        <p:spPr>
          <a:xfrm>
            <a:off x="822960" y="2697480"/>
            <a:ext cx="1280160" cy="34000"/>
          </a:xfrm>
          <a:prstGeom prst="rect">
            <a:avLst/>
          </a:prstGeom>
          <a:solidFill>
            <a:srgbClr val="0EA5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063240"/>
            <a:ext cx="4937760" cy="2377440"/>
          </a:xfrm>
          <a:prstGeom prst="rect">
            <a:avLst/>
          </a:prstGeom>
          <a:noFill/>
        </p:spPr>
        <p:txBody>
          <a:bodyPr wrap="square" anchor="t">
            <a:spAutoFit/>
          </a:bodyPr>
          <a:lstStyle/>
          <a:p>
            <a:pPr algn="l">
              <a:lnSpc>
                <a:spcPct val="125000"/>
              </a:lnSpc>
            </a:pPr>
            <a:r>
              <a:rPr sz="1300" b="1">
                <a:solidFill>
                  <a:srgbClr val="F0B46A"/>
                </a:solidFill>
                <a:latin typeface="Calibri"/>
              </a:rPr>
              <a:t>THE PROBLEM</a:t>
            </a:r>
          </a:p>
          <a:p>
            <a:pPr algn="l">
              <a:lnSpc>
                <a:spcPct val="125000"/>
              </a:lnSpc>
            </a:pPr>
            <a:r>
              <a:rPr sz="600" b="0">
                <a:solidFill>
                  <a:srgbClr val="FFFFFF"/>
                </a:solidFill>
                <a:latin typeface="Calibri"/>
              </a:rPr>
              <a:t/>
            </a:r>
          </a:p>
          <a:p>
            <a:pPr algn="l">
              <a:lnSpc>
                <a:spcPct val="125000"/>
              </a:lnSpc>
            </a:pPr>
            <a:r>
              <a:rPr sz="1700" b="0">
                <a:solidFill>
                  <a:srgbClr val="FFFFFF"/>
                </a:solidFill>
                <a:latin typeface="Calibri"/>
              </a:rPr>
              <a:t>AI agents are given tools and left to decide when to use them.</a:t>
            </a:r>
          </a:p>
          <a:p>
            <a:pPr algn="l">
              <a:lnSpc>
                <a:spcPct val="125000"/>
              </a:lnSpc>
            </a:pPr>
            <a:r>
              <a:rPr sz="500" b="0">
                <a:solidFill>
                  <a:srgbClr val="FFFFFF"/>
                </a:solidFill>
                <a:latin typeface="Calibri"/>
              </a:rPr>
              <a:t/>
            </a:r>
          </a:p>
          <a:p>
            <a:pPr algn="l">
              <a:lnSpc>
                <a:spcPct val="125000"/>
              </a:lnSpc>
            </a:pPr>
            <a:r>
              <a:rPr sz="1500" b="0">
                <a:solidFill>
                  <a:srgbClr val="C7D2FE"/>
                </a:solidFill>
                <a:latin typeface="Calibri"/>
              </a:rPr>
              <a:t>That cost 21 AI calls to plan one trip — and the agents still skipped their own tools.</a:t>
            </a:r>
          </a:p>
        </p:txBody>
      </p:sp>
      <p:sp>
        <p:nvSpPr>
          <p:cNvPr id="7" name="TextBox 6"/>
          <p:cNvSpPr txBox="1"/>
          <p:nvPr/>
        </p:nvSpPr>
        <p:spPr>
          <a:xfrm>
            <a:off x="6309360" y="3063240"/>
            <a:ext cx="5029200" cy="2377440"/>
          </a:xfrm>
          <a:prstGeom prst="rect">
            <a:avLst/>
          </a:prstGeom>
          <a:noFill/>
        </p:spPr>
        <p:txBody>
          <a:bodyPr wrap="square" anchor="t">
            <a:spAutoFit/>
          </a:bodyPr>
          <a:lstStyle/>
          <a:p>
            <a:pPr algn="l">
              <a:lnSpc>
                <a:spcPct val="125000"/>
              </a:lnSpc>
            </a:pPr>
            <a:r>
              <a:rPr sz="1300" b="1">
                <a:solidFill>
                  <a:srgbClr val="6EE7DF"/>
                </a:solidFill>
                <a:latin typeface="Calibri"/>
              </a:rPr>
              <a:t>MY SOLUTION</a:t>
            </a:r>
          </a:p>
          <a:p>
            <a:pPr algn="l">
              <a:lnSpc>
                <a:spcPct val="125000"/>
              </a:lnSpc>
            </a:pPr>
            <a:r>
              <a:rPr sz="600" b="0">
                <a:solidFill>
                  <a:srgbClr val="FFFFFF"/>
                </a:solidFill>
                <a:latin typeface="Calibri"/>
              </a:rPr>
              <a:t/>
            </a:r>
          </a:p>
          <a:p>
            <a:pPr algn="l">
              <a:lnSpc>
                <a:spcPct val="125000"/>
              </a:lnSpc>
            </a:pPr>
            <a:r>
              <a:rPr sz="1700" b="0">
                <a:solidFill>
                  <a:srgbClr val="FFFFFF"/>
                </a:solidFill>
                <a:latin typeface="Calibri"/>
              </a:rPr>
              <a:t>Use AI only where a step needs thinking. Fetch data with plain code.</a:t>
            </a:r>
          </a:p>
          <a:p>
            <a:pPr algn="l">
              <a:lnSpc>
                <a:spcPct val="125000"/>
              </a:lnSpc>
            </a:pPr>
            <a:r>
              <a:rPr sz="500" b="0">
                <a:solidFill>
                  <a:srgbClr val="FFFFFF"/>
                </a:solidFill>
                <a:latin typeface="Calibri"/>
              </a:rPr>
              <a:t/>
            </a:r>
          </a:p>
          <a:p>
            <a:pPr algn="l">
              <a:lnSpc>
                <a:spcPct val="125000"/>
              </a:lnSpc>
            </a:pPr>
            <a:r>
              <a:rPr sz="1500" b="0">
                <a:solidFill>
                  <a:srgbClr val="6EE7DF"/>
                </a:solidFill>
                <a:latin typeface="Calibri"/>
              </a:rPr>
              <a:t>Same plan for 2 AI calls — 15x cheaper, just as accurate.</a:t>
            </a:r>
          </a:p>
        </p:txBody>
      </p:sp>
      <p:sp>
        <p:nvSpPr>
          <p:cNvPr id="8" name="TextBox 7"/>
          <p:cNvSpPr txBox="1"/>
          <p:nvPr/>
        </p:nvSpPr>
        <p:spPr>
          <a:xfrm>
            <a:off x="822960" y="5806440"/>
            <a:ext cx="10515600" cy="457200"/>
          </a:xfrm>
          <a:prstGeom prst="rect">
            <a:avLst/>
          </a:prstGeom>
          <a:noFill/>
        </p:spPr>
        <p:txBody>
          <a:bodyPr wrap="square" anchor="t">
            <a:spAutoFit/>
          </a:bodyPr>
          <a:lstStyle/>
          <a:p>
            <a:pPr algn="l">
              <a:lnSpc>
                <a:spcPct val="100000"/>
              </a:lnSpc>
            </a:pPr>
            <a:r>
              <a:rPr sz="1200" b="0">
                <a:solidFill>
                  <a:srgbClr val="9CA3F5"/>
                </a:solidFill>
                <a:latin typeface="Calibri"/>
              </a:rPr>
              <a:t>Student 25182589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1  ·  THE AGENTS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Their real names, and what each one does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2011680"/>
          <a:ext cx="10515599" cy="2560320"/>
        </p:xfrm>
        <a:graphic>
          <a:graphicData uri="http://schemas.openxmlformats.org/drawingml/2006/table">
            <a:tbl>
              <a:tblPr firstRow="1" bandRow="1">
                <a:tableStyleId>{5C22544A-7EE6-4342-B048-85BDC9FD1C3A}</a:tableStyleId>
              </a:tblPr>
              <a:tblGrid>
                <a:gridCol w="3250276"/>
                <a:gridCol w="5162203"/>
                <a:gridCol w="2103120"/>
              </a:tblGrid>
              <a:tr h="365760">
                <a:tc>
                  <a:txBody>
                    <a:bodyPr/>
                    <a:lstStyle/>
                    <a:p>
                      <a:r>
                        <a:rPr sz="1300" b="1">
                          <a:solidFill>
                            <a:srgbClr val="FFFFFF"/>
                          </a:solidFill>
                          <a:latin typeface="Calibri"/>
                        </a:rPr>
                        <a:t>Agent name</a:t>
                      </a:r>
                    </a:p>
                  </a:txBody>
                  <a:tcPr>
                    <a:solidFill>
                      <a:srgbClr val="4338CA"/>
                    </a:solidFill>
                  </a:tcPr>
                </a:tc>
                <a:tc>
                  <a:txBody>
                    <a:bodyPr/>
                    <a:lstStyle/>
                    <a:p>
                      <a:r>
                        <a:rPr sz="1300" b="1">
                          <a:solidFill>
                            <a:srgbClr val="FFFFFF"/>
                          </a:solidFill>
                          <a:latin typeface="Calibri"/>
                        </a:rPr>
                        <a:t>Its job</a:t>
                      </a:r>
                    </a:p>
                  </a:txBody>
                  <a:tcPr>
                    <a:solidFill>
                      <a:srgbClr val="4338CA"/>
                    </a:solidFill>
                  </a:tcPr>
                </a:tc>
                <a:tc>
                  <a:txBody>
                    <a:bodyPr/>
                    <a:lstStyle/>
                    <a:p>
                      <a:r>
                        <a:rPr sz="1300" b="1">
                          <a:solidFill>
                            <a:srgbClr val="FFFFFF"/>
                          </a:solidFill>
                          <a:latin typeface="Calibri"/>
                        </a:rPr>
                        <a:t>Uses AI?</a:t>
                      </a:r>
                    </a:p>
                  </a:txBody>
                  <a:tcPr>
                    <a:solidFill>
                      <a:srgbClr val="4338CA"/>
                    </a:solidFill>
                  </a:tcPr>
                </a:tc>
              </a:tr>
              <a:tr h="365760">
                <a:tc>
                  <a:txBody>
                    <a:bodyPr/>
                    <a:lstStyle/>
                    <a:p>
                      <a:r>
                        <a:rPr sz="1300" b="0">
                          <a:solidFill>
                            <a:srgbClr val="161A23"/>
                          </a:solidFill>
                          <a:latin typeface="Calibri"/>
                        </a:rPr>
                        <a:t>Travel Conversation Assistant</a:t>
                      </a:r>
                    </a:p>
                  </a:txBody>
                  <a:tcPr>
                    <a:solidFill>
                      <a:srgbClr val="FFFFFF"/>
                    </a:solidFill>
                  </a:tcPr>
                </a:tc>
                <a:tc>
                  <a:txBody>
                    <a:bodyPr/>
                    <a:lstStyle/>
                    <a:p>
                      <a:r>
                        <a:rPr sz="1300" b="0">
                          <a:solidFill>
                            <a:srgbClr val="161A23"/>
                          </a:solidFill>
                          <a:latin typeface="Calibri"/>
                        </a:rPr>
                        <a:t>Asks the traveller for anything missing</a:t>
                      </a:r>
                    </a:p>
                  </a:txBody>
                  <a:tcPr>
                    <a:solidFill>
                      <a:srgbClr val="FFFFFF"/>
                    </a:solidFill>
                  </a:tcPr>
                </a:tc>
                <a:tc>
                  <a:txBody>
                    <a:bodyPr/>
                    <a:lstStyle/>
                    <a:p>
                      <a:r>
                        <a:rPr sz="1300" b="0">
                          <a:solidFill>
                            <a:srgbClr val="161A23"/>
                          </a:solidFill>
                          <a:latin typeface="Calibri"/>
                        </a:rPr>
                        <a:t>YES</a:t>
                      </a:r>
                    </a:p>
                  </a:txBody>
                  <a:tcPr>
                    <a:solidFill>
                      <a:srgbClr val="FFFFFF"/>
                    </a:solidFill>
                  </a:tcPr>
                </a:tc>
              </a:tr>
              <a:tr h="365760">
                <a:tc>
                  <a:txBody>
                    <a:bodyPr/>
                    <a:lstStyle/>
                    <a:p>
                      <a:r>
                        <a:rPr sz="1300" b="0">
                          <a:solidFill>
                            <a:srgbClr val="161A23"/>
                          </a:solidFill>
                          <a:latin typeface="Calibri"/>
                        </a:rPr>
                        <a:t>Travel Preferences Extractor</a:t>
                      </a:r>
                    </a:p>
                  </a:txBody>
                  <a:tcPr>
                    <a:solidFill>
                      <a:srgbClr val="F7F8FC"/>
                    </a:solidFill>
                  </a:tcPr>
                </a:tc>
                <a:tc>
                  <a:txBody>
                    <a:bodyPr/>
                    <a:lstStyle/>
                    <a:p>
                      <a:r>
                        <a:rPr sz="1300" b="0">
                          <a:solidFill>
                            <a:srgbClr val="161A23"/>
                          </a:solidFill>
                          <a:latin typeface="Calibri"/>
                        </a:rPr>
                        <a:t>Turns the words into exact fields, then checks the budget</a:t>
                      </a:r>
                    </a:p>
                  </a:txBody>
                  <a:tcPr>
                    <a:solidFill>
                      <a:srgbClr val="F7F8FC"/>
                    </a:solidFill>
                  </a:tcPr>
                </a:tc>
                <a:tc>
                  <a:txBody>
                    <a:bodyPr/>
                    <a:lstStyle/>
                    <a:p>
                      <a:r>
                        <a:rPr sz="1300" b="0">
                          <a:solidFill>
                            <a:srgbClr val="161A23"/>
                          </a:solidFill>
                          <a:latin typeface="Calibri"/>
                        </a:rPr>
                        <a:t>YES</a:t>
                      </a:r>
                    </a:p>
                  </a:txBody>
                  <a:tcPr>
                    <a:solidFill>
                      <a:srgbClr val="F7F8FC"/>
                    </a:solidFill>
                  </a:tcPr>
                </a:tc>
              </a:tr>
              <a:tr h="365760">
                <a:tc>
                  <a:txBody>
                    <a:bodyPr/>
                    <a:lstStyle/>
                    <a:p>
                      <a:r>
                        <a:rPr sz="1300" b="0">
                          <a:solidFill>
                            <a:srgbClr val="161A23"/>
                          </a:solidFill>
                          <a:latin typeface="Calibri"/>
                        </a:rPr>
                        <a:t>Flight Search Specialist</a:t>
                      </a:r>
                    </a:p>
                  </a:txBody>
                  <a:tcPr>
                    <a:solidFill>
                      <a:srgbClr val="FFFFFF"/>
                    </a:solidFill>
                  </a:tcPr>
                </a:tc>
                <a:tc>
                  <a:txBody>
                    <a:bodyPr/>
                    <a:lstStyle/>
                    <a:p>
                      <a:r>
                        <a:rPr sz="1300" b="0">
                          <a:solidFill>
                            <a:srgbClr val="161A23"/>
                          </a:solidFill>
                          <a:latin typeface="Calibri"/>
                        </a:rPr>
                        <a:t>Finds flights</a:t>
                      </a:r>
                    </a:p>
                  </a:txBody>
                  <a:tcPr>
                    <a:solidFill>
                      <a:srgbClr val="FFFFFF"/>
                    </a:solidFill>
                  </a:tcPr>
                </a:tc>
                <a:tc>
                  <a:txBody>
                    <a:bodyPr/>
                    <a:lstStyle/>
                    <a:p>
                      <a:r>
                        <a:rPr sz="1300" b="0">
                          <a:solidFill>
                            <a:srgbClr val="161A23"/>
                          </a:solidFill>
                          <a:latin typeface="Calibri"/>
                        </a:rPr>
                        <a:t>no — removed in D</a:t>
                      </a:r>
                    </a:p>
                  </a:txBody>
                  <a:tcPr>
                    <a:solidFill>
                      <a:srgbClr val="FFFFFF"/>
                    </a:solidFill>
                  </a:tcPr>
                </a:tc>
              </a:tr>
              <a:tr h="365760">
                <a:tc>
                  <a:txBody>
                    <a:bodyPr/>
                    <a:lstStyle/>
                    <a:p>
                      <a:r>
                        <a:rPr sz="1300" b="0">
                          <a:solidFill>
                            <a:srgbClr val="161A23"/>
                          </a:solidFill>
                          <a:latin typeface="Calibri"/>
                        </a:rPr>
                        <a:t>Hotel Search Specialist</a:t>
                      </a:r>
                    </a:p>
                  </a:txBody>
                  <a:tcPr>
                    <a:solidFill>
                      <a:srgbClr val="F7F8FC"/>
                    </a:solidFill>
                  </a:tcPr>
                </a:tc>
                <a:tc>
                  <a:txBody>
                    <a:bodyPr/>
                    <a:lstStyle/>
                    <a:p>
                      <a:r>
                        <a:rPr sz="1300" b="0">
                          <a:solidFill>
                            <a:srgbClr val="161A23"/>
                          </a:solidFill>
                          <a:latin typeface="Calibri"/>
                        </a:rPr>
                        <a:t>Finds hotels</a:t>
                      </a:r>
                    </a:p>
                  </a:txBody>
                  <a:tcPr>
                    <a:solidFill>
                      <a:srgbClr val="F7F8FC"/>
                    </a:solidFill>
                  </a:tcPr>
                </a:tc>
                <a:tc>
                  <a:txBody>
                    <a:bodyPr/>
                    <a:lstStyle/>
                    <a:p>
                      <a:r>
                        <a:rPr sz="1300" b="0">
                          <a:solidFill>
                            <a:srgbClr val="161A23"/>
                          </a:solidFill>
                          <a:latin typeface="Calibri"/>
                        </a:rPr>
                        <a:t>no — removed in D</a:t>
                      </a:r>
                    </a:p>
                  </a:txBody>
                  <a:tcPr>
                    <a:solidFill>
                      <a:srgbClr val="F7F8FC"/>
                    </a:solidFill>
                  </a:tcPr>
                </a:tc>
              </a:tr>
              <a:tr h="365760">
                <a:tc>
                  <a:txBody>
                    <a:bodyPr/>
                    <a:lstStyle/>
                    <a:p>
                      <a:r>
                        <a:rPr sz="1300" b="0">
                          <a:solidFill>
                            <a:srgbClr val="161A23"/>
                          </a:solidFill>
                          <a:latin typeface="Calibri"/>
                        </a:rPr>
                        <a:t>Activities Specialist</a:t>
                      </a:r>
                    </a:p>
                  </a:txBody>
                  <a:tcPr>
                    <a:solidFill>
                      <a:srgbClr val="FFFFFF"/>
                    </a:solidFill>
                  </a:tcPr>
                </a:tc>
                <a:tc>
                  <a:txBody>
                    <a:bodyPr/>
                    <a:lstStyle/>
                    <a:p>
                      <a:r>
                        <a:rPr sz="1300" b="0">
                          <a:solidFill>
                            <a:srgbClr val="161A23"/>
                          </a:solidFill>
                          <a:latin typeface="Calibri"/>
                        </a:rPr>
                        <a:t>Finds attractions and restaurants</a:t>
                      </a:r>
                    </a:p>
                  </a:txBody>
                  <a:tcPr>
                    <a:solidFill>
                      <a:srgbClr val="FFFFFF"/>
                    </a:solidFill>
                  </a:tcPr>
                </a:tc>
                <a:tc>
                  <a:txBody>
                    <a:bodyPr/>
                    <a:lstStyle/>
                    <a:p>
                      <a:r>
                        <a:rPr sz="1300" b="0">
                          <a:solidFill>
                            <a:srgbClr val="161A23"/>
                          </a:solidFill>
                          <a:latin typeface="Calibri"/>
                        </a:rPr>
                        <a:t>no — removed in D</a:t>
                      </a:r>
                    </a:p>
                  </a:txBody>
                  <a:tcPr>
                    <a:solidFill>
                      <a:srgbClr val="FFFFFF"/>
                    </a:solidFill>
                  </a:tcPr>
                </a:tc>
              </a:tr>
              <a:tr h="365760">
                <a:tc>
                  <a:txBody>
                    <a:bodyPr/>
                    <a:lstStyle/>
                    <a:p>
                      <a:r>
                        <a:rPr sz="1300" b="0">
                          <a:solidFill>
                            <a:srgbClr val="161A23"/>
                          </a:solidFill>
                          <a:latin typeface="Calibri"/>
                        </a:rPr>
                        <a:t>Itinerary Coordinator</a:t>
                      </a:r>
                    </a:p>
                  </a:txBody>
                  <a:tcPr>
                    <a:solidFill>
                      <a:srgbClr val="F7F8FC"/>
                    </a:solidFill>
                  </a:tcPr>
                </a:tc>
                <a:tc>
                  <a:txBody>
                    <a:bodyPr/>
                    <a:lstStyle/>
                    <a:p>
                      <a:r>
                        <a:rPr sz="1300" b="0">
                          <a:solidFill>
                            <a:srgbClr val="161A23"/>
                          </a:solidFill>
                          <a:latin typeface="Calibri"/>
                        </a:rPr>
                        <a:t>Writes the day-by-day plan from what was found</a:t>
                      </a:r>
                    </a:p>
                  </a:txBody>
                  <a:tcPr>
                    <a:solidFill>
                      <a:srgbClr val="F7F8FC"/>
                    </a:solidFill>
                  </a:tcPr>
                </a:tc>
                <a:tc>
                  <a:txBody>
                    <a:bodyPr/>
                    <a:lstStyle/>
                    <a:p>
                      <a:r>
                        <a:rPr sz="1300" b="0">
                          <a:solidFill>
                            <a:srgbClr val="161A23"/>
                          </a:solidFill>
                          <a:latin typeface="Calibri"/>
                        </a:rPr>
                        <a:t>YES</a:t>
                      </a:r>
                    </a:p>
                  </a:txBody>
                  <a:tcPr>
                    <a:solidFill>
                      <a:srgbClr val="F7F8FC"/>
                    </a:solidFill>
                  </a:tcPr>
                </a:tc>
              </a:tr>
            </a:tbl>
          </a:graphicData>
        </a:graphic>
      </p:graphicFrame>
      <p:sp>
        <p:nvSpPr>
          <p:cNvPr id="6" name="TextBox 5"/>
          <p:cNvSpPr txBox="1"/>
          <p:nvPr/>
        </p:nvSpPr>
        <p:spPr>
          <a:xfrm>
            <a:off x="822960" y="5394960"/>
            <a:ext cx="10515600" cy="822960"/>
          </a:xfrm>
          <a:prstGeom prst="rect">
            <a:avLst/>
          </a:prstGeom>
          <a:noFill/>
        </p:spPr>
        <p:txBody>
          <a:bodyPr wrap="square" anchor="t">
            <a:spAutoFit/>
          </a:bodyPr>
          <a:lstStyle/>
          <a:p>
            <a:pPr algn="l">
              <a:lnSpc>
                <a:spcPct val="100000"/>
              </a:lnSpc>
            </a:pPr>
            <a:r>
              <a:rPr sz="1800" b="1">
                <a:solidFill>
                  <a:srgbClr val="4338CA"/>
                </a:solidFill>
                <a:latin typeface="Calibri"/>
              </a:rPr>
              <a:t>The three search agents were removed. Plain code does their job for a fraction of the cost.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2  ·  THE FOUR APPROACHES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Only one thing changes: who fetches the data</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2011680"/>
          <a:ext cx="10515598" cy="1828800"/>
        </p:xfrm>
        <a:graphic>
          <a:graphicData uri="http://schemas.openxmlformats.org/drawingml/2006/table">
            <a:tbl>
              <a:tblPr firstRow="1" bandRow="1">
                <a:tableStyleId>{5C22544A-7EE6-4342-B048-85BDC9FD1C3A}</a:tableStyleId>
              </a:tblPr>
              <a:tblGrid>
                <a:gridCol w="491383"/>
                <a:gridCol w="2850022"/>
                <a:gridCol w="2260362"/>
                <a:gridCol w="4913831"/>
              </a:tblGrid>
              <a:tr h="365760">
                <a:tc>
                  <a:txBody>
                    <a:bodyPr/>
                    <a:lstStyle/>
                    <a:p>
                      <a:r>
                        <a:rPr sz="1350" b="1">
                          <a:solidFill>
                            <a:srgbClr val="FFFFFF"/>
                          </a:solidFill>
                          <a:latin typeface="Calibri"/>
                        </a:rPr>
                        <a:t> </a:t>
                      </a:r>
                    </a:p>
                  </a:txBody>
                  <a:tcPr>
                    <a:solidFill>
                      <a:srgbClr val="4338CA"/>
                    </a:solidFill>
                  </a:tcPr>
                </a:tc>
                <a:tc>
                  <a:txBody>
                    <a:bodyPr/>
                    <a:lstStyle/>
                    <a:p>
                      <a:r>
                        <a:rPr sz="1350" b="1">
                          <a:solidFill>
                            <a:srgbClr val="FFFFFF"/>
                          </a:solidFill>
                          <a:latin typeface="Calibri"/>
                        </a:rPr>
                        <a:t>Approach</a:t>
                      </a:r>
                    </a:p>
                  </a:txBody>
                  <a:tcPr>
                    <a:solidFill>
                      <a:srgbClr val="4338CA"/>
                    </a:solidFill>
                  </a:tcPr>
                </a:tc>
                <a:tc>
                  <a:txBody>
                    <a:bodyPr/>
                    <a:lstStyle/>
                    <a:p>
                      <a:r>
                        <a:rPr sz="1350" b="1">
                          <a:solidFill>
                            <a:srgbClr val="FFFFFF"/>
                          </a:solidFill>
                          <a:latin typeface="Calibri"/>
                        </a:rPr>
                        <a:t>Who fetches the data</a:t>
                      </a:r>
                    </a:p>
                  </a:txBody>
                  <a:tcPr>
                    <a:solidFill>
                      <a:srgbClr val="4338CA"/>
                    </a:solidFill>
                  </a:tcPr>
                </a:tc>
                <a:tc>
                  <a:txBody>
                    <a:bodyPr/>
                    <a:lstStyle/>
                    <a:p>
                      <a:r>
                        <a:rPr sz="1350" b="1">
                          <a:solidFill>
                            <a:srgbClr val="FFFFFF"/>
                          </a:solidFill>
                          <a:latin typeface="Calibri"/>
                        </a:rPr>
                        <a:t>Why it exists</a:t>
                      </a:r>
                    </a:p>
                  </a:txBody>
                  <a:tcPr>
                    <a:solidFill>
                      <a:srgbClr val="4338CA"/>
                    </a:solidFill>
                  </a:tcPr>
                </a:tc>
              </a:tr>
              <a:tr h="365760">
                <a:tc>
                  <a:txBody>
                    <a:bodyPr/>
                    <a:lstStyle/>
                    <a:p>
                      <a:r>
                        <a:rPr sz="1350" b="0">
                          <a:solidFill>
                            <a:srgbClr val="161A23"/>
                          </a:solidFill>
                          <a:latin typeface="Calibri"/>
                        </a:rPr>
                        <a:t>A</a:t>
                      </a:r>
                    </a:p>
                  </a:txBody>
                  <a:tcPr>
                    <a:solidFill>
                      <a:srgbClr val="FFFFFF"/>
                    </a:solidFill>
                  </a:tcPr>
                </a:tc>
                <a:tc>
                  <a:txBody>
                    <a:bodyPr/>
                    <a:lstStyle/>
                    <a:p>
                      <a:r>
                        <a:rPr sz="1350" b="0">
                          <a:solidFill>
                            <a:srgbClr val="161A23"/>
                          </a:solidFill>
                          <a:latin typeface="Calibri"/>
                        </a:rPr>
                        <a:t>One AI call, no tools</a:t>
                      </a:r>
                    </a:p>
                  </a:txBody>
                  <a:tcPr>
                    <a:solidFill>
                      <a:srgbClr val="FFFFFF"/>
                    </a:solidFill>
                  </a:tcPr>
                </a:tc>
                <a:tc>
                  <a:txBody>
                    <a:bodyPr/>
                    <a:lstStyle/>
                    <a:p>
                      <a:r>
                        <a:rPr sz="1350" b="0">
                          <a:solidFill>
                            <a:srgbClr val="161A23"/>
                          </a:solidFill>
                          <a:latin typeface="Calibri"/>
                        </a:rPr>
                        <a:t>nobody</a:t>
                      </a:r>
                    </a:p>
                  </a:txBody>
                  <a:tcPr>
                    <a:solidFill>
                      <a:srgbClr val="FFFFFF"/>
                    </a:solidFill>
                  </a:tcPr>
                </a:tc>
                <a:tc>
                  <a:txBody>
                    <a:bodyPr/>
                    <a:lstStyle/>
                    <a:p>
                      <a:r>
                        <a:rPr sz="1350" b="0">
                          <a:solidFill>
                            <a:srgbClr val="161A23"/>
                          </a:solidFill>
                          <a:latin typeface="Calibri"/>
                        </a:rPr>
                        <a:t>The floor. Shows what AI invents with no data</a:t>
                      </a:r>
                    </a:p>
                  </a:txBody>
                  <a:tcPr>
                    <a:solidFill>
                      <a:srgbClr val="FFFFFF"/>
                    </a:solidFill>
                  </a:tcPr>
                </a:tc>
              </a:tr>
              <a:tr h="365760">
                <a:tc>
                  <a:txBody>
                    <a:bodyPr/>
                    <a:lstStyle/>
                    <a:p>
                      <a:r>
                        <a:rPr sz="1350" b="0">
                          <a:solidFill>
                            <a:srgbClr val="161A23"/>
                          </a:solidFill>
                          <a:latin typeface="Calibri"/>
                        </a:rPr>
                        <a:t>B</a:t>
                      </a:r>
                    </a:p>
                  </a:txBody>
                  <a:tcPr>
                    <a:solidFill>
                      <a:srgbClr val="F7F8FC"/>
                    </a:solidFill>
                  </a:tcPr>
                </a:tc>
                <a:tc>
                  <a:txBody>
                    <a:bodyPr/>
                    <a:lstStyle/>
                    <a:p>
                      <a:r>
                        <a:rPr sz="1350" b="0">
                          <a:solidFill>
                            <a:srgbClr val="161A23"/>
                          </a:solidFill>
                          <a:latin typeface="Calibri"/>
                        </a:rPr>
                        <a:t>Six agents, first attempt</a:t>
                      </a:r>
                    </a:p>
                  </a:txBody>
                  <a:tcPr>
                    <a:solidFill>
                      <a:srgbClr val="F7F8FC"/>
                    </a:solidFill>
                  </a:tcPr>
                </a:tc>
                <a:tc>
                  <a:txBody>
                    <a:bodyPr/>
                    <a:lstStyle/>
                    <a:p>
                      <a:r>
                        <a:rPr sz="1350" b="0">
                          <a:solidFill>
                            <a:srgbClr val="161A23"/>
                          </a:solidFill>
                          <a:latin typeface="Calibri"/>
                        </a:rPr>
                        <a:t>each agent decides</a:t>
                      </a:r>
                    </a:p>
                  </a:txBody>
                  <a:tcPr>
                    <a:solidFill>
                      <a:srgbClr val="F7F8FC"/>
                    </a:solidFill>
                  </a:tcPr>
                </a:tc>
                <a:tc>
                  <a:txBody>
                    <a:bodyPr/>
                    <a:lstStyle/>
                    <a:p>
                      <a:r>
                        <a:rPr sz="1350" b="0">
                          <a:solidFill>
                            <a:srgbClr val="161A23"/>
                          </a:solidFill>
                          <a:latin typeface="Calibri"/>
                        </a:rPr>
                        <a:t>My original proposal, untuned</a:t>
                      </a:r>
                    </a:p>
                  </a:txBody>
                  <a:tcPr>
                    <a:solidFill>
                      <a:srgbClr val="F7F8FC"/>
                    </a:solidFill>
                  </a:tcPr>
                </a:tc>
              </a:tr>
              <a:tr h="365760">
                <a:tc>
                  <a:txBody>
                    <a:bodyPr/>
                    <a:lstStyle/>
                    <a:p>
                      <a:r>
                        <a:rPr sz="1350" b="0">
                          <a:solidFill>
                            <a:srgbClr val="161A23"/>
                          </a:solidFill>
                          <a:latin typeface="Calibri"/>
                        </a:rPr>
                        <a:t>C</a:t>
                      </a:r>
                    </a:p>
                  </a:txBody>
                  <a:tcPr>
                    <a:solidFill>
                      <a:srgbClr val="FFFFFF"/>
                    </a:solidFill>
                  </a:tcPr>
                </a:tc>
                <a:tc>
                  <a:txBody>
                    <a:bodyPr/>
                    <a:lstStyle/>
                    <a:p>
                      <a:r>
                        <a:rPr sz="1350" b="0">
                          <a:solidFill>
                            <a:srgbClr val="161A23"/>
                          </a:solidFill>
                          <a:latin typeface="Calibri"/>
                        </a:rPr>
                        <a:t>Six agents, tuned</a:t>
                      </a:r>
                    </a:p>
                  </a:txBody>
                  <a:tcPr>
                    <a:solidFill>
                      <a:srgbClr val="FFFFFF"/>
                    </a:solidFill>
                  </a:tcPr>
                </a:tc>
                <a:tc>
                  <a:txBody>
                    <a:bodyPr/>
                    <a:lstStyle/>
                    <a:p>
                      <a:r>
                        <a:rPr sz="1350" b="0">
                          <a:solidFill>
                            <a:srgbClr val="161A23"/>
                          </a:solidFill>
                          <a:latin typeface="Calibri"/>
                        </a:rPr>
                        <a:t>each agent decides</a:t>
                      </a:r>
                    </a:p>
                  </a:txBody>
                  <a:tcPr>
                    <a:solidFill>
                      <a:srgbClr val="FFFFFF"/>
                    </a:solidFill>
                  </a:tcPr>
                </a:tc>
                <a:tc>
                  <a:txBody>
                    <a:bodyPr/>
                    <a:lstStyle/>
                    <a:p>
                      <a:r>
                        <a:rPr sz="1350" b="0">
                          <a:solidFill>
                            <a:srgbClr val="161A23"/>
                          </a:solidFill>
                          <a:latin typeface="Calibri"/>
                        </a:rPr>
                        <a:t>Proves the gain is the design, not the settings</a:t>
                      </a:r>
                    </a:p>
                  </a:txBody>
                  <a:tcPr>
                    <a:solidFill>
                      <a:srgbClr val="FFFFFF"/>
                    </a:solidFill>
                  </a:tcPr>
                </a:tc>
              </a:tr>
              <a:tr h="365760">
                <a:tc>
                  <a:txBody>
                    <a:bodyPr/>
                    <a:lstStyle/>
                    <a:p>
                      <a:r>
                        <a:rPr sz="1350" b="0">
                          <a:solidFill>
                            <a:srgbClr val="161A23"/>
                          </a:solidFill>
                          <a:latin typeface="Calibri"/>
                        </a:rPr>
                        <a:t>D</a:t>
                      </a:r>
                    </a:p>
                  </a:txBody>
                  <a:tcPr>
                    <a:solidFill>
                      <a:srgbClr val="F7F8FC"/>
                    </a:solidFill>
                  </a:tcPr>
                </a:tc>
                <a:tc>
                  <a:txBody>
                    <a:bodyPr/>
                    <a:lstStyle/>
                    <a:p>
                      <a:r>
                        <a:rPr sz="1350" b="0">
                          <a:solidFill>
                            <a:srgbClr val="161A23"/>
                          </a:solidFill>
                          <a:latin typeface="Calibri"/>
                        </a:rPr>
                        <a:t>Three agents</a:t>
                      </a:r>
                    </a:p>
                  </a:txBody>
                  <a:tcPr>
                    <a:solidFill>
                      <a:srgbClr val="F7F8FC"/>
                    </a:solidFill>
                  </a:tcPr>
                </a:tc>
                <a:tc>
                  <a:txBody>
                    <a:bodyPr/>
                    <a:lstStyle/>
                    <a:p>
                      <a:r>
                        <a:rPr sz="1350" b="0">
                          <a:solidFill>
                            <a:srgbClr val="161A23"/>
                          </a:solidFill>
                          <a:latin typeface="Calibri"/>
                        </a:rPr>
                        <a:t>plain code</a:t>
                      </a:r>
                    </a:p>
                  </a:txBody>
                  <a:tcPr>
                    <a:solidFill>
                      <a:srgbClr val="F7F8FC"/>
                    </a:solidFill>
                  </a:tcPr>
                </a:tc>
                <a:tc>
                  <a:txBody>
                    <a:bodyPr/>
                    <a:lstStyle/>
                    <a:p>
                      <a:r>
                        <a:rPr sz="1350" b="0">
                          <a:solidFill>
                            <a:srgbClr val="161A23"/>
                          </a:solidFill>
                          <a:latin typeface="Calibri"/>
                        </a:rPr>
                        <a:t>What I ship. The idea being tested</a:t>
                      </a:r>
                    </a:p>
                  </a:txBody>
                  <a:tcPr>
                    <a:solidFill>
                      <a:srgbClr val="F7F8FC"/>
                    </a:solidFill>
                  </a:tcPr>
                </a:tc>
              </a:tr>
            </a:tbl>
          </a:graphicData>
        </a:graphic>
      </p:graphicFrame>
      <p:sp>
        <p:nvSpPr>
          <p:cNvPr id="6" name="TextBox 5"/>
          <p:cNvSpPr txBox="1"/>
          <p:nvPr/>
        </p:nvSpPr>
        <p:spPr>
          <a:xfrm>
            <a:off x="822960" y="5212080"/>
            <a:ext cx="10515600" cy="914400"/>
          </a:xfrm>
          <a:prstGeom prst="rect">
            <a:avLst/>
          </a:prstGeom>
          <a:noFill/>
        </p:spPr>
        <p:txBody>
          <a:bodyPr wrap="square" anchor="t">
            <a:spAutoFit/>
          </a:bodyPr>
          <a:lstStyle/>
          <a:p>
            <a:pPr algn="l">
              <a:lnSpc>
                <a:spcPct val="100000"/>
              </a:lnSpc>
            </a:pPr>
            <a:r>
              <a:rPr sz="1800" b="1">
                <a:solidFill>
                  <a:srgbClr val="4338CA"/>
                </a:solidFill>
                <a:latin typeface="Calibri"/>
              </a:rPr>
              <a:t>C matters most. Without it, someone could say D only won because B was set up badly.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3  ·  TOOLS GIVEN TO EACH AGENT</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Counted from the code. This is where the cost came from</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1965960"/>
          <a:ext cx="10515598" cy="2926080"/>
        </p:xfrm>
        <a:graphic>
          <a:graphicData uri="http://schemas.openxmlformats.org/drawingml/2006/table">
            <a:tbl>
              <a:tblPr firstRow="1" bandRow="1">
                <a:tableStyleId>{5C22544A-7EE6-4342-B048-85BDC9FD1C3A}</a:tableStyleId>
              </a:tblPr>
              <a:tblGrid>
                <a:gridCol w="3605348"/>
                <a:gridCol w="901337"/>
                <a:gridCol w="2403565"/>
                <a:gridCol w="2002971"/>
                <a:gridCol w="1602377"/>
              </a:tblGrid>
              <a:tr h="365760">
                <a:tc>
                  <a:txBody>
                    <a:bodyPr/>
                    <a:lstStyle/>
                    <a:p>
                      <a:r>
                        <a:rPr sz="1250" b="1">
                          <a:solidFill>
                            <a:srgbClr val="FFFFFF"/>
                          </a:solidFill>
                          <a:latin typeface="Calibri"/>
                        </a:rPr>
                        <a:t>Agent</a:t>
                      </a:r>
                    </a:p>
                  </a:txBody>
                  <a:tcPr>
                    <a:solidFill>
                      <a:srgbClr val="4338CA"/>
                    </a:solidFill>
                  </a:tcPr>
                </a:tc>
                <a:tc>
                  <a:txBody>
                    <a:bodyPr/>
                    <a:lstStyle/>
                    <a:p>
                      <a:r>
                        <a:rPr sz="1250" b="1">
                          <a:solidFill>
                            <a:srgbClr val="FFFFFF"/>
                          </a:solidFill>
                          <a:latin typeface="Calibri"/>
                        </a:rPr>
                        <a:t>A</a:t>
                      </a:r>
                    </a:p>
                  </a:txBody>
                  <a:tcPr>
                    <a:solidFill>
                      <a:srgbClr val="4338CA"/>
                    </a:solidFill>
                  </a:tcPr>
                </a:tc>
                <a:tc>
                  <a:txBody>
                    <a:bodyPr/>
                    <a:lstStyle/>
                    <a:p>
                      <a:r>
                        <a:rPr sz="1250" b="1">
                          <a:solidFill>
                            <a:srgbClr val="FFFFFF"/>
                          </a:solidFill>
                          <a:latin typeface="Calibri"/>
                        </a:rPr>
                        <a:t>B</a:t>
                      </a:r>
                    </a:p>
                  </a:txBody>
                  <a:tcPr>
                    <a:solidFill>
                      <a:srgbClr val="4338CA"/>
                    </a:solidFill>
                  </a:tcPr>
                </a:tc>
                <a:tc>
                  <a:txBody>
                    <a:bodyPr/>
                    <a:lstStyle/>
                    <a:p>
                      <a:r>
                        <a:rPr sz="1250" b="1">
                          <a:solidFill>
                            <a:srgbClr val="FFFFFF"/>
                          </a:solidFill>
                          <a:latin typeface="Calibri"/>
                        </a:rPr>
                        <a:t>C</a:t>
                      </a:r>
                    </a:p>
                  </a:txBody>
                  <a:tcPr>
                    <a:solidFill>
                      <a:srgbClr val="4338CA"/>
                    </a:solidFill>
                  </a:tcPr>
                </a:tc>
                <a:tc>
                  <a:txBody>
                    <a:bodyPr/>
                    <a:lstStyle/>
                    <a:p>
                      <a:r>
                        <a:rPr sz="1250" b="1">
                          <a:solidFill>
                            <a:srgbClr val="FFFFFF"/>
                          </a:solidFill>
                          <a:latin typeface="Calibri"/>
                        </a:rPr>
                        <a:t>D</a:t>
                      </a:r>
                    </a:p>
                  </a:txBody>
                  <a:tcPr>
                    <a:solidFill>
                      <a:srgbClr val="4338CA"/>
                    </a:solidFill>
                  </a:tcPr>
                </a:tc>
              </a:tr>
              <a:tr h="365760">
                <a:tc>
                  <a:txBody>
                    <a:bodyPr/>
                    <a:lstStyle/>
                    <a:p>
                      <a:r>
                        <a:rPr sz="1250" b="0">
                          <a:solidFill>
                            <a:srgbClr val="161A23"/>
                          </a:solidFill>
                          <a:latin typeface="Calibri"/>
                        </a:rPr>
                        <a:t>Travel Preferences Extractor</a:t>
                      </a:r>
                    </a:p>
                  </a:txBody>
                  <a:tcPr>
                    <a:solidFill>
                      <a:srgbClr val="FFFFFF"/>
                    </a:solidFill>
                  </a:tcPr>
                </a:tc>
                <a:tc>
                  <a:txBody>
                    <a:bodyPr/>
                    <a:lstStyle/>
                    <a:p>
                      <a:r>
                        <a:rPr sz="1250" b="0">
                          <a:solidFill>
                            <a:srgbClr val="161A23"/>
                          </a:solidFill>
                          <a:latin typeface="Calibri"/>
                        </a:rPr>
                        <a:t>—</a:t>
                      </a:r>
                    </a:p>
                  </a:txBody>
                  <a:tcPr>
                    <a:solidFill>
                      <a:srgbClr val="FFFFFF"/>
                    </a:solidFill>
                  </a:tcPr>
                </a:tc>
                <a:tc>
                  <a:txBody>
                    <a:bodyPr/>
                    <a:lstStyle/>
                    <a:p>
                      <a:r>
                        <a:rPr sz="1250" b="0">
                          <a:solidFill>
                            <a:srgbClr val="161A23"/>
                          </a:solidFill>
                          <a:latin typeface="Calibri"/>
                        </a:rPr>
                        <a:t>0 tools</a:t>
                      </a:r>
                    </a:p>
                  </a:txBody>
                  <a:tcPr>
                    <a:solidFill>
                      <a:srgbClr val="FFFFFF"/>
                    </a:solidFill>
                  </a:tcPr>
                </a:tc>
                <a:tc>
                  <a:txBody>
                    <a:bodyPr/>
                    <a:lstStyle/>
                    <a:p>
                      <a:r>
                        <a:rPr sz="1250" b="0">
                          <a:solidFill>
                            <a:srgbClr val="161A23"/>
                          </a:solidFill>
                          <a:latin typeface="Calibri"/>
                        </a:rPr>
                        <a:t>0 tools</a:t>
                      </a:r>
                    </a:p>
                  </a:txBody>
                  <a:tcPr>
                    <a:solidFill>
                      <a:srgbClr val="FFFFFF"/>
                    </a:solidFill>
                  </a:tcPr>
                </a:tc>
                <a:tc>
                  <a:txBody>
                    <a:bodyPr/>
                    <a:lstStyle/>
                    <a:p>
                      <a:r>
                        <a:rPr sz="1250" b="0">
                          <a:solidFill>
                            <a:srgbClr val="161A23"/>
                          </a:solidFill>
                          <a:latin typeface="Calibri"/>
                        </a:rPr>
                        <a:t>0 tools</a:t>
                      </a:r>
                    </a:p>
                  </a:txBody>
                  <a:tcPr>
                    <a:solidFill>
                      <a:srgbClr val="FFFFFF"/>
                    </a:solidFill>
                  </a:tcPr>
                </a:tc>
              </a:tr>
              <a:tr h="365760">
                <a:tc>
                  <a:txBody>
                    <a:bodyPr/>
                    <a:lstStyle/>
                    <a:p>
                      <a:r>
                        <a:rPr sz="1250" b="0">
                          <a:solidFill>
                            <a:srgbClr val="161A23"/>
                          </a:solidFill>
                          <a:latin typeface="Calibri"/>
                        </a:rPr>
                        <a:t>Flight Search Specialist</a:t>
                      </a:r>
                    </a:p>
                  </a:txBody>
                  <a:tcPr>
                    <a:solidFill>
                      <a:srgbClr val="F7F8FC"/>
                    </a:solidFill>
                  </a:tcPr>
                </a:tc>
                <a:tc>
                  <a:txBody>
                    <a:bodyPr/>
                    <a:lstStyle/>
                    <a:p>
                      <a:r>
                        <a:rPr sz="1250" b="0">
                          <a:solidFill>
                            <a:srgbClr val="161A23"/>
                          </a:solidFill>
                          <a:latin typeface="Calibri"/>
                        </a:rPr>
                        <a:t>—</a:t>
                      </a:r>
                    </a:p>
                  </a:txBody>
                  <a:tcPr>
                    <a:solidFill>
                      <a:srgbClr val="F7F8FC"/>
                    </a:solidFill>
                  </a:tcPr>
                </a:tc>
                <a:tc>
                  <a:txBody>
                    <a:bodyPr/>
                    <a:lstStyle/>
                    <a:p>
                      <a:r>
                        <a:rPr sz="1250" b="0">
                          <a:solidFill>
                            <a:srgbClr val="161A23"/>
                          </a:solidFill>
                          <a:latin typeface="Calibri"/>
                        </a:rPr>
                        <a:t>4 tools, 8 steps</a:t>
                      </a:r>
                    </a:p>
                  </a:txBody>
                  <a:tcPr>
                    <a:solidFill>
                      <a:srgbClr val="F7F8FC"/>
                    </a:solidFill>
                  </a:tcPr>
                </a:tc>
                <a:tc>
                  <a:txBody>
                    <a:bodyPr/>
                    <a:lstStyle/>
                    <a:p>
                      <a:r>
                        <a:rPr sz="1250" b="0">
                          <a:solidFill>
                            <a:srgbClr val="161A23"/>
                          </a:solidFill>
                          <a:latin typeface="Calibri"/>
                        </a:rPr>
                        <a:t>1 tool, 3 steps</a:t>
                      </a:r>
                    </a:p>
                  </a:txBody>
                  <a:tcPr>
                    <a:solidFill>
                      <a:srgbClr val="F7F8FC"/>
                    </a:solidFill>
                  </a:tcPr>
                </a:tc>
                <a:tc>
                  <a:txBody>
                    <a:bodyPr/>
                    <a:lstStyle/>
                    <a:p>
                      <a:r>
                        <a:rPr sz="1250" b="0">
                          <a:solidFill>
                            <a:srgbClr val="161A23"/>
                          </a:solidFill>
                          <a:latin typeface="Calibri"/>
                        </a:rPr>
                        <a:t>removed</a:t>
                      </a:r>
                    </a:p>
                  </a:txBody>
                  <a:tcPr>
                    <a:solidFill>
                      <a:srgbClr val="F7F8FC"/>
                    </a:solidFill>
                  </a:tcPr>
                </a:tc>
              </a:tr>
              <a:tr h="365760">
                <a:tc>
                  <a:txBody>
                    <a:bodyPr/>
                    <a:lstStyle/>
                    <a:p>
                      <a:r>
                        <a:rPr sz="1250" b="0">
                          <a:solidFill>
                            <a:srgbClr val="161A23"/>
                          </a:solidFill>
                          <a:latin typeface="Calibri"/>
                        </a:rPr>
                        <a:t>Hotel Search Specialist</a:t>
                      </a:r>
                    </a:p>
                  </a:txBody>
                  <a:tcPr>
                    <a:solidFill>
                      <a:srgbClr val="FFFFFF"/>
                    </a:solidFill>
                  </a:tcPr>
                </a:tc>
                <a:tc>
                  <a:txBody>
                    <a:bodyPr/>
                    <a:lstStyle/>
                    <a:p>
                      <a:r>
                        <a:rPr sz="1250" b="0">
                          <a:solidFill>
                            <a:srgbClr val="161A23"/>
                          </a:solidFill>
                          <a:latin typeface="Calibri"/>
                        </a:rPr>
                        <a:t>—</a:t>
                      </a:r>
                    </a:p>
                  </a:txBody>
                  <a:tcPr>
                    <a:solidFill>
                      <a:srgbClr val="FFFFFF"/>
                    </a:solidFill>
                  </a:tcPr>
                </a:tc>
                <a:tc>
                  <a:txBody>
                    <a:bodyPr/>
                    <a:lstStyle/>
                    <a:p>
                      <a:r>
                        <a:rPr sz="1250" b="0">
                          <a:solidFill>
                            <a:srgbClr val="161A23"/>
                          </a:solidFill>
                          <a:latin typeface="Calibri"/>
                        </a:rPr>
                        <a:t>8 tools, 10 steps</a:t>
                      </a:r>
                    </a:p>
                  </a:txBody>
                  <a:tcPr>
                    <a:solidFill>
                      <a:srgbClr val="FFFFFF"/>
                    </a:solidFill>
                  </a:tcPr>
                </a:tc>
                <a:tc>
                  <a:txBody>
                    <a:bodyPr/>
                    <a:lstStyle/>
                    <a:p>
                      <a:r>
                        <a:rPr sz="1250" b="0">
                          <a:solidFill>
                            <a:srgbClr val="161A23"/>
                          </a:solidFill>
                          <a:latin typeface="Calibri"/>
                        </a:rPr>
                        <a:t>1 tool, 3 steps</a:t>
                      </a:r>
                    </a:p>
                  </a:txBody>
                  <a:tcPr>
                    <a:solidFill>
                      <a:srgbClr val="FFFFFF"/>
                    </a:solidFill>
                  </a:tcPr>
                </a:tc>
                <a:tc>
                  <a:txBody>
                    <a:bodyPr/>
                    <a:lstStyle/>
                    <a:p>
                      <a:r>
                        <a:rPr sz="1250" b="0">
                          <a:solidFill>
                            <a:srgbClr val="161A23"/>
                          </a:solidFill>
                          <a:latin typeface="Calibri"/>
                        </a:rPr>
                        <a:t>removed</a:t>
                      </a:r>
                    </a:p>
                  </a:txBody>
                  <a:tcPr>
                    <a:solidFill>
                      <a:srgbClr val="FFFFFF"/>
                    </a:solidFill>
                  </a:tcPr>
                </a:tc>
              </a:tr>
              <a:tr h="365760">
                <a:tc>
                  <a:txBody>
                    <a:bodyPr/>
                    <a:lstStyle/>
                    <a:p>
                      <a:r>
                        <a:rPr sz="1250" b="0">
                          <a:solidFill>
                            <a:srgbClr val="161A23"/>
                          </a:solidFill>
                          <a:latin typeface="Calibri"/>
                        </a:rPr>
                        <a:t>Activities Specialist</a:t>
                      </a:r>
                    </a:p>
                  </a:txBody>
                  <a:tcPr>
                    <a:solidFill>
                      <a:srgbClr val="F7F8FC"/>
                    </a:solidFill>
                  </a:tcPr>
                </a:tc>
                <a:tc>
                  <a:txBody>
                    <a:bodyPr/>
                    <a:lstStyle/>
                    <a:p>
                      <a:r>
                        <a:rPr sz="1250" b="0">
                          <a:solidFill>
                            <a:srgbClr val="161A23"/>
                          </a:solidFill>
                          <a:latin typeface="Calibri"/>
                        </a:rPr>
                        <a:t>—</a:t>
                      </a:r>
                    </a:p>
                  </a:txBody>
                  <a:tcPr>
                    <a:solidFill>
                      <a:srgbClr val="F7F8FC"/>
                    </a:solidFill>
                  </a:tcPr>
                </a:tc>
                <a:tc>
                  <a:txBody>
                    <a:bodyPr/>
                    <a:lstStyle/>
                    <a:p>
                      <a:r>
                        <a:rPr sz="1250" b="0">
                          <a:solidFill>
                            <a:srgbClr val="161A23"/>
                          </a:solidFill>
                          <a:latin typeface="Calibri"/>
                        </a:rPr>
                        <a:t>4 tools, 10 steps</a:t>
                      </a:r>
                    </a:p>
                  </a:txBody>
                  <a:tcPr>
                    <a:solidFill>
                      <a:srgbClr val="F7F8FC"/>
                    </a:solidFill>
                  </a:tcPr>
                </a:tc>
                <a:tc>
                  <a:txBody>
                    <a:bodyPr/>
                    <a:lstStyle/>
                    <a:p>
                      <a:r>
                        <a:rPr sz="1250" b="0">
                          <a:solidFill>
                            <a:srgbClr val="161A23"/>
                          </a:solidFill>
                          <a:latin typeface="Calibri"/>
                        </a:rPr>
                        <a:t>2 tools, 3 steps</a:t>
                      </a:r>
                    </a:p>
                  </a:txBody>
                  <a:tcPr>
                    <a:solidFill>
                      <a:srgbClr val="F7F8FC"/>
                    </a:solidFill>
                  </a:tcPr>
                </a:tc>
                <a:tc>
                  <a:txBody>
                    <a:bodyPr/>
                    <a:lstStyle/>
                    <a:p>
                      <a:r>
                        <a:rPr sz="1250" b="0">
                          <a:solidFill>
                            <a:srgbClr val="161A23"/>
                          </a:solidFill>
                          <a:latin typeface="Calibri"/>
                        </a:rPr>
                        <a:t>removed</a:t>
                      </a:r>
                    </a:p>
                  </a:txBody>
                  <a:tcPr>
                    <a:solidFill>
                      <a:srgbClr val="F7F8FC"/>
                    </a:solidFill>
                  </a:tcPr>
                </a:tc>
              </a:tr>
              <a:tr h="365760">
                <a:tc>
                  <a:txBody>
                    <a:bodyPr/>
                    <a:lstStyle/>
                    <a:p>
                      <a:r>
                        <a:rPr sz="1250" b="0">
                          <a:solidFill>
                            <a:srgbClr val="161A23"/>
                          </a:solidFill>
                          <a:latin typeface="Calibri"/>
                        </a:rPr>
                        <a:t>Itinerary Coordinator</a:t>
                      </a:r>
                    </a:p>
                  </a:txBody>
                  <a:tcPr>
                    <a:solidFill>
                      <a:srgbClr val="FFFFFF"/>
                    </a:solidFill>
                  </a:tcPr>
                </a:tc>
                <a:tc>
                  <a:txBody>
                    <a:bodyPr/>
                    <a:lstStyle/>
                    <a:p>
                      <a:r>
                        <a:rPr sz="1250" b="0">
                          <a:solidFill>
                            <a:srgbClr val="161A23"/>
                          </a:solidFill>
                          <a:latin typeface="Calibri"/>
                        </a:rPr>
                        <a:t>—</a:t>
                      </a:r>
                    </a:p>
                  </a:txBody>
                  <a:tcPr>
                    <a:solidFill>
                      <a:srgbClr val="FFFFFF"/>
                    </a:solidFill>
                  </a:tcPr>
                </a:tc>
                <a:tc>
                  <a:txBody>
                    <a:bodyPr/>
                    <a:lstStyle/>
                    <a:p>
                      <a:r>
                        <a:rPr sz="1250" b="0">
                          <a:solidFill>
                            <a:srgbClr val="161A23"/>
                          </a:solidFill>
                          <a:latin typeface="Calibri"/>
                        </a:rPr>
                        <a:t>4 tools, 15 steps</a:t>
                      </a:r>
                    </a:p>
                  </a:txBody>
                  <a:tcPr>
                    <a:solidFill>
                      <a:srgbClr val="FFFFFF"/>
                    </a:solidFill>
                  </a:tcPr>
                </a:tc>
                <a:tc>
                  <a:txBody>
                    <a:bodyPr/>
                    <a:lstStyle/>
                    <a:p>
                      <a:r>
                        <a:rPr sz="1250" b="0">
                          <a:solidFill>
                            <a:srgbClr val="161A23"/>
                          </a:solidFill>
                          <a:latin typeface="Calibri"/>
                        </a:rPr>
                        <a:t>0 tools</a:t>
                      </a:r>
                    </a:p>
                  </a:txBody>
                  <a:tcPr>
                    <a:solidFill>
                      <a:srgbClr val="FFFFFF"/>
                    </a:solidFill>
                  </a:tcPr>
                </a:tc>
                <a:tc>
                  <a:txBody>
                    <a:bodyPr/>
                    <a:lstStyle/>
                    <a:p>
                      <a:r>
                        <a:rPr sz="1250" b="0">
                          <a:solidFill>
                            <a:srgbClr val="161A23"/>
                          </a:solidFill>
                          <a:latin typeface="Calibri"/>
                        </a:rPr>
                        <a:t>4 tools</a:t>
                      </a:r>
                    </a:p>
                  </a:txBody>
                  <a:tcPr>
                    <a:solidFill>
                      <a:srgbClr val="FFFFFF"/>
                    </a:solidFill>
                  </a:tcPr>
                </a:tc>
              </a:tr>
              <a:tr h="365760">
                <a:tc>
                  <a:txBody>
                    <a:bodyPr/>
                    <a:lstStyle/>
                    <a:p>
                      <a:r>
                        <a:rPr sz="1250" b="0">
                          <a:solidFill>
                            <a:srgbClr val="161A23"/>
                          </a:solidFill>
                          <a:latin typeface="Calibri"/>
                        </a:rPr>
                        <a:t>Travel Conversation Assistant</a:t>
                      </a:r>
                    </a:p>
                  </a:txBody>
                  <a:tcPr>
                    <a:solidFill>
                      <a:srgbClr val="F7F8FC"/>
                    </a:solidFill>
                  </a:tcPr>
                </a:tc>
                <a:tc>
                  <a:txBody>
                    <a:bodyPr/>
                    <a:lstStyle/>
                    <a:p>
                      <a:r>
                        <a:rPr sz="1250" b="0">
                          <a:solidFill>
                            <a:srgbClr val="161A23"/>
                          </a:solidFill>
                          <a:latin typeface="Calibri"/>
                        </a:rPr>
                        <a:t>—</a:t>
                      </a:r>
                    </a:p>
                  </a:txBody>
                  <a:tcPr>
                    <a:solidFill>
                      <a:srgbClr val="F7F8FC"/>
                    </a:solidFill>
                  </a:tcPr>
                </a:tc>
                <a:tc>
                  <a:txBody>
                    <a:bodyPr/>
                    <a:lstStyle/>
                    <a:p>
                      <a:r>
                        <a:rPr sz="1250" b="0">
                          <a:solidFill>
                            <a:srgbClr val="161A23"/>
                          </a:solidFill>
                          <a:latin typeface="Calibri"/>
                        </a:rPr>
                        <a:t>—</a:t>
                      </a:r>
                    </a:p>
                  </a:txBody>
                  <a:tcPr>
                    <a:solidFill>
                      <a:srgbClr val="F7F8FC"/>
                    </a:solidFill>
                  </a:tcPr>
                </a:tc>
                <a:tc>
                  <a:txBody>
                    <a:bodyPr/>
                    <a:lstStyle/>
                    <a:p>
                      <a:r>
                        <a:rPr sz="1250" b="0">
                          <a:solidFill>
                            <a:srgbClr val="161A23"/>
                          </a:solidFill>
                          <a:latin typeface="Calibri"/>
                        </a:rPr>
                        <a:t>—</a:t>
                      </a:r>
                    </a:p>
                  </a:txBody>
                  <a:tcPr>
                    <a:solidFill>
                      <a:srgbClr val="F7F8FC"/>
                    </a:solidFill>
                  </a:tcPr>
                </a:tc>
                <a:tc>
                  <a:txBody>
                    <a:bodyPr/>
                    <a:lstStyle/>
                    <a:p>
                      <a:r>
                        <a:rPr sz="1250" b="0">
                          <a:solidFill>
                            <a:srgbClr val="161A23"/>
                          </a:solidFill>
                          <a:latin typeface="Calibri"/>
                        </a:rPr>
                        <a:t>0 tools</a:t>
                      </a:r>
                    </a:p>
                  </a:txBody>
                  <a:tcPr>
                    <a:solidFill>
                      <a:srgbClr val="F7F8FC"/>
                    </a:solidFill>
                  </a:tcPr>
                </a:tc>
              </a:tr>
              <a:tr h="365760">
                <a:tc>
                  <a:txBody>
                    <a:bodyPr/>
                    <a:lstStyle/>
                    <a:p>
                      <a:r>
                        <a:rPr sz="1250" b="0">
                          <a:solidFill>
                            <a:srgbClr val="161A23"/>
                          </a:solidFill>
                          <a:latin typeface="Calibri"/>
                        </a:rPr>
                        <a:t>TOTAL TOOLS</a:t>
                      </a:r>
                    </a:p>
                  </a:txBody>
                  <a:tcPr>
                    <a:solidFill>
                      <a:srgbClr val="FFFFFF"/>
                    </a:solidFill>
                  </a:tcPr>
                </a:tc>
                <a:tc>
                  <a:txBody>
                    <a:bodyPr/>
                    <a:lstStyle/>
                    <a:p>
                      <a:r>
                        <a:rPr sz="1250" b="0">
                          <a:solidFill>
                            <a:srgbClr val="161A23"/>
                          </a:solidFill>
                          <a:latin typeface="Calibri"/>
                        </a:rPr>
                        <a:t>0</a:t>
                      </a:r>
                    </a:p>
                  </a:txBody>
                  <a:tcPr>
                    <a:solidFill>
                      <a:srgbClr val="FFFFFF"/>
                    </a:solidFill>
                  </a:tcPr>
                </a:tc>
                <a:tc>
                  <a:txBody>
                    <a:bodyPr/>
                    <a:lstStyle/>
                    <a:p>
                      <a:r>
                        <a:rPr sz="1250" b="0">
                          <a:solidFill>
                            <a:srgbClr val="161A23"/>
                          </a:solidFill>
                          <a:latin typeface="Calibri"/>
                        </a:rPr>
                        <a:t>20</a:t>
                      </a:r>
                    </a:p>
                  </a:txBody>
                  <a:tcPr>
                    <a:solidFill>
                      <a:srgbClr val="FFFFFF"/>
                    </a:solidFill>
                  </a:tcPr>
                </a:tc>
                <a:tc>
                  <a:txBody>
                    <a:bodyPr/>
                    <a:lstStyle/>
                    <a:p>
                      <a:r>
                        <a:rPr sz="1250" b="0">
                          <a:solidFill>
                            <a:srgbClr val="161A23"/>
                          </a:solidFill>
                          <a:latin typeface="Calibri"/>
                        </a:rPr>
                        <a:t>4</a:t>
                      </a:r>
                    </a:p>
                  </a:txBody>
                  <a:tcPr>
                    <a:solidFill>
                      <a:srgbClr val="FFFFFF"/>
                    </a:solidFill>
                  </a:tcPr>
                </a:tc>
                <a:tc>
                  <a:txBody>
                    <a:bodyPr/>
                    <a:lstStyle/>
                    <a:p>
                      <a:r>
                        <a:rPr sz="1250" b="0">
                          <a:solidFill>
                            <a:srgbClr val="161A23"/>
                          </a:solidFill>
                          <a:latin typeface="Calibri"/>
                        </a:rPr>
                        <a:t>4</a:t>
                      </a:r>
                    </a:p>
                  </a:txBody>
                  <a:tcPr>
                    <a:solidFill>
                      <a:srgbClr val="FFFFFF"/>
                    </a:solidFill>
                  </a:tcPr>
                </a:tc>
              </a:tr>
            </a:tbl>
          </a:graphicData>
        </a:graphic>
      </p:graphicFrame>
      <p:sp>
        <p:nvSpPr>
          <p:cNvPr id="6" name="TextBox 5"/>
          <p:cNvSpPr txBox="1"/>
          <p:nvPr/>
        </p:nvSpPr>
        <p:spPr>
          <a:xfrm>
            <a:off x="822960" y="5440680"/>
            <a:ext cx="10515600" cy="822960"/>
          </a:xfrm>
          <a:prstGeom prst="rect">
            <a:avLst/>
          </a:prstGeom>
          <a:noFill/>
        </p:spPr>
        <p:txBody>
          <a:bodyPr wrap="square" anchor="t">
            <a:spAutoFit/>
          </a:bodyPr>
          <a:lstStyle/>
          <a:p>
            <a:pPr algn="l">
              <a:lnSpc>
                <a:spcPct val="100000"/>
              </a:lnSpc>
            </a:pPr>
            <a:r>
              <a:rPr sz="1700" b="1">
                <a:solidFill>
                  <a:srgbClr val="161A23"/>
                </a:solidFill>
                <a:latin typeface="Calibri"/>
              </a:rPr>
              <a:t>"Steps" is how many times an agent may loop. Each loop re-sends every tool description to the AI — that is the bill.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4  ·  WHAT THE USER SEES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One form, live progress, the plan in tabs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rontend.png"/>
          <p:cNvPicPr>
            <a:picLocks noChangeAspect="1"/>
          </p:cNvPicPr>
          <p:nvPr/>
        </p:nvPicPr>
        <p:blipFill>
          <a:blip r:embed="rId2"/>
          <a:stretch>
            <a:fillRect/>
          </a:stretch>
        </p:blipFill>
        <p:spPr>
          <a:xfrm>
            <a:off x="2352101" y="1783080"/>
            <a:ext cx="7487493" cy="4297680"/>
          </a:xfrm>
          <a:prstGeom prst="rect">
            <a:avLst/>
          </a:prstGeom>
        </p:spPr>
      </p:pic>
      <p:sp>
        <p:nvSpPr>
          <p:cNvPr id="6" name="TextBox 5"/>
          <p:cNvSpPr txBox="1"/>
          <p:nvPr/>
        </p:nvSpPr>
        <p:spPr>
          <a:xfrm>
            <a:off x="822960" y="6172200"/>
            <a:ext cx="10515600" cy="457200"/>
          </a:xfrm>
          <a:prstGeom prst="rect">
            <a:avLst/>
          </a:prstGeom>
          <a:noFill/>
        </p:spPr>
        <p:txBody>
          <a:bodyPr wrap="square" anchor="t">
            <a:spAutoFit/>
          </a:bodyPr>
          <a:lstStyle/>
          <a:p>
            <a:pPr algn="l">
              <a:lnSpc>
                <a:spcPct val="100000"/>
              </a:lnSpc>
            </a:pPr>
            <a:r>
              <a:rPr sz="1500" b="0">
                <a:solidFill>
                  <a:srgbClr val="545C6E"/>
                </a:solidFill>
                <a:latin typeface="Calibri"/>
              </a:rPr>
              <a:t>Purple steps use AI. Green steps are plain code.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5  ·  WHAT WENT WRONG IN EACH APPROACH</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Measured, not guessed. This is why D exists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2011680"/>
          <a:ext cx="10515599" cy="1828800"/>
        </p:xfrm>
        <a:graphic>
          <a:graphicData uri="http://schemas.openxmlformats.org/drawingml/2006/table">
            <a:tbl>
              <a:tblPr firstRow="1" bandRow="1">
                <a:tableStyleId>{5C22544A-7EE6-4342-B048-85BDC9FD1C3A}</a:tableStyleId>
              </a:tblPr>
              <a:tblGrid>
                <a:gridCol w="477981"/>
                <a:gridCol w="10037618"/>
              </a:tblGrid>
              <a:tr h="365760">
                <a:tc>
                  <a:txBody>
                    <a:bodyPr/>
                    <a:lstStyle/>
                    <a:p>
                      <a:r>
                        <a:rPr sz="1350" b="1">
                          <a:solidFill>
                            <a:srgbClr val="FFFFFF"/>
                          </a:solidFill>
                          <a:latin typeface="Calibri"/>
                        </a:rPr>
                        <a:t> </a:t>
                      </a:r>
                    </a:p>
                  </a:txBody>
                  <a:tcPr>
                    <a:solidFill>
                      <a:srgbClr val="4338CA"/>
                    </a:solidFill>
                  </a:tcPr>
                </a:tc>
                <a:tc>
                  <a:txBody>
                    <a:bodyPr/>
                    <a:lstStyle/>
                    <a:p>
                      <a:r>
                        <a:rPr sz="1350" b="1">
                          <a:solidFill>
                            <a:srgbClr val="FFFFFF"/>
                          </a:solidFill>
                          <a:latin typeface="Calibri"/>
                        </a:rPr>
                        <a:t>The problem I measured</a:t>
                      </a:r>
                    </a:p>
                  </a:txBody>
                  <a:tcPr>
                    <a:solidFill>
                      <a:srgbClr val="4338CA"/>
                    </a:solidFill>
                  </a:tcPr>
                </a:tc>
              </a:tr>
              <a:tr h="365760">
                <a:tc>
                  <a:txBody>
                    <a:bodyPr/>
                    <a:lstStyle/>
                    <a:p>
                      <a:r>
                        <a:rPr sz="1350" b="0">
                          <a:solidFill>
                            <a:srgbClr val="161A23"/>
                          </a:solidFill>
                          <a:latin typeface="Calibri"/>
                        </a:rPr>
                        <a:t>A</a:t>
                      </a:r>
                    </a:p>
                  </a:txBody>
                  <a:tcPr>
                    <a:solidFill>
                      <a:srgbClr val="FFFFFF"/>
                    </a:solidFill>
                  </a:tcPr>
                </a:tc>
                <a:tc>
                  <a:txBody>
                    <a:bodyPr/>
                    <a:lstStyle/>
                    <a:p>
                      <a:r>
                        <a:rPr sz="1350" b="0">
                          <a:solidFill>
                            <a:srgbClr val="161A23"/>
                          </a:solidFill>
                          <a:latin typeface="Calibri"/>
                        </a:rPr>
                        <a:t>No tools, so it invents everything. Only 1.7% of its prices matched a real fare</a:t>
                      </a:r>
                    </a:p>
                  </a:txBody>
                  <a:tcPr>
                    <a:solidFill>
                      <a:srgbClr val="FFFFFF"/>
                    </a:solidFill>
                  </a:tcPr>
                </a:tc>
              </a:tr>
              <a:tr h="365760">
                <a:tc>
                  <a:txBody>
                    <a:bodyPr/>
                    <a:lstStyle/>
                    <a:p>
                      <a:r>
                        <a:rPr sz="1350" b="0">
                          <a:solidFill>
                            <a:srgbClr val="161A23"/>
                          </a:solidFill>
                          <a:latin typeface="Calibri"/>
                        </a:rPr>
                        <a:t>B</a:t>
                      </a:r>
                    </a:p>
                  </a:txBody>
                  <a:tcPr>
                    <a:solidFill>
                      <a:srgbClr val="F7F8FC"/>
                    </a:solidFill>
                  </a:tcPr>
                </a:tc>
                <a:tc>
                  <a:txBody>
                    <a:bodyPr/>
                    <a:lstStyle/>
                    <a:p>
                      <a:r>
                        <a:rPr sz="1350" b="0">
                          <a:solidFill>
                            <a:srgbClr val="161A23"/>
                          </a:solidFill>
                          <a:latin typeface="Calibri"/>
                        </a:rPr>
                        <a:t>Skipped its own tools: never called the attractions or the restaurant tool once. Twice produced broken output</a:t>
                      </a:r>
                    </a:p>
                  </a:txBody>
                  <a:tcPr>
                    <a:solidFill>
                      <a:srgbClr val="F7F8FC"/>
                    </a:solidFill>
                  </a:tcPr>
                </a:tc>
              </a:tr>
              <a:tr h="365760">
                <a:tc>
                  <a:txBody>
                    <a:bodyPr/>
                    <a:lstStyle/>
                    <a:p>
                      <a:r>
                        <a:rPr sz="1350" b="0">
                          <a:solidFill>
                            <a:srgbClr val="161A23"/>
                          </a:solidFill>
                          <a:latin typeface="Calibri"/>
                        </a:rPr>
                        <a:t>C</a:t>
                      </a:r>
                    </a:p>
                  </a:txBody>
                  <a:tcPr>
                    <a:solidFill>
                      <a:srgbClr val="FFFFFF"/>
                    </a:solidFill>
                  </a:tcPr>
                </a:tc>
                <a:tc>
                  <a:txBody>
                    <a:bodyPr/>
                    <a:lstStyle/>
                    <a:p>
                      <a:r>
                        <a:rPr sz="1350" b="0">
                          <a:solidFill>
                            <a:srgbClr val="161A23"/>
                          </a:solidFill>
                          <a:latin typeface="Calibri"/>
                        </a:rPr>
                        <a:t>Better, but still unreliable: never called the flight tool at all on the recorded run</a:t>
                      </a:r>
                    </a:p>
                  </a:txBody>
                  <a:tcPr>
                    <a:solidFill>
                      <a:srgbClr val="FFFFFF"/>
                    </a:solidFill>
                  </a:tcPr>
                </a:tc>
              </a:tr>
              <a:tr h="365760">
                <a:tc>
                  <a:txBody>
                    <a:bodyPr/>
                    <a:lstStyle/>
                    <a:p>
                      <a:r>
                        <a:rPr sz="1350" b="0">
                          <a:solidFill>
                            <a:srgbClr val="161A23"/>
                          </a:solidFill>
                          <a:latin typeface="Calibri"/>
                        </a:rPr>
                        <a:t>D</a:t>
                      </a:r>
                    </a:p>
                  </a:txBody>
                  <a:tcPr>
                    <a:solidFill>
                      <a:srgbClr val="F7F8FC"/>
                    </a:solidFill>
                  </a:tcPr>
                </a:tc>
                <a:tc>
                  <a:txBody>
                    <a:bodyPr/>
                    <a:lstStyle/>
                    <a:p>
                      <a:r>
                        <a:rPr sz="1350" b="0">
                          <a:solidFill>
                            <a:srgbClr val="161A23"/>
                          </a:solidFill>
                          <a:latin typeface="Calibri"/>
                        </a:rPr>
                        <a:t>Always makes the same 5 requests, because code decides, not AI. Nothing is skipped</a:t>
                      </a:r>
                    </a:p>
                  </a:txBody>
                  <a:tcPr>
                    <a:solidFill>
                      <a:srgbClr val="F7F8FC"/>
                    </a:solidFill>
                  </a:tcPr>
                </a:tc>
              </a:tr>
            </a:tbl>
          </a:graphicData>
        </a:graphic>
      </p:graphicFrame>
      <p:sp>
        <p:nvSpPr>
          <p:cNvPr id="6" name="TextBox 5"/>
          <p:cNvSpPr txBox="1"/>
          <p:nvPr/>
        </p:nvSpPr>
        <p:spPr>
          <a:xfrm>
            <a:off x="822960" y="4937760"/>
            <a:ext cx="10515600" cy="1188720"/>
          </a:xfrm>
          <a:prstGeom prst="rect">
            <a:avLst/>
          </a:prstGeom>
          <a:noFill/>
        </p:spPr>
        <p:txBody>
          <a:bodyPr wrap="square" anchor="t">
            <a:spAutoFit/>
          </a:bodyPr>
          <a:lstStyle/>
          <a:p>
            <a:pPr algn="l">
              <a:lnSpc>
                <a:spcPct val="125000"/>
              </a:lnSpc>
            </a:pPr>
            <a:r>
              <a:rPr sz="2100" b="1">
                <a:solidFill>
                  <a:srgbClr val="A85B00"/>
                </a:solidFill>
                <a:latin typeface="Calibri"/>
              </a:rPr>
              <a:t>When AI decides which tools to call, it sometimes does not call them.</a:t>
            </a:r>
          </a:p>
          <a:p>
            <a:pPr algn="l">
              <a:lnSpc>
                <a:spcPct val="125000"/>
              </a:lnSpc>
            </a:pPr>
            <a:r>
              <a:rPr sz="1700" b="0">
                <a:solidFill>
                  <a:srgbClr val="545C6E"/>
                </a:solidFill>
                <a:latin typeface="Calibri"/>
              </a:rPr>
              <a:t>The plan still looks finished. That is what makes it dangerous.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6  ·  THE BUDGET CHECK</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It divides the money, then refuses the impossible</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1965960"/>
          <a:ext cx="10515599" cy="1828800"/>
        </p:xfrm>
        <a:graphic>
          <a:graphicData uri="http://schemas.openxmlformats.org/drawingml/2006/table">
            <a:tbl>
              <a:tblPr firstRow="1" bandRow="1">
                <a:tableStyleId>{5C22544A-7EE6-4342-B048-85BDC9FD1C3A}</a:tableStyleId>
              </a:tblPr>
              <a:tblGrid>
                <a:gridCol w="1702525"/>
                <a:gridCol w="8813074"/>
              </a:tblGrid>
              <a:tr h="365760">
                <a:tc>
                  <a:txBody>
                    <a:bodyPr/>
                    <a:lstStyle/>
                    <a:p>
                      <a:r>
                        <a:rPr sz="1350" b="1">
                          <a:solidFill>
                            <a:srgbClr val="FFFFFF"/>
                          </a:solidFill>
                          <a:latin typeface="Calibri"/>
                        </a:rPr>
                        <a:t>Step</a:t>
                      </a:r>
                    </a:p>
                  </a:txBody>
                  <a:tcPr>
                    <a:solidFill>
                      <a:srgbClr val="4338CA"/>
                    </a:solidFill>
                  </a:tcPr>
                </a:tc>
                <a:tc>
                  <a:txBody>
                    <a:bodyPr/>
                    <a:lstStyle/>
                    <a:p>
                      <a:r>
                        <a:rPr sz="1350" b="1">
                          <a:solidFill>
                            <a:srgbClr val="FFFFFF"/>
                          </a:solidFill>
                          <a:latin typeface="Calibri"/>
                        </a:rPr>
                        <a:t>What it does</a:t>
                      </a:r>
                    </a:p>
                  </a:txBody>
                  <a:tcPr>
                    <a:solidFill>
                      <a:srgbClr val="4338CA"/>
                    </a:solidFill>
                  </a:tcPr>
                </a:tc>
              </a:tr>
              <a:tr h="365760">
                <a:tc>
                  <a:txBody>
                    <a:bodyPr/>
                    <a:lstStyle/>
                    <a:p>
                      <a:r>
                        <a:rPr sz="1350" b="0">
                          <a:solidFill>
                            <a:srgbClr val="161A23"/>
                          </a:solidFill>
                          <a:latin typeface="Calibri"/>
                        </a:rPr>
                        <a:t>1  Divide</a:t>
                      </a:r>
                    </a:p>
                  </a:txBody>
                  <a:tcPr>
                    <a:solidFill>
                      <a:srgbClr val="FFFFFF"/>
                    </a:solidFill>
                  </a:tcPr>
                </a:tc>
                <a:tc>
                  <a:txBody>
                    <a:bodyPr/>
                    <a:lstStyle/>
                    <a:p>
                      <a:r>
                        <a:rPr sz="1350" b="0">
                          <a:solidFill>
                            <a:srgbClr val="161A23"/>
                          </a:solidFill>
                          <a:latin typeface="Calibri"/>
                        </a:rPr>
                        <a:t>Splits the budget across flights, hotel, food and activities — worked out from this trip, not a fixed %</a:t>
                      </a:r>
                    </a:p>
                  </a:txBody>
                  <a:tcPr>
                    <a:solidFill>
                      <a:srgbClr val="FFFFFF"/>
                    </a:solidFill>
                  </a:tcPr>
                </a:tc>
              </a:tr>
              <a:tr h="365760">
                <a:tc>
                  <a:txBody>
                    <a:bodyPr/>
                    <a:lstStyle/>
                    <a:p>
                      <a:r>
                        <a:rPr sz="1350" b="0">
                          <a:solidFill>
                            <a:srgbClr val="161A23"/>
                          </a:solidFill>
                          <a:latin typeface="Calibri"/>
                        </a:rPr>
                        <a:t>2  Listen</a:t>
                      </a:r>
                    </a:p>
                  </a:txBody>
                  <a:tcPr>
                    <a:solidFill>
                      <a:srgbClr val="F7F8FC"/>
                    </a:solidFill>
                  </a:tcPr>
                </a:tc>
                <a:tc>
                  <a:txBody>
                    <a:bodyPr/>
                    <a:lstStyle/>
                    <a:p>
                      <a:r>
                        <a:rPr sz="1350" b="0">
                          <a:solidFill>
                            <a:srgbClr val="161A23"/>
                          </a:solidFill>
                          <a:latin typeface="Calibri"/>
                        </a:rPr>
                        <a:t>"a luxury stay" moves money to the room; "I can compromise" moves it to experiences</a:t>
                      </a:r>
                    </a:p>
                  </a:txBody>
                  <a:tcPr>
                    <a:solidFill>
                      <a:srgbClr val="F7F8FC"/>
                    </a:solidFill>
                  </a:tcPr>
                </a:tc>
              </a:tr>
              <a:tr h="365760">
                <a:tc>
                  <a:txBody>
                    <a:bodyPr/>
                    <a:lstStyle/>
                    <a:p>
                      <a:r>
                        <a:rPr sz="1350" b="0">
                          <a:solidFill>
                            <a:srgbClr val="161A23"/>
                          </a:solidFill>
                          <a:latin typeface="Calibri"/>
                        </a:rPr>
                        <a:t>3  Check</a:t>
                      </a:r>
                    </a:p>
                  </a:txBody>
                  <a:tcPr>
                    <a:solidFill>
                      <a:srgbClr val="FFFFFF"/>
                    </a:solidFill>
                  </a:tcPr>
                </a:tc>
                <a:tc>
                  <a:txBody>
                    <a:bodyPr/>
                    <a:lstStyle/>
                    <a:p>
                      <a:r>
                        <a:rPr sz="1350" b="0">
                          <a:solidFill>
                            <a:srgbClr val="161A23"/>
                          </a:solidFill>
                          <a:latin typeface="Calibri"/>
                        </a:rPr>
                        <a:t>Works out the cheapest this trip could possibly cost</a:t>
                      </a:r>
                    </a:p>
                  </a:txBody>
                  <a:tcPr>
                    <a:solidFill>
                      <a:srgbClr val="FFFFFF"/>
                    </a:solidFill>
                  </a:tcPr>
                </a:tc>
              </a:tr>
              <a:tr h="365760">
                <a:tc>
                  <a:txBody>
                    <a:bodyPr/>
                    <a:lstStyle/>
                    <a:p>
                      <a:r>
                        <a:rPr sz="1350" b="0">
                          <a:solidFill>
                            <a:srgbClr val="161A23"/>
                          </a:solidFill>
                          <a:latin typeface="Calibri"/>
                        </a:rPr>
                        <a:t>4  Refuse</a:t>
                      </a:r>
                    </a:p>
                  </a:txBody>
                  <a:tcPr>
                    <a:solidFill>
                      <a:srgbClr val="F7F8FC"/>
                    </a:solidFill>
                  </a:tcPr>
                </a:tc>
                <a:tc>
                  <a:txBody>
                    <a:bodyPr/>
                    <a:lstStyle/>
                    <a:p>
                      <a:r>
                        <a:rPr sz="1350" b="0">
                          <a:solidFill>
                            <a:srgbClr val="161A23"/>
                          </a:solidFill>
                          <a:latin typeface="Calibri"/>
                        </a:rPr>
                        <a:t>If the budget is below that, it says so and offers three ways to fix it</a:t>
                      </a:r>
                    </a:p>
                  </a:txBody>
                  <a:tcPr>
                    <a:solidFill>
                      <a:srgbClr val="F7F8FC"/>
                    </a:solidFill>
                  </a:tcPr>
                </a:tc>
              </a:tr>
            </a:tbl>
          </a:graphicData>
        </a:graphic>
      </p:graphicFrame>
      <p:sp>
        <p:nvSpPr>
          <p:cNvPr id="6" name="TextBox 5"/>
          <p:cNvSpPr txBox="1"/>
          <p:nvPr/>
        </p:nvSpPr>
        <p:spPr>
          <a:xfrm>
            <a:off x="822960" y="461772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$800</a:t>
            </a:r>
          </a:p>
        </p:txBody>
      </p:sp>
      <p:sp>
        <p:nvSpPr>
          <p:cNvPr id="7" name="TextBox 6"/>
          <p:cNvSpPr txBox="1"/>
          <p:nvPr/>
        </p:nvSpPr>
        <p:spPr>
          <a:xfrm>
            <a:off x="822960" y="57607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asked for</a:t>
            </a:r>
          </a:p>
        </p:txBody>
      </p:sp>
      <p:sp>
        <p:nvSpPr>
          <p:cNvPr id="8" name="TextBox 7"/>
          <p:cNvSpPr txBox="1"/>
          <p:nvPr/>
        </p:nvSpPr>
        <p:spPr>
          <a:xfrm>
            <a:off x="4338218" y="461772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$837</a:t>
            </a:r>
          </a:p>
        </p:txBody>
      </p:sp>
      <p:sp>
        <p:nvSpPr>
          <p:cNvPr id="9" name="TextBox 8"/>
          <p:cNvSpPr txBox="1"/>
          <p:nvPr/>
        </p:nvSpPr>
        <p:spPr>
          <a:xfrm>
            <a:off x="4338218" y="57607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cheapest it can be done</a:t>
            </a:r>
          </a:p>
        </p:txBody>
      </p:sp>
      <p:sp>
        <p:nvSpPr>
          <p:cNvPr id="10" name="TextBox 9"/>
          <p:cNvSpPr txBox="1"/>
          <p:nvPr/>
        </p:nvSpPr>
        <p:spPr>
          <a:xfrm>
            <a:off x="7853476" y="461772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REFUSED</a:t>
            </a:r>
          </a:p>
        </p:txBody>
      </p:sp>
      <p:sp>
        <p:nvSpPr>
          <p:cNvPr id="11" name="TextBox 10"/>
          <p:cNvSpPr txBox="1"/>
          <p:nvPr/>
        </p:nvSpPr>
        <p:spPr>
          <a:xfrm>
            <a:off x="7853476" y="57607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with reasons given</a:t>
            </a:r>
          </a:p>
        </p:txBody>
      </p:sp>
      <p:sp>
        <p:nvSpPr>
          <p:cNvPr id="12" name="TextBox 11"/>
          <p:cNvSpPr txBox="1"/>
          <p:nvPr/>
        </p:nvSpPr>
        <p:spPr>
          <a:xfrm>
            <a:off x="822960" y="6035040"/>
            <a:ext cx="10515600" cy="548640"/>
          </a:xfrm>
          <a:prstGeom prst="rect">
            <a:avLst/>
          </a:prstGeom>
          <a:noFill/>
        </p:spPr>
        <p:txBody>
          <a:bodyPr wrap="square" anchor="t">
            <a:spAutoFit/>
          </a:bodyPr>
          <a:lstStyle/>
          <a:p>
            <a:pPr algn="l">
              <a:lnSpc>
                <a:spcPct val="100000"/>
              </a:lnSpc>
            </a:pPr>
            <a:r>
              <a:rPr sz="1500" b="0">
                <a:solidFill>
                  <a:srgbClr val="545C6E"/>
                </a:solidFill>
                <a:latin typeface="Calibri"/>
              </a:rPr>
              <a:t>It uses the real recorded fare. The built-in table said $350 — the API returned $734.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7  ·  RESULTS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Cheaper, and no less accurate</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fficiency.png"/>
          <p:cNvPicPr>
            <a:picLocks noChangeAspect="1"/>
          </p:cNvPicPr>
          <p:nvPr/>
        </p:nvPicPr>
        <p:blipFill>
          <a:blip r:embed="rId2"/>
          <a:stretch>
            <a:fillRect/>
          </a:stretch>
        </p:blipFill>
        <p:spPr>
          <a:xfrm>
            <a:off x="3079623" y="1737360"/>
            <a:ext cx="6032449" cy="3566160"/>
          </a:xfrm>
          <a:prstGeom prst="rect">
            <a:avLst/>
          </a:prstGeom>
        </p:spPr>
      </p:pic>
      <p:sp>
        <p:nvSpPr>
          <p:cNvPr id="6" name="TextBox 5"/>
          <p:cNvSpPr txBox="1"/>
          <p:nvPr/>
        </p:nvSpPr>
        <p:spPr>
          <a:xfrm>
            <a:off x="822960" y="544068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15x</a:t>
            </a:r>
          </a:p>
        </p:txBody>
      </p:sp>
      <p:sp>
        <p:nvSpPr>
          <p:cNvPr id="7" name="TextBox 6"/>
          <p:cNvSpPr txBox="1"/>
          <p:nvPr/>
        </p:nvSpPr>
        <p:spPr>
          <a:xfrm>
            <a:off x="822960" y="658368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cheaper than the agent version</a:t>
            </a:r>
          </a:p>
        </p:txBody>
      </p:sp>
      <p:sp>
        <p:nvSpPr>
          <p:cNvPr id="8" name="TextBox 7"/>
          <p:cNvSpPr txBox="1"/>
          <p:nvPr/>
        </p:nvSpPr>
        <p:spPr>
          <a:xfrm>
            <a:off x="4338218" y="544068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47%</a:t>
            </a:r>
          </a:p>
        </p:txBody>
      </p:sp>
      <p:sp>
        <p:nvSpPr>
          <p:cNvPr id="9" name="TextBox 8"/>
          <p:cNvSpPr txBox="1"/>
          <p:nvPr/>
        </p:nvSpPr>
        <p:spPr>
          <a:xfrm>
            <a:off x="4338218" y="658368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of D's prices match a real fare</a:t>
            </a:r>
          </a:p>
        </p:txBody>
      </p:sp>
      <p:sp>
        <p:nvSpPr>
          <p:cNvPr id="10" name="TextBox 9"/>
          <p:cNvSpPr txBox="1"/>
          <p:nvPr/>
        </p:nvSpPr>
        <p:spPr>
          <a:xfrm>
            <a:off x="7853476" y="544068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1.7%</a:t>
            </a:r>
          </a:p>
        </p:txBody>
      </p:sp>
      <p:sp>
        <p:nvSpPr>
          <p:cNvPr id="11" name="TextBox 10"/>
          <p:cNvSpPr txBox="1"/>
          <p:nvPr/>
        </p:nvSpPr>
        <p:spPr>
          <a:xfrm>
            <a:off x="7853476" y="658368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of A's do — it has no tools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8  ·  PROBLEMS IN MY OWN SYSTEM</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Found by measuring it. Reported, not hidden</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3/9</a:t>
            </a:r>
          </a:p>
        </p:txBody>
      </p:sp>
      <p:sp>
        <p:nvSpPr>
          <p:cNvPr id="6" name="TextBox 5"/>
          <p:cNvSpPr txBox="1"/>
          <p:nvPr/>
        </p:nvSpPr>
        <p:spPr>
          <a:xfrm>
            <a:off x="822960"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design checks pass.
Six things I claimed do not happen</a:t>
            </a:r>
          </a:p>
        </p:txBody>
      </p:sp>
      <p:sp>
        <p:nvSpPr>
          <p:cNvPr id="7" name="TextBox 6"/>
          <p:cNvSpPr txBox="1"/>
          <p:nvPr/>
        </p:nvSpPr>
        <p:spPr>
          <a:xfrm>
            <a:off x="4338218" y="210312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50%</a:t>
            </a:r>
          </a:p>
        </p:txBody>
      </p:sp>
      <p:sp>
        <p:nvSpPr>
          <p:cNvPr id="8" name="TextBox 7"/>
          <p:cNvSpPr txBox="1"/>
          <p:nvPr/>
        </p:nvSpPr>
        <p:spPr>
          <a:xfrm>
            <a:off x="4338218"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of impossible budgets caught.
It misses the other half</a:t>
            </a:r>
          </a:p>
        </p:txBody>
      </p:sp>
      <p:sp>
        <p:nvSpPr>
          <p:cNvPr id="9" name="TextBox 8"/>
          <p:cNvSpPr txBox="1"/>
          <p:nvPr/>
        </p:nvSpPr>
        <p:spPr>
          <a:xfrm>
            <a:off x="7853476" y="210312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1/20</a:t>
            </a:r>
          </a:p>
        </p:txBody>
      </p:sp>
      <p:sp>
        <p:nvSpPr>
          <p:cNvPr id="10" name="TextBox 9"/>
          <p:cNvSpPr txBox="1"/>
          <p:nvPr/>
        </p:nvSpPr>
        <p:spPr>
          <a:xfrm>
            <a:off x="7853476"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trips measured for cost.
The free API limits stopped me</a:t>
            </a:r>
          </a:p>
        </p:txBody>
      </p:sp>
      <p:sp>
        <p:nvSpPr>
          <p:cNvPr id="11" name="TextBox 10"/>
          <p:cNvSpPr txBox="1"/>
          <p:nvPr/>
        </p:nvSpPr>
        <p:spPr>
          <a:xfrm>
            <a:off x="822960" y="4846320"/>
            <a:ext cx="10515600" cy="1280160"/>
          </a:xfrm>
          <a:prstGeom prst="rect">
            <a:avLst/>
          </a:prstGeom>
          <a:noFill/>
        </p:spPr>
        <p:txBody>
          <a:bodyPr wrap="square" anchor="t">
            <a:spAutoFit/>
          </a:bodyPr>
          <a:lstStyle/>
          <a:p>
            <a:pPr algn="l">
              <a:lnSpc>
                <a:spcPct val="125000"/>
              </a:lnSpc>
            </a:pPr>
            <a:r>
              <a:rPr sz="2000" b="1">
                <a:solidFill>
                  <a:srgbClr val="161A23"/>
                </a:solidFill>
                <a:latin typeface="Calibri"/>
              </a:rPr>
              <a:t>All three are in the report, with the evidence.</a:t>
            </a:r>
          </a:p>
          <a:p>
            <a:pPr algn="l">
              <a:lnSpc>
                <a:spcPct val="125000"/>
              </a:lnSpc>
            </a:pPr>
            <a:r>
              <a:rPr sz="1700" b="0">
                <a:solidFill>
                  <a:srgbClr val="545C6E"/>
                </a:solidFill>
                <a:latin typeface="Calibri"/>
              </a:rPr>
              <a:t>An evaluation that only confirms its author is not an evaluation.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2" name="TextBox 1"/>
          <p:cNvSpPr txBox="1"/>
          <p:nvPr/>
        </p:nvSpPr>
        <p:spPr>
          <a:xfrm>
            <a:off x="1005840" y="1371600"/>
            <a:ext cx="10241280" cy="457200"/>
          </a:xfrm>
          <a:prstGeom prst="rect">
            <a:avLst/>
          </a:prstGeom>
          <a:noFill/>
        </p:spPr>
        <p:txBody>
          <a:bodyPr wrap="square" anchor="t">
            <a:spAutoFit/>
          </a:bodyPr>
          <a:lstStyle/>
          <a:p>
            <a:pPr algn="l">
              <a:lnSpc>
                <a:spcPct val="100000"/>
              </a:lnSpc>
            </a:pPr>
            <a:r>
              <a:rPr sz="1400" b="1">
                <a:solidFill>
                  <a:srgbClr val="9CA3F5"/>
                </a:solidFill>
                <a:latin typeface="Calibri"/>
              </a:rPr>
              <a:t>IN ONE SENTENCE</a:t>
            </a:r>
          </a:p>
        </p:txBody>
      </p:sp>
      <p:sp>
        <p:nvSpPr>
          <p:cNvPr id="3" name="TextBox 2"/>
          <p:cNvSpPr txBox="1"/>
          <p:nvPr/>
        </p:nvSpPr>
        <p:spPr>
          <a:xfrm>
            <a:off x="1005840" y="1828800"/>
            <a:ext cx="10241280" cy="2011680"/>
          </a:xfrm>
          <a:prstGeom prst="rect">
            <a:avLst/>
          </a:prstGeom>
          <a:noFill/>
        </p:spPr>
        <p:txBody>
          <a:bodyPr wrap="square" anchor="t">
            <a:spAutoFit/>
          </a:bodyPr>
          <a:lstStyle/>
          <a:p>
            <a:pPr algn="l">
              <a:lnSpc>
                <a:spcPct val="120000"/>
              </a:lnSpc>
            </a:pPr>
            <a:r>
              <a:rPr sz="3600" b="1">
                <a:solidFill>
                  <a:srgbClr val="FFFFFF"/>
                </a:solidFill>
                <a:latin typeface="Calibri"/>
              </a:rPr>
              <a:t>Use AI where a step needs thinking.</a:t>
            </a:r>
          </a:p>
          <a:p>
            <a:pPr algn="l">
              <a:lnSpc>
                <a:spcPct val="120000"/>
              </a:lnSpc>
            </a:pPr>
            <a:r>
              <a:rPr sz="3600" b="1">
                <a:solidFill>
                  <a:srgbClr val="6EE7DF"/>
                </a:solidFill>
                <a:latin typeface="Calibri"/>
              </a:rPr>
              <a:t>Everywhere else, it is just a bill.</a:t>
            </a:r>
          </a:p>
        </p:txBody>
      </p:sp>
      <p:sp>
        <p:nvSpPr>
          <p:cNvPr id="4" name="Rectangle 3"/>
          <p:cNvSpPr/>
          <p:nvPr/>
        </p:nvSpPr>
        <p:spPr>
          <a:xfrm>
            <a:off x="1005840" y="4069080"/>
            <a:ext cx="1463040" cy="34000"/>
          </a:xfrm>
          <a:prstGeom prst="rect">
            <a:avLst/>
          </a:prstGeom>
          <a:solidFill>
            <a:srgbClr val="0EA5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4389120"/>
            <a:ext cx="10241280" cy="1828800"/>
          </a:xfrm>
          <a:prstGeom prst="rect">
            <a:avLst/>
          </a:prstGeom>
          <a:noFill/>
        </p:spPr>
        <p:txBody>
          <a:bodyPr wrap="square" anchor="t">
            <a:spAutoFit/>
          </a:bodyPr>
          <a:lstStyle/>
          <a:p>
            <a:pPr algn="l">
              <a:lnSpc>
                <a:spcPct val="130000"/>
              </a:lnSpc>
            </a:pPr>
            <a:r>
              <a:rPr sz="1700" b="0">
                <a:solidFill>
                  <a:srgbClr val="C7D2FE"/>
                </a:solidFill>
                <a:latin typeface="Calibri"/>
              </a:rPr>
              <a:t>15x cheaper  ·  same accuracy  ·  403 tests  ·  30 saved API replies so anyone can repeat it</a:t>
            </a:r>
          </a:p>
          <a:p>
            <a:pPr algn="l">
              <a:lnSpc>
                <a:spcPct val="130000"/>
              </a:lnSpc>
            </a:pPr>
            <a:r>
              <a:rPr sz="800" b="0">
                <a:solidFill>
                  <a:srgbClr val="FFFFFF"/>
                </a:solidFill>
                <a:latin typeface="Calibri"/>
              </a:rPr>
              <a:t/>
            </a:r>
          </a:p>
          <a:p>
            <a:pPr algn="l">
              <a:lnSpc>
                <a:spcPct val="130000"/>
              </a:lnSpc>
            </a:pPr>
            <a:r>
              <a:rPr sz="1500" b="0">
                <a:solidFill>
                  <a:srgbClr val="9CA3F5"/>
                </a:solidFill>
                <a:latin typeface="Calibri"/>
              </a:rPr>
              <a:t>The gap: only 1 of 20 trips measured for cost. Everything needed to widen it is saved and runs without keys.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
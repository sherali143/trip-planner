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slides. A working travel planner, and one question inside it: which parts of it really need AI? I built it four ways and measured all four.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Two of them read what the traveller wrote, three look things up, and one writes the plan. Keep this slide up while naming them - the next four slides all refer back to these names.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plainly: Approach A shows what happens when AI plans a trip with no access to real travel data. It produced a confident, well-written itinerary and 1.7% of the prices in it matched anything real. Every other approach has to beat this.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my original proposal. The four search and coordination agents run in one sequential crew, so the hotel agent cannot start until the flight agent has finished. The hotel agent has eight tools and is allowed ten thinking steps, and every step is a separate AI call that re-sends the conversation and all eight tool descriptions. It took 20.6 AI calls and 372 seconds, gave broken output twice, and never once called the attractions or the restaurant tool - while still producing a plan that looked complete.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Approach C is Approach B done properly, and it exists so nobody can say D only won because B was set up badly. Two things changed. Running the three specialists in parallel instead of in a queue is most of why the time drops from 372 seconds to 37. And instead of handing the AI twelve thousand characters of hotel data it gets three lines - Theodora Pension $33 10/10, and so on - which is most of why the tokens drop by 89%. Being honest about that is what makes the next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that ships. Once we know the place and the dates, there is nothing left for AI to decide - so AI understands the request, Python fetches the data, AI writes the plan. No agent holds a search tool in the measured run, so it makes exactly 5 searches every time in the same order - an IF statement decides rather than a model, so nothing can be skipped, which is exactly what B and C both did. Worth noting the Python fetches also run one after another, so D is not faster because of parallelism: it is faster because there are only 2 AI calls in it. If asked about the four helper tools in the web app: they are on the coordinator for the interactive path, and the measured arm strips them so the comparison is clean.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rows to point at. The run row explains the time row: B queues its agents so it takes 372 seconds, C runs three of them at once and drops to 37. D fetches its data one call after another in Python and is still the fastest at 23, because the saving comes from removing AI steps, not from running things in parallel. Then read the last row carefully: C is 56% and D is 47%, and their ranges overlap, so I cannot claim D is better grounded and I do not. What does not overlap is the token count. The claim is cheaper and faster with no measurable penalty - a smaller claim than the numbers first suggest, and the only one the data supports.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worth demonstrating. The seven step rows tick over live as each finishes, so the page never looks frozen. And the budget check: it works out the cheapest this trip could possibly cost, using the real recorded fare rather than a built-in table - the table said $350 and the API returned $734 - then refuses and offers a shorter trip, a bigger budget, or a nearer city.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findings from three comparisons: A against the rest shows tools are essential, B against C shows setup matters, C against D shows that removing AI from the searching costs nothing in quality. 403 tests and 30 saved API replies mean anyone can check all of it without an API key.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822960" y="548640"/>
            <a:ext cx="10515600" cy="365760"/>
          </a:xfrm>
          <a:prstGeom prst="rect">
            <a:avLst/>
          </a:prstGeom>
          <a:noFill/>
        </p:spPr>
        <p:txBody>
          <a:bodyPr wrap="square" anchor="t">
            <a:spAutoFit/>
          </a:bodyPr>
          <a:lstStyle/>
          <a:p>
            <a:pPr algn="l">
              <a:lnSpc>
                <a:spcPct val="100000"/>
              </a:lnSpc>
            </a:pPr>
            <a:r>
              <a:rPr sz="1200" b="1">
                <a:solidFill>
                  <a:srgbClr val="9CA3F5"/>
                </a:solidFill>
                <a:latin typeface="Calibri"/>
              </a:rPr>
              <a:t>MSc DISSERTATION  ·  VIVA VOCE  ·  CMP7200 — Individual Master's Project</a:t>
            </a:r>
          </a:p>
        </p:txBody>
      </p:sp>
      <p:sp>
        <p:nvSpPr>
          <p:cNvPr id="3" name="TextBox 2"/>
          <p:cNvSpPr txBox="1"/>
          <p:nvPr/>
        </p:nvSpPr>
        <p:spPr>
          <a:xfrm>
            <a:off x="822960" y="960120"/>
            <a:ext cx="10515600" cy="1005840"/>
          </a:xfrm>
          <a:prstGeom prst="rect">
            <a:avLst/>
          </a:prstGeom>
          <a:noFill/>
        </p:spPr>
        <p:txBody>
          <a:bodyPr wrap="square" anchor="t">
            <a:spAutoFit/>
          </a:bodyPr>
          <a:lstStyle/>
          <a:p>
            <a:pPr algn="l">
              <a:lnSpc>
                <a:spcPct val="100000"/>
              </a:lnSpc>
            </a:pPr>
            <a:r>
              <a:rPr sz="4600" b="1">
                <a:solidFill>
                  <a:srgbClr val="FFFFFF"/>
                </a:solidFill>
                <a:latin typeface="Calibri"/>
              </a:rPr>
              <a:t>AI Trip Planner</a:t>
            </a:r>
          </a:p>
        </p:txBody>
      </p:sp>
      <p:sp>
        <p:nvSpPr>
          <p:cNvPr id="4" name="TextBox 3"/>
          <p:cNvSpPr txBox="1"/>
          <p:nvPr/>
        </p:nvSpPr>
        <p:spPr>
          <a:xfrm>
            <a:off x="822960" y="1965960"/>
            <a:ext cx="10515600" cy="548640"/>
          </a:xfrm>
          <a:prstGeom prst="rect">
            <a:avLst/>
          </a:prstGeom>
          <a:noFill/>
        </p:spPr>
        <p:txBody>
          <a:bodyPr wrap="square" anchor="t">
            <a:spAutoFit/>
          </a:bodyPr>
          <a:lstStyle/>
          <a:p>
            <a:pPr algn="l">
              <a:lnSpc>
                <a:spcPct val="100000"/>
              </a:lnSpc>
            </a:pPr>
            <a:r>
              <a:rPr sz="1700" b="0">
                <a:solidFill>
                  <a:srgbClr val="C7D2FE"/>
                </a:solidFill>
                <a:latin typeface="Calibri"/>
              </a:rPr>
              <a:t>You type where you want to go. It gives you a day-by-day plan with real flight and hotel prices.</a:t>
            </a:r>
          </a:p>
        </p:txBody>
      </p:sp>
      <p:sp>
        <p:nvSpPr>
          <p:cNvPr id="5" name="Rectangle 4"/>
          <p:cNvSpPr/>
          <p:nvPr/>
        </p:nvSpPr>
        <p:spPr>
          <a:xfrm>
            <a:off x="822960" y="2697480"/>
            <a:ext cx="128016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108960"/>
            <a:ext cx="4937760" cy="2286000"/>
          </a:xfrm>
          <a:prstGeom prst="rect">
            <a:avLst/>
          </a:prstGeom>
          <a:noFill/>
        </p:spPr>
        <p:txBody>
          <a:bodyPr wrap="square" anchor="t">
            <a:spAutoFit/>
          </a:bodyPr>
          <a:lstStyle/>
          <a:p>
            <a:pPr algn="l">
              <a:lnSpc>
                <a:spcPct val="125000"/>
              </a:lnSpc>
            </a:pPr>
            <a:r>
              <a:rPr sz="1300" b="1">
                <a:solidFill>
                  <a:srgbClr val="F0B46A"/>
                </a:solidFill>
                <a:latin typeface="Calibri"/>
              </a:rPr>
              <a:t>THE PROBLEM</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A trip needs flights, hotels, places to visit and a budget that adds up.</a:t>
            </a:r>
          </a:p>
          <a:p>
            <a:pPr algn="l">
              <a:lnSpc>
                <a:spcPct val="125000"/>
              </a:lnSpc>
            </a:pPr>
            <a:r>
              <a:rPr sz="400" b="0">
                <a:solidFill>
                  <a:srgbClr val="FFFFFF"/>
                </a:solidFill>
                <a:latin typeface="Calibri"/>
              </a:rPr>
              <a:t/>
            </a:r>
          </a:p>
          <a:p>
            <a:pPr algn="l">
              <a:lnSpc>
                <a:spcPct val="125000"/>
              </a:lnSpc>
            </a:pPr>
            <a:r>
              <a:rPr sz="1700" b="0">
                <a:solidFill>
                  <a:srgbClr val="FFFFFF"/>
                </a:solidFill>
                <a:latin typeface="Calibri"/>
              </a:rPr>
              <a:t>One AI doing all of it is slow, expensive, and makes prices up.</a:t>
            </a:r>
          </a:p>
        </p:txBody>
      </p:sp>
      <p:sp>
        <p:nvSpPr>
          <p:cNvPr id="7" name="TextBox 6"/>
          <p:cNvSpPr txBox="1"/>
          <p:nvPr/>
        </p:nvSpPr>
        <p:spPr>
          <a:xfrm>
            <a:off x="6309360" y="3108960"/>
            <a:ext cx="5029200" cy="2286000"/>
          </a:xfrm>
          <a:prstGeom prst="rect">
            <a:avLst/>
          </a:prstGeom>
          <a:noFill/>
        </p:spPr>
        <p:txBody>
          <a:bodyPr wrap="square" anchor="t">
            <a:spAutoFit/>
          </a:bodyPr>
          <a:lstStyle/>
          <a:p>
            <a:pPr algn="l">
              <a:lnSpc>
                <a:spcPct val="125000"/>
              </a:lnSpc>
            </a:pPr>
            <a:r>
              <a:rPr sz="1300" b="1">
                <a:solidFill>
                  <a:srgbClr val="6EE7DF"/>
                </a:solidFill>
                <a:latin typeface="Calibri"/>
              </a:rPr>
              <a:t>MY SOLUTION</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Split the job between several small agents, each with one clear task.</a:t>
            </a:r>
          </a:p>
          <a:p>
            <a:pPr algn="l">
              <a:lnSpc>
                <a:spcPct val="125000"/>
              </a:lnSpc>
            </a:pPr>
            <a:r>
              <a:rPr sz="400" b="0">
                <a:solidFill>
                  <a:srgbClr val="FFFFFF"/>
                </a:solidFill>
                <a:latin typeface="Calibri"/>
              </a:rPr>
              <a:t/>
            </a:r>
          </a:p>
          <a:p>
            <a:pPr algn="l">
              <a:lnSpc>
                <a:spcPct val="125000"/>
              </a:lnSpc>
            </a:pPr>
            <a:r>
              <a:rPr sz="1700" b="0">
                <a:solidFill>
                  <a:srgbClr val="6EE7DF"/>
                </a:solidFill>
                <a:latin typeface="Calibri"/>
              </a:rPr>
              <a:t>Then give AI only to the agents that need to think.</a:t>
            </a:r>
          </a:p>
        </p:txBody>
      </p:sp>
      <p:sp>
        <p:nvSpPr>
          <p:cNvPr id="8" name="TextBox 7"/>
          <p:cNvSpPr txBox="1"/>
          <p:nvPr/>
        </p:nvSpPr>
        <p:spPr>
          <a:xfrm>
            <a:off x="822960" y="5806440"/>
            <a:ext cx="10515600" cy="457200"/>
          </a:xfrm>
          <a:prstGeom prst="rect">
            <a:avLst/>
          </a:prstGeom>
          <a:noFill/>
        </p:spPr>
        <p:txBody>
          <a:bodyPr wrap="square" anchor="t">
            <a:spAutoFit/>
          </a:bodyPr>
          <a:lstStyle/>
          <a:p>
            <a:pPr algn="l">
              <a:lnSpc>
                <a:spcPct val="100000"/>
              </a:lnSpc>
            </a:pPr>
            <a:r>
              <a:rPr sz="1200" b="0">
                <a:solidFill>
                  <a:srgbClr val="9CA3F5"/>
                </a:solidFill>
                <a:latin typeface="Calibri"/>
              </a:rPr>
              <a:t>Student 25182589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  ·  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has a name and one job</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103120"/>
          <a:ext cx="10515599" cy="2560320"/>
        </p:xfrm>
        <a:graphic>
          <a:graphicData uri="http://schemas.openxmlformats.org/drawingml/2006/table">
            <a:tbl>
              <a:tblPr firstRow="1" bandRow="1">
                <a:tableStyleId>{5C22544A-7EE6-4342-B048-85BDC9FD1C3A}</a:tableStyleId>
              </a:tblPr>
              <a:tblGrid>
                <a:gridCol w="3894666"/>
                <a:gridCol w="6620933"/>
              </a:tblGrid>
              <a:tr h="365760">
                <a:tc>
                  <a:txBody>
                    <a:bodyPr/>
                    <a:lstStyle/>
                    <a:p>
                      <a:r>
                        <a:rPr sz="1500" b="1">
                          <a:solidFill>
                            <a:srgbClr val="FFFFFF"/>
                          </a:solidFill>
                          <a:latin typeface="Calibri"/>
                        </a:rPr>
                        <a:t>Agent</a:t>
                      </a:r>
                    </a:p>
                  </a:txBody>
                  <a:tcPr>
                    <a:solidFill>
                      <a:srgbClr val="4338CA"/>
                    </a:solidFill>
                  </a:tcPr>
                </a:tc>
                <a:tc>
                  <a:txBody>
                    <a:bodyPr/>
                    <a:lstStyle/>
                    <a:p>
                      <a:r>
                        <a:rPr sz="1500" b="1">
                          <a:solidFill>
                            <a:srgbClr val="FFFFFF"/>
                          </a:solidFill>
                          <a:latin typeface="Calibri"/>
                        </a:rPr>
                        <a:t>What it does</a:t>
                      </a:r>
                    </a:p>
                  </a:txBody>
                  <a:tcPr>
                    <a:solidFill>
                      <a:srgbClr val="4338CA"/>
                    </a:solidFill>
                  </a:tcPr>
                </a:tc>
              </a:tr>
              <a:tr h="365760">
                <a:tc>
                  <a:txBody>
                    <a:bodyPr/>
                    <a:lstStyle/>
                    <a:p>
                      <a:r>
                        <a:rPr sz="1500" b="0">
                          <a:solidFill>
                            <a:srgbClr val="161A23"/>
                          </a:solidFill>
                          <a:latin typeface="Calibri"/>
                        </a:rPr>
                        <a:t>Travel Conversation Assistant</a:t>
                      </a:r>
                    </a:p>
                  </a:txBody>
                  <a:tcPr>
                    <a:solidFill>
                      <a:srgbClr val="FFFFFF"/>
                    </a:solidFill>
                  </a:tcPr>
                </a:tc>
                <a:tc>
                  <a:txBody>
                    <a:bodyPr/>
                    <a:lstStyle/>
                    <a:p>
                      <a:r>
                        <a:rPr sz="1500" b="0">
                          <a:solidFill>
                            <a:srgbClr val="161A23"/>
                          </a:solidFill>
                          <a:latin typeface="Calibri"/>
                        </a:rPr>
                        <a:t>Asks the traveller for anything missing</a:t>
                      </a:r>
                    </a:p>
                  </a:txBody>
                  <a:tcPr>
                    <a:solidFill>
                      <a:srgbClr val="FFFFFF"/>
                    </a:solidFill>
                  </a:tcPr>
                </a:tc>
              </a:tr>
              <a:tr h="365760">
                <a:tc>
                  <a:txBody>
                    <a:bodyPr/>
                    <a:lstStyle/>
                    <a:p>
                      <a:r>
                        <a:rPr sz="1500" b="0">
                          <a:solidFill>
                            <a:srgbClr val="161A23"/>
                          </a:solidFill>
                          <a:latin typeface="Calibri"/>
                        </a:rPr>
                        <a:t>Travel Preferences Extractor</a:t>
                      </a:r>
                    </a:p>
                  </a:txBody>
                  <a:tcPr>
                    <a:solidFill>
                      <a:srgbClr val="F7F8FC"/>
                    </a:solidFill>
                  </a:tcPr>
                </a:tc>
                <a:tc>
                  <a:txBody>
                    <a:bodyPr/>
                    <a:lstStyle/>
                    <a:p>
                      <a:r>
                        <a:rPr sz="1500" b="0">
                          <a:solidFill>
                            <a:srgbClr val="161A23"/>
                          </a:solidFill>
                          <a:latin typeface="Calibri"/>
                        </a:rPr>
                        <a:t>Turns those words into exact fields</a:t>
                      </a:r>
                    </a:p>
                  </a:txBody>
                  <a:tcPr>
                    <a:solidFill>
                      <a:srgbClr val="F7F8FC"/>
                    </a:solidFill>
                  </a:tcPr>
                </a:tc>
              </a:tr>
              <a:tr h="365760">
                <a:tc>
                  <a:txBody>
                    <a:bodyPr/>
                    <a:lstStyle/>
                    <a:p>
                      <a:r>
                        <a:rPr sz="1500" b="0">
                          <a:solidFill>
                            <a:srgbClr val="161A23"/>
                          </a:solidFill>
                          <a:latin typeface="Calibri"/>
                        </a:rPr>
                        <a:t>Flight Search Specialist</a:t>
                      </a:r>
                    </a:p>
                  </a:txBody>
                  <a:tcPr>
                    <a:solidFill>
                      <a:srgbClr val="FFFFFF"/>
                    </a:solidFill>
                  </a:tcPr>
                </a:tc>
                <a:tc>
                  <a:txBody>
                    <a:bodyPr/>
                    <a:lstStyle/>
                    <a:p>
                      <a:r>
                        <a:rPr sz="1500" b="0">
                          <a:solidFill>
                            <a:srgbClr val="161A23"/>
                          </a:solidFill>
                          <a:latin typeface="Calibri"/>
                        </a:rPr>
                        <a:t>Looks up flights</a:t>
                      </a:r>
                    </a:p>
                  </a:txBody>
                  <a:tcPr>
                    <a:solidFill>
                      <a:srgbClr val="FFFFFF"/>
                    </a:solidFill>
                  </a:tcPr>
                </a:tc>
              </a:tr>
              <a:tr h="365760">
                <a:tc>
                  <a:txBody>
                    <a:bodyPr/>
                    <a:lstStyle/>
                    <a:p>
                      <a:r>
                        <a:rPr sz="1500" b="0">
                          <a:solidFill>
                            <a:srgbClr val="161A23"/>
                          </a:solidFill>
                          <a:latin typeface="Calibri"/>
                        </a:rPr>
                        <a:t>Hotel Search Specialist</a:t>
                      </a:r>
                    </a:p>
                  </a:txBody>
                  <a:tcPr>
                    <a:solidFill>
                      <a:srgbClr val="F7F8FC"/>
                    </a:solidFill>
                  </a:tcPr>
                </a:tc>
                <a:tc>
                  <a:txBody>
                    <a:bodyPr/>
                    <a:lstStyle/>
                    <a:p>
                      <a:r>
                        <a:rPr sz="1500" b="0">
                          <a:solidFill>
                            <a:srgbClr val="161A23"/>
                          </a:solidFill>
                          <a:latin typeface="Calibri"/>
                        </a:rPr>
                        <a:t>Looks up hotels</a:t>
                      </a:r>
                    </a:p>
                  </a:txBody>
                  <a:tcPr>
                    <a:solidFill>
                      <a:srgbClr val="F7F8FC"/>
                    </a:solidFill>
                  </a:tcPr>
                </a:tc>
              </a:tr>
              <a:tr h="365760">
                <a:tc>
                  <a:txBody>
                    <a:bodyPr/>
                    <a:lstStyle/>
                    <a:p>
                      <a:r>
                        <a:rPr sz="1500" b="0">
                          <a:solidFill>
                            <a:srgbClr val="161A23"/>
                          </a:solidFill>
                          <a:latin typeface="Calibri"/>
                        </a:rPr>
                        <a:t>Activities Specialist</a:t>
                      </a:r>
                    </a:p>
                  </a:txBody>
                  <a:tcPr>
                    <a:solidFill>
                      <a:srgbClr val="FFFFFF"/>
                    </a:solidFill>
                  </a:tcPr>
                </a:tc>
                <a:tc>
                  <a:txBody>
                    <a:bodyPr/>
                    <a:lstStyle/>
                    <a:p>
                      <a:r>
                        <a:rPr sz="1500" b="0">
                          <a:solidFill>
                            <a:srgbClr val="161A23"/>
                          </a:solidFill>
                          <a:latin typeface="Calibri"/>
                        </a:rPr>
                        <a:t>Looks up places to visit and places to eat</a:t>
                      </a:r>
                    </a:p>
                  </a:txBody>
                  <a:tcPr>
                    <a:solidFill>
                      <a:srgbClr val="FFFFFF"/>
                    </a:solidFill>
                  </a:tcPr>
                </a:tc>
              </a:tr>
              <a:tr h="365760">
                <a:tc>
                  <a:txBody>
                    <a:bodyPr/>
                    <a:lstStyle/>
                    <a:p>
                      <a:r>
                        <a:rPr sz="1500" b="0">
                          <a:solidFill>
                            <a:srgbClr val="161A23"/>
                          </a:solidFill>
                          <a:latin typeface="Calibri"/>
                        </a:rPr>
                        <a:t>Itinerary Coordinator</a:t>
                      </a:r>
                    </a:p>
                  </a:txBody>
                  <a:tcPr>
                    <a:solidFill>
                      <a:srgbClr val="F7F8FC"/>
                    </a:solidFill>
                  </a:tcPr>
                </a:tc>
                <a:tc>
                  <a:txBody>
                    <a:bodyPr/>
                    <a:lstStyle/>
                    <a:p>
                      <a:r>
                        <a:rPr sz="1500" b="0">
                          <a:solidFill>
                            <a:srgbClr val="161A23"/>
                          </a:solidFill>
                          <a:latin typeface="Calibri"/>
                        </a:rPr>
                        <a:t>Writes the final day-by-day plan</a:t>
                      </a:r>
                    </a:p>
                  </a:txBody>
                  <a:tcPr>
                    <a:solidFill>
                      <a:srgbClr val="F7F8FC"/>
                    </a:solidFill>
                  </a:tcPr>
                </a:tc>
              </a:tr>
            </a:tbl>
          </a:graphicData>
        </a:graphic>
      </p:graphicFrame>
      <p:sp>
        <p:nvSpPr>
          <p:cNvPr id="6" name="TextBox 5"/>
          <p:cNvSpPr txBox="1"/>
          <p:nvPr/>
        </p:nvSpPr>
        <p:spPr>
          <a:xfrm>
            <a:off x="822960" y="5577840"/>
            <a:ext cx="10515600" cy="731520"/>
          </a:xfrm>
          <a:prstGeom prst="rect">
            <a:avLst/>
          </a:prstGeom>
          <a:noFill/>
        </p:spPr>
        <p:txBody>
          <a:bodyPr wrap="square" anchor="t">
            <a:spAutoFit/>
          </a:bodyPr>
          <a:lstStyle/>
          <a:p>
            <a:pPr algn="l">
              <a:lnSpc>
                <a:spcPct val="100000"/>
              </a:lnSpc>
            </a:pPr>
            <a:r>
              <a:rPr sz="1700" b="0">
                <a:solidFill>
                  <a:srgbClr val="545C6E"/>
                </a:solidFill>
                <a:latin typeface="Calibri"/>
              </a:rPr>
              <a:t>Six agents. The next four slides show which ones each approach uses, and what tools they 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2  ·  APPROACH A</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AI on its own. No agents, no tools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103120"/>
          <a:ext cx="10515599" cy="731520"/>
        </p:xfrm>
        <a:graphic>
          <a:graphicData uri="http://schemas.openxmlformats.org/drawingml/2006/table">
            <a:tbl>
              <a:tblPr firstRow="1" bandRow="1">
                <a:tableStyleId>{5C22544A-7EE6-4342-B048-85BDC9FD1C3A}</a:tableStyleId>
              </a:tblPr>
              <a:tblGrid>
                <a:gridCol w="4284133"/>
                <a:gridCol w="2531533"/>
                <a:gridCol w="3699933"/>
              </a:tblGrid>
              <a:tr h="365760">
                <a:tc>
                  <a:txBody>
                    <a:bodyPr/>
                    <a:lstStyle/>
                    <a:p>
                      <a:r>
                        <a:rPr sz="1500" b="1">
                          <a:solidFill>
                            <a:srgbClr val="FFFFFF"/>
                          </a:solidFill>
                          <a:latin typeface="Calibri"/>
                        </a:rPr>
                        <a:t>Agent</a:t>
                      </a:r>
                    </a:p>
                  </a:txBody>
                  <a:tcPr>
                    <a:solidFill>
                      <a:srgbClr val="4338CA"/>
                    </a:solidFill>
                  </a:tcPr>
                </a:tc>
                <a:tc>
                  <a:txBody>
                    <a:bodyPr/>
                    <a:lstStyle/>
                    <a:p>
                      <a:r>
                        <a:rPr sz="1500" b="1">
                          <a:solidFill>
                            <a:srgbClr val="FFFFFF"/>
                          </a:solidFill>
                          <a:latin typeface="Calibri"/>
                        </a:rPr>
                        <a:t>How many tools</a:t>
                      </a:r>
                    </a:p>
                  </a:txBody>
                  <a:tcPr>
                    <a:solidFill>
                      <a:srgbClr val="4338CA"/>
                    </a:solidFill>
                  </a:tcPr>
                </a:tc>
                <a:tc>
                  <a:txBody>
                    <a:bodyPr/>
                    <a:lstStyle/>
                    <a:p>
                      <a:r>
                        <a:rPr sz="1500" b="1">
                          <a:solidFill>
                            <a:srgbClr val="FFFFFF"/>
                          </a:solidFill>
                          <a:latin typeface="Calibri"/>
                        </a:rPr>
                        <a:t>Which tools</a:t>
                      </a:r>
                    </a:p>
                  </a:txBody>
                  <a:tcPr>
                    <a:solidFill>
                      <a:srgbClr val="4338CA"/>
                    </a:solidFill>
                  </a:tcPr>
                </a:tc>
              </a:tr>
              <a:tr h="365760">
                <a:tc>
                  <a:txBody>
                    <a:bodyPr/>
                    <a:lstStyle/>
                    <a:p>
                      <a:r>
                        <a:rPr sz="1500" b="0">
                          <a:solidFill>
                            <a:srgbClr val="161A23"/>
                          </a:solidFill>
                          <a:latin typeface="Calibri"/>
                        </a:rPr>
                        <a:t>none — just one AI call</a:t>
                      </a:r>
                    </a:p>
                  </a:txBody>
                  <a:tcPr>
                    <a:solidFill>
                      <a:srgbClr val="FFFFFF"/>
                    </a:solidFill>
                  </a:tcPr>
                </a:tc>
                <a:tc>
                  <a:txBody>
                    <a:bodyPr/>
                    <a:lstStyle/>
                    <a:p>
                      <a:r>
                        <a:rPr sz="1500" b="0">
                          <a:solidFill>
                            <a:srgbClr val="161A23"/>
                          </a:solidFill>
                          <a:latin typeface="Calibri"/>
                        </a:rPr>
                        <a:t>0</a:t>
                      </a:r>
                    </a:p>
                  </a:txBody>
                  <a:tcPr>
                    <a:solidFill>
                      <a:srgbClr val="FFFFFF"/>
                    </a:solidFill>
                  </a:tcPr>
                </a:tc>
                <a:tc>
                  <a:txBody>
                    <a:bodyPr/>
                    <a:lstStyle/>
                    <a:p>
                      <a:r>
                        <a:rPr sz="1500" b="0">
                          <a:solidFill>
                            <a:srgbClr val="161A23"/>
                          </a:solidFill>
                          <a:latin typeface="Calibri"/>
                        </a:rPr>
                        <a:t>none</a:t>
                      </a:r>
                    </a:p>
                  </a:txBody>
                  <a:tcPr>
                    <a:solidFill>
                      <a:srgbClr val="FFFFFF"/>
                    </a:solidFill>
                  </a:tcPr>
                </a:tc>
              </a:tr>
            </a:tbl>
          </a:graphicData>
        </a:graphic>
      </p:graphicFrame>
      <p:sp>
        <p:nvSpPr>
          <p:cNvPr id="6" name="TextBox 5"/>
          <p:cNvSpPr txBox="1"/>
          <p:nvPr/>
        </p:nvSpPr>
        <p:spPr>
          <a:xfrm>
            <a:off x="822960" y="3063240"/>
            <a:ext cx="10515600" cy="457200"/>
          </a:xfrm>
          <a:prstGeom prst="rect">
            <a:avLst/>
          </a:prstGeom>
          <a:noFill/>
        </p:spPr>
        <p:txBody>
          <a:bodyPr wrap="square" anchor="t">
            <a:spAutoFit/>
          </a:bodyPr>
          <a:lstStyle/>
          <a:p>
            <a:pPr algn="l">
              <a:lnSpc>
                <a:spcPct val="100000"/>
              </a:lnSpc>
            </a:pPr>
            <a:r>
              <a:rPr sz="1800" b="0">
                <a:solidFill>
                  <a:srgbClr val="161A23"/>
                </a:solidFill>
                <a:latin typeface="Calibri"/>
              </a:rPr>
              <a:t>The AI writes the whole plan from what it already knows. It cannot look anything up.</a:t>
            </a:r>
          </a:p>
        </p:txBody>
      </p:sp>
      <p:sp>
        <p:nvSpPr>
          <p:cNvPr id="7" name="TextBox 6"/>
          <p:cNvSpPr txBox="1"/>
          <p:nvPr/>
        </p:nvSpPr>
        <p:spPr>
          <a:xfrm>
            <a:off x="822960" y="3611880"/>
            <a:ext cx="10515600" cy="457200"/>
          </a:xfrm>
          <a:prstGeom prst="rect">
            <a:avLst/>
          </a:prstGeom>
          <a:noFill/>
        </p:spPr>
        <p:txBody>
          <a:bodyPr wrap="square" anchor="t">
            <a:spAutoFit/>
          </a:bodyPr>
          <a:lstStyle/>
          <a:p>
            <a:pPr algn="l">
              <a:lnSpc>
                <a:spcPct val="100000"/>
              </a:lnSpc>
            </a:pPr>
            <a:r>
              <a:rPr sz="1700" b="1">
                <a:solidFill>
                  <a:srgbClr val="0EA5A4"/>
                </a:solidFill>
                <a:latin typeface="Calibri"/>
              </a:rPr>
              <a:t>How it runs:  one AI call, and that is the whole thing.</a:t>
            </a:r>
          </a:p>
        </p:txBody>
      </p:sp>
      <p:sp>
        <p:nvSpPr>
          <p:cNvPr id="8" name="TextBox 7"/>
          <p:cNvSpPr txBox="1"/>
          <p:nvPr/>
        </p:nvSpPr>
        <p:spPr>
          <a:xfrm>
            <a:off x="822960"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a:t>
            </a:r>
          </a:p>
        </p:txBody>
      </p:sp>
      <p:sp>
        <p:nvSpPr>
          <p:cNvPr id="9" name="TextBox 8"/>
          <p:cNvSpPr txBox="1"/>
          <p:nvPr/>
        </p:nvSpPr>
        <p:spPr>
          <a:xfrm>
            <a:off x="822960"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AI call</a:t>
            </a:r>
          </a:p>
        </p:txBody>
      </p:sp>
      <p:sp>
        <p:nvSpPr>
          <p:cNvPr id="10" name="TextBox 9"/>
          <p:cNvSpPr txBox="1"/>
          <p:nvPr/>
        </p:nvSpPr>
        <p:spPr>
          <a:xfrm>
            <a:off x="4338218"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1.7%</a:t>
            </a:r>
          </a:p>
        </p:txBody>
      </p:sp>
      <p:sp>
        <p:nvSpPr>
          <p:cNvPr id="11" name="TextBox 10"/>
          <p:cNvSpPr txBox="1"/>
          <p:nvPr/>
        </p:nvSpPr>
        <p:spPr>
          <a:xfrm>
            <a:off x="4338218"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of its prices were real</a:t>
            </a:r>
          </a:p>
        </p:txBody>
      </p:sp>
      <p:sp>
        <p:nvSpPr>
          <p:cNvPr id="12" name="TextBox 11"/>
          <p:cNvSpPr txBox="1"/>
          <p:nvPr/>
        </p:nvSpPr>
        <p:spPr>
          <a:xfrm>
            <a:off x="7853476"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27s</a:t>
            </a:r>
          </a:p>
        </p:txBody>
      </p:sp>
      <p:sp>
        <p:nvSpPr>
          <p:cNvPr id="13" name="TextBox 12"/>
          <p:cNvSpPr txBox="1"/>
          <p:nvPr/>
        </p:nvSpPr>
        <p:spPr>
          <a:xfrm>
            <a:off x="7853476"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to finish</a:t>
            </a:r>
          </a:p>
        </p:txBody>
      </p:sp>
      <p:sp>
        <p:nvSpPr>
          <p:cNvPr id="14" name="TextBox 13"/>
          <p:cNvSpPr txBox="1"/>
          <p:nvPr/>
        </p:nvSpPr>
        <p:spPr>
          <a:xfrm>
            <a:off x="822960" y="5897880"/>
            <a:ext cx="10515600" cy="457200"/>
          </a:xfrm>
          <a:prstGeom prst="rect">
            <a:avLst/>
          </a:prstGeom>
          <a:noFill/>
        </p:spPr>
        <p:txBody>
          <a:bodyPr wrap="square" anchor="t">
            <a:spAutoFit/>
          </a:bodyPr>
          <a:lstStyle/>
          <a:p>
            <a:pPr algn="l">
              <a:lnSpc>
                <a:spcPct val="100000"/>
              </a:lnSpc>
            </a:pPr>
            <a:r>
              <a:rPr sz="2000" b="1">
                <a:solidFill>
                  <a:srgbClr val="A85B00"/>
                </a:solidFill>
                <a:latin typeface="Calibri"/>
              </a:rPr>
              <a:t>So it makes the prices up. Every other approach has to beat this.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3  ·  APPROACH B</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Six agents. Each one picks its own tools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874519"/>
          <a:ext cx="10515599" cy="2560320"/>
        </p:xfrm>
        <a:graphic>
          <a:graphicData uri="http://schemas.openxmlformats.org/drawingml/2006/table">
            <a:tbl>
              <a:tblPr firstRow="1" bandRow="1">
                <a:tableStyleId>{5C22544A-7EE6-4342-B048-85BDC9FD1C3A}</a:tableStyleId>
              </a:tblPr>
              <a:tblGrid>
                <a:gridCol w="3059083"/>
                <a:gridCol w="860367"/>
                <a:gridCol w="6596149"/>
              </a:tblGrid>
              <a:tr h="365760">
                <a:tc>
                  <a:txBody>
                    <a:bodyPr/>
                    <a:lstStyle/>
                    <a:p>
                      <a:r>
                        <a:rPr sz="1100" b="1">
                          <a:solidFill>
                            <a:srgbClr val="FFFFFF"/>
                          </a:solidFill>
                          <a:latin typeface="Calibri"/>
                        </a:rPr>
                        <a:t>Agent</a:t>
                      </a:r>
                    </a:p>
                  </a:txBody>
                  <a:tcPr>
                    <a:solidFill>
                      <a:srgbClr val="4338CA"/>
                    </a:solidFill>
                  </a:tcPr>
                </a:tc>
                <a:tc>
                  <a:txBody>
                    <a:bodyPr/>
                    <a:lstStyle/>
                    <a:p>
                      <a:r>
                        <a:rPr sz="1100" b="1">
                          <a:solidFill>
                            <a:srgbClr val="FFFFFF"/>
                          </a:solidFill>
                          <a:latin typeface="Calibri"/>
                        </a:rPr>
                        <a:t>Tools</a:t>
                      </a:r>
                    </a:p>
                  </a:txBody>
                  <a:tcPr>
                    <a:solidFill>
                      <a:srgbClr val="4338CA"/>
                    </a:solidFill>
                  </a:tcPr>
                </a:tc>
                <a:tc>
                  <a:txBody>
                    <a:bodyPr/>
                    <a:lstStyle/>
                    <a:p>
                      <a:r>
                        <a:rPr sz="1100" b="1">
                          <a:solidFill>
                            <a:srgbClr val="FFFFFF"/>
                          </a:solidFill>
                          <a:latin typeface="Calibri"/>
                        </a:rPr>
                        <a:t>Which tools</a:t>
                      </a:r>
                    </a:p>
                  </a:txBody>
                  <a:tcPr>
                    <a:solidFill>
                      <a:srgbClr val="4338CA"/>
                    </a:solidFill>
                  </a:tcPr>
                </a:tc>
              </a:tr>
              <a:tr h="365760">
                <a:tc>
                  <a:txBody>
                    <a:bodyPr/>
                    <a:lstStyle/>
                    <a:p>
                      <a:r>
                        <a:rPr sz="1100" b="0">
                          <a:solidFill>
                            <a:srgbClr val="161A23"/>
                          </a:solidFill>
                          <a:latin typeface="Calibri"/>
                        </a:rPr>
                        <a:t>Travel Preferences Extractor</a:t>
                      </a:r>
                    </a:p>
                  </a:txBody>
                  <a:tcPr>
                    <a:solidFill>
                      <a:srgbClr val="FFFFFF"/>
                    </a:solidFill>
                  </a:tcPr>
                </a:tc>
                <a:tc>
                  <a:txBody>
                    <a:bodyPr/>
                    <a:lstStyle/>
                    <a:p>
                      <a:r>
                        <a:rPr sz="1100" b="0">
                          <a:solidFill>
                            <a:srgbClr val="161A23"/>
                          </a:solidFill>
                          <a:latin typeface="Calibri"/>
                        </a:rPr>
                        <a:t>0</a:t>
                      </a:r>
                    </a:p>
                  </a:txBody>
                  <a:tcPr>
                    <a:solidFill>
                      <a:srgbClr val="FFFFFF"/>
                    </a:solidFill>
                  </a:tcPr>
                </a:tc>
                <a:tc>
                  <a:txBody>
                    <a:bodyPr/>
                    <a:lstStyle/>
                    <a:p>
                      <a:r>
                        <a:rPr sz="1100" b="0">
                          <a:solidFill>
                            <a:srgbClr val="161A23"/>
                          </a:solidFill>
                          <a:latin typeface="Calibri"/>
                        </a:rPr>
                        <a:t>none</a:t>
                      </a:r>
                    </a:p>
                  </a:txBody>
                  <a:tcPr>
                    <a:solidFill>
                      <a:srgbClr val="FFFFFF"/>
                    </a:solidFill>
                  </a:tcPr>
                </a:tc>
              </a:tr>
              <a:tr h="365760">
                <a:tc>
                  <a:txBody>
                    <a:bodyPr/>
                    <a:lstStyle/>
                    <a:p>
                      <a:r>
                        <a:rPr sz="1100" b="0">
                          <a:solidFill>
                            <a:srgbClr val="161A23"/>
                          </a:solidFill>
                          <a:latin typeface="Calibri"/>
                        </a:rPr>
                        <a:t>Flight Search Specialist</a:t>
                      </a:r>
                    </a:p>
                  </a:txBody>
                  <a:tcPr>
                    <a:solidFill>
                      <a:srgbClr val="F7F8FC"/>
                    </a:solidFill>
                  </a:tcPr>
                </a:tc>
                <a:tc>
                  <a:txBody>
                    <a:bodyPr/>
                    <a:lstStyle/>
                    <a:p>
                      <a:r>
                        <a:rPr sz="1100" b="0">
                          <a:solidFill>
                            <a:srgbClr val="161A23"/>
                          </a:solidFill>
                          <a:latin typeface="Calibri"/>
                        </a:rPr>
                        <a:t>4</a:t>
                      </a:r>
                    </a:p>
                  </a:txBody>
                  <a:tcPr>
                    <a:solidFill>
                      <a:srgbClr val="F7F8FC"/>
                    </a:solidFill>
                  </a:tcPr>
                </a:tc>
                <a:tc>
                  <a:txBody>
                    <a:bodyPr/>
                    <a:lstStyle/>
                    <a:p>
                      <a:r>
                        <a:rPr sz="1100" b="0">
                          <a:solidFill>
                            <a:srgbClr val="161A23"/>
                          </a:solidFill>
                          <a:latin typeface="Calibri"/>
                        </a:rPr>
                        <a:t>search_comprehensive_flights,  search_round_trip_flights,  search_internet,  calculate</a:t>
                      </a:r>
                    </a:p>
                  </a:txBody>
                  <a:tcPr>
                    <a:solidFill>
                      <a:srgbClr val="F7F8FC"/>
                    </a:solidFill>
                  </a:tcPr>
                </a:tc>
              </a:tr>
              <a:tr h="365760">
                <a:tc>
                  <a:txBody>
                    <a:bodyPr/>
                    <a:lstStyle/>
                    <a:p>
                      <a:r>
                        <a:rPr sz="1100" b="0">
                          <a:solidFill>
                            <a:srgbClr val="161A23"/>
                          </a:solidFill>
                          <a:latin typeface="Calibri"/>
                        </a:rPr>
                        <a:t>Hotel Search Specialist</a:t>
                      </a:r>
                    </a:p>
                  </a:txBody>
                  <a:tcPr>
                    <a:solidFill>
                      <a:srgbClr val="FFFFFF"/>
                    </a:solidFill>
                  </a:tcPr>
                </a:tc>
                <a:tc>
                  <a:txBody>
                    <a:bodyPr/>
                    <a:lstStyle/>
                    <a:p>
                      <a:r>
                        <a:rPr sz="1100" b="0">
                          <a:solidFill>
                            <a:srgbClr val="161A23"/>
                          </a:solidFill>
                          <a:latin typeface="Calibri"/>
                        </a:rPr>
                        <a:t>8</a:t>
                      </a:r>
                    </a:p>
                  </a:txBody>
                  <a:tcPr>
                    <a:solidFill>
                      <a:srgbClr val="FFFFFF"/>
                    </a:solidFill>
                  </a:tcPr>
                </a:tc>
                <a:tc>
                  <a:txBody>
                    <a:bodyPr/>
                    <a:lstStyle/>
                    <a:p>
                      <a:r>
                        <a:rPr sz="1100" b="0">
                          <a:solidFill>
                            <a:srgbClr val="161A23"/>
                          </a:solidFill>
                          <a:latin typeface="Calibri"/>
                        </a:rPr>
                        <a:t>search_hotels_comprehensive,  search_accommodations_with_location,  search_hotel_destination,  search_hotels_by_dest_id,  get_hotel_reviews,  get_attractions_near_hotel,  search_internet,  calculate</a:t>
                      </a:r>
                    </a:p>
                  </a:txBody>
                  <a:tcPr>
                    <a:solidFill>
                      <a:srgbClr val="FFFFFF"/>
                    </a:solidFill>
                  </a:tcPr>
                </a:tc>
              </a:tr>
              <a:tr h="365760">
                <a:tc>
                  <a:txBody>
                    <a:bodyPr/>
                    <a:lstStyle/>
                    <a:p>
                      <a:r>
                        <a:rPr sz="1100" b="0">
                          <a:solidFill>
                            <a:srgbClr val="161A23"/>
                          </a:solidFill>
                          <a:latin typeface="Calibri"/>
                        </a:rPr>
                        <a:t>Activities Specialist</a:t>
                      </a:r>
                    </a:p>
                  </a:txBody>
                  <a:tcPr>
                    <a:solidFill>
                      <a:srgbClr val="F7F8FC"/>
                    </a:solidFill>
                  </a:tcPr>
                </a:tc>
                <a:tc>
                  <a:txBody>
                    <a:bodyPr/>
                    <a:lstStyle/>
                    <a:p>
                      <a:r>
                        <a:rPr sz="1100" b="0">
                          <a:solidFill>
                            <a:srgbClr val="161A23"/>
                          </a:solidFill>
                          <a:latin typeface="Calibri"/>
                        </a:rPr>
                        <a:t>4</a:t>
                      </a:r>
                    </a:p>
                  </a:txBody>
                  <a:tcPr>
                    <a:solidFill>
                      <a:srgbClr val="F7F8FC"/>
                    </a:solidFill>
                  </a:tcPr>
                </a:tc>
                <a:tc>
                  <a:txBody>
                    <a:bodyPr/>
                    <a:lstStyle/>
                    <a:p>
                      <a:r>
                        <a:rPr sz="1100" b="0">
                          <a:solidFill>
                            <a:srgbClr val="161A23"/>
                          </a:solidFill>
                          <a:latin typeface="Calibri"/>
                        </a:rPr>
                        <a:t>search_attractions,  search_restaurants,  search_internet,  calculate</a:t>
                      </a:r>
                    </a:p>
                  </a:txBody>
                  <a:tcPr>
                    <a:solidFill>
                      <a:srgbClr val="F7F8FC"/>
                    </a:solidFill>
                  </a:tcPr>
                </a:tc>
              </a:tr>
              <a:tr h="365760">
                <a:tc>
                  <a:txBody>
                    <a:bodyPr/>
                    <a:lstStyle/>
                    <a:p>
                      <a:r>
                        <a:rPr sz="1100" b="0">
                          <a:solidFill>
                            <a:srgbClr val="161A23"/>
                          </a:solidFill>
                          <a:latin typeface="Calibri"/>
                        </a:rPr>
                        <a:t>Itinerary Coordinator</a:t>
                      </a:r>
                    </a:p>
                  </a:txBody>
                  <a:tcPr>
                    <a:solidFill>
                      <a:srgbClr val="FFFFFF"/>
                    </a:solidFill>
                  </a:tcPr>
                </a:tc>
                <a:tc>
                  <a:txBody>
                    <a:bodyPr/>
                    <a:lstStyle/>
                    <a:p>
                      <a:r>
                        <a:rPr sz="1100" b="0">
                          <a:solidFill>
                            <a:srgbClr val="161A23"/>
                          </a:solidFill>
                          <a:latin typeface="Calibri"/>
                        </a:rPr>
                        <a:t>4</a:t>
                      </a:r>
                    </a:p>
                  </a:txBody>
                  <a:tcPr>
                    <a:solidFill>
                      <a:srgbClr val="FFFFFF"/>
                    </a:solidFill>
                  </a:tcPr>
                </a:tc>
                <a:tc>
                  <a:txBody>
                    <a:bodyPr/>
                    <a:lstStyle/>
                    <a:p>
                      <a:r>
                        <a:rPr sz="1100" b="0">
                          <a:solidFill>
                            <a:srgbClr val="161A23"/>
                          </a:solidFill>
                          <a:latin typeface="Calibri"/>
                        </a:rPr>
                        <a:t>calculate,  search_internet,  search_attractions,  search_restaurants</a:t>
                      </a:r>
                    </a:p>
                  </a:txBody>
                  <a:tcPr>
                    <a:solidFill>
                      <a:srgbClr val="FFFFFF"/>
                    </a:solidFill>
                  </a:tcPr>
                </a:tc>
              </a:tr>
              <a:tr h="365760">
                <a:tc>
                  <a:txBody>
                    <a:bodyPr/>
                    <a:lstStyle/>
                    <a:p>
                      <a:r>
                        <a:rPr sz="1100" b="0">
                          <a:solidFill>
                            <a:srgbClr val="161A23"/>
                          </a:solidFill>
                          <a:latin typeface="Calibri"/>
                        </a:rPr>
                        <a:t>Total</a:t>
                      </a:r>
                    </a:p>
                  </a:txBody>
                  <a:tcPr>
                    <a:solidFill>
                      <a:srgbClr val="F7F8FC"/>
                    </a:solidFill>
                  </a:tcPr>
                </a:tc>
                <a:tc>
                  <a:txBody>
                    <a:bodyPr/>
                    <a:lstStyle/>
                    <a:p>
                      <a:r>
                        <a:rPr sz="1100" b="0">
                          <a:solidFill>
                            <a:srgbClr val="161A23"/>
                          </a:solidFill>
                          <a:latin typeface="Calibri"/>
                        </a:rPr>
                        <a:t>20</a:t>
                      </a:r>
                    </a:p>
                  </a:txBody>
                  <a:tcPr>
                    <a:solidFill>
                      <a:srgbClr val="F7F8FC"/>
                    </a:solidFill>
                  </a:tcPr>
                </a:tc>
                <a:tc>
                  <a:txBody>
                    <a:bodyPr/>
                    <a:lstStyle/>
                    <a:p>
                      <a:r>
                        <a:rPr sz="1100" b="0">
                          <a:solidFill>
                            <a:srgbClr val="161A23"/>
                          </a:solidFill>
                          <a:latin typeface="Calibri"/>
                        </a:rPr>
                        <a:t> </a:t>
                      </a:r>
                    </a:p>
                  </a:txBody>
                  <a:tcPr>
                    <a:solidFill>
                      <a:srgbClr val="F7F8FC"/>
                    </a:solidFill>
                  </a:tcPr>
                </a:tc>
              </a:tr>
            </a:tbl>
          </a:graphicData>
        </a:graphic>
      </p:graphicFrame>
      <p:sp>
        <p:nvSpPr>
          <p:cNvPr id="6" name="TextBox 5"/>
          <p:cNvSpPr txBox="1"/>
          <p:nvPr/>
        </p:nvSpPr>
        <p:spPr>
          <a:xfrm>
            <a:off x="822960" y="4617720"/>
            <a:ext cx="10515600" cy="1737360"/>
          </a:xfrm>
          <a:prstGeom prst="rect">
            <a:avLst/>
          </a:prstGeom>
          <a:noFill/>
        </p:spPr>
        <p:txBody>
          <a:bodyPr wrap="square" anchor="t">
            <a:spAutoFit/>
          </a:bodyPr>
          <a:lstStyle/>
          <a:p>
            <a:pPr algn="l">
              <a:lnSpc>
                <a:spcPct val="120000"/>
              </a:lnSpc>
            </a:pPr>
            <a:r>
              <a:rPr sz="1700" b="1">
                <a:solidFill>
                  <a:srgbClr val="0EA5A4"/>
                </a:solidFill>
                <a:latin typeface="Calibri"/>
              </a:rPr>
              <a:t>How they run:  one at a time. Flights, then hotels, then attractions, then the plan.</a:t>
            </a:r>
          </a:p>
          <a:p>
            <a:pPr algn="l">
              <a:lnSpc>
                <a:spcPct val="120000"/>
              </a:lnSpc>
            </a:pPr>
            <a:r>
              <a:rPr sz="1900" b="1">
                <a:solidFill>
                  <a:srgbClr val="161A23"/>
                </a:solidFill>
                <a:latin typeface="Calibri"/>
              </a:rPr>
              <a:t>It used 21 AI calls and took 372 seconds to plan one trip.</a:t>
            </a:r>
          </a:p>
          <a:p>
            <a:pPr algn="l">
              <a:lnSpc>
                <a:spcPct val="120000"/>
              </a:lnSpc>
            </a:pPr>
            <a:r>
              <a:rPr sz="1600" b="1">
                <a:solidFill>
                  <a:srgbClr val="A85B00"/>
                </a:solidFill>
                <a:latin typeface="Calibri"/>
              </a:rPr>
              <a:t>Too much freedom. They keep thinking and searching, and they still never used two of their own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4  ·  APPROACH C</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same six agents, but set up properly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20240"/>
          <a:ext cx="10515599" cy="2560320"/>
        </p:xfrm>
        <a:graphic>
          <a:graphicData uri="http://schemas.openxmlformats.org/drawingml/2006/table">
            <a:tbl>
              <a:tblPr firstRow="1" bandRow="1">
                <a:tableStyleId>{5C22544A-7EE6-4342-B048-85BDC9FD1C3A}</a:tableStyleId>
              </a:tblPr>
              <a:tblGrid>
                <a:gridCol w="3059083"/>
                <a:gridCol w="860367"/>
                <a:gridCol w="6596149"/>
              </a:tblGrid>
              <a:tr h="365760">
                <a:tc>
                  <a:txBody>
                    <a:bodyPr/>
                    <a:lstStyle/>
                    <a:p>
                      <a:r>
                        <a:rPr sz="1300" b="1">
                          <a:solidFill>
                            <a:srgbClr val="FFFFFF"/>
                          </a:solidFill>
                          <a:latin typeface="Calibri"/>
                        </a:rPr>
                        <a:t>Agent</a:t>
                      </a:r>
                    </a:p>
                  </a:txBody>
                  <a:tcPr>
                    <a:solidFill>
                      <a:srgbClr val="4338CA"/>
                    </a:solidFill>
                  </a:tcPr>
                </a:tc>
                <a:tc>
                  <a:txBody>
                    <a:bodyPr/>
                    <a:lstStyle/>
                    <a:p>
                      <a:r>
                        <a:rPr sz="1300" b="1">
                          <a:solidFill>
                            <a:srgbClr val="FFFFFF"/>
                          </a:solidFill>
                          <a:latin typeface="Calibri"/>
                        </a:rPr>
                        <a:t>Tools</a:t>
                      </a:r>
                    </a:p>
                  </a:txBody>
                  <a:tcPr>
                    <a:solidFill>
                      <a:srgbClr val="4338CA"/>
                    </a:solidFill>
                  </a:tcPr>
                </a:tc>
                <a:tc>
                  <a:txBody>
                    <a:bodyPr/>
                    <a:lstStyle/>
                    <a:p>
                      <a:r>
                        <a:rPr sz="1300" b="1">
                          <a:solidFill>
                            <a:srgbClr val="FFFFFF"/>
                          </a:solidFill>
                          <a:latin typeface="Calibri"/>
                        </a:rPr>
                        <a:t>Which tools</a:t>
                      </a:r>
                    </a:p>
                  </a:txBody>
                  <a:tcPr>
                    <a:solidFill>
                      <a:srgbClr val="4338CA"/>
                    </a:solidFill>
                  </a:tcPr>
                </a:tc>
              </a:tr>
              <a:tr h="365760">
                <a:tc>
                  <a:txBody>
                    <a:bodyPr/>
                    <a:lstStyle/>
                    <a:p>
                      <a:r>
                        <a:rPr sz="1300" b="0">
                          <a:solidFill>
                            <a:srgbClr val="161A23"/>
                          </a:solidFill>
                          <a:latin typeface="Calibri"/>
                        </a:rPr>
                        <a:t>Travel Preferences Extractor</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none</a:t>
                      </a:r>
                    </a:p>
                  </a:txBody>
                  <a:tcPr>
                    <a:solidFill>
                      <a:srgbClr val="FFFFFF"/>
                    </a:solidFill>
                  </a:tcPr>
                </a:tc>
              </a:tr>
              <a:tr h="365760">
                <a:tc>
                  <a:txBody>
                    <a:bodyPr/>
                    <a:lstStyle/>
                    <a:p>
                      <a:r>
                        <a:rPr sz="1300" b="0">
                          <a:solidFill>
                            <a:srgbClr val="161A23"/>
                          </a:solidFill>
                          <a:latin typeface="Calibri"/>
                        </a:rPr>
                        <a:t>Flight Search Specialist</a:t>
                      </a:r>
                    </a:p>
                  </a:txBody>
                  <a:tcPr>
                    <a:solidFill>
                      <a:srgbClr val="F7F8FC"/>
                    </a:solidFill>
                  </a:tcPr>
                </a:tc>
                <a:tc>
                  <a:txBody>
                    <a:bodyPr/>
                    <a:lstStyle/>
                    <a:p>
                      <a:r>
                        <a:rPr sz="1300" b="0">
                          <a:solidFill>
                            <a:srgbClr val="161A23"/>
                          </a:solidFill>
                          <a:latin typeface="Calibri"/>
                        </a:rPr>
                        <a:t>1</a:t>
                      </a:r>
                    </a:p>
                  </a:txBody>
                  <a:tcPr>
                    <a:solidFill>
                      <a:srgbClr val="F7F8FC"/>
                    </a:solidFill>
                  </a:tcPr>
                </a:tc>
                <a:tc>
                  <a:txBody>
                    <a:bodyPr/>
                    <a:lstStyle/>
                    <a:p>
                      <a:r>
                        <a:rPr sz="1300" b="0">
                          <a:solidFill>
                            <a:srgbClr val="161A23"/>
                          </a:solidFill>
                          <a:latin typeface="Calibri"/>
                        </a:rPr>
                        <a:t>distilled_search_flights</a:t>
                      </a:r>
                    </a:p>
                  </a:txBody>
                  <a:tcPr>
                    <a:solidFill>
                      <a:srgbClr val="F7F8FC"/>
                    </a:solidFill>
                  </a:tcPr>
                </a:tc>
              </a:tr>
              <a:tr h="365760">
                <a:tc>
                  <a:txBody>
                    <a:bodyPr/>
                    <a:lstStyle/>
                    <a:p>
                      <a:r>
                        <a:rPr sz="1300" b="0">
                          <a:solidFill>
                            <a:srgbClr val="161A23"/>
                          </a:solidFill>
                          <a:latin typeface="Calibri"/>
                        </a:rPr>
                        <a:t>Hotel Search Specialist</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distilled_search_hotels</a:t>
                      </a:r>
                    </a:p>
                  </a:txBody>
                  <a:tcPr>
                    <a:solidFill>
                      <a:srgbClr val="FFFFFF"/>
                    </a:solidFill>
                  </a:tcPr>
                </a:tc>
              </a:tr>
              <a:tr h="365760">
                <a:tc>
                  <a:txBody>
                    <a:bodyPr/>
                    <a:lstStyle/>
                    <a:p>
                      <a:r>
                        <a:rPr sz="1300" b="0">
                          <a:solidFill>
                            <a:srgbClr val="161A23"/>
                          </a:solidFill>
                          <a:latin typeface="Calibri"/>
                        </a:rPr>
                        <a:t>Activities Specialist</a:t>
                      </a:r>
                    </a:p>
                  </a:txBody>
                  <a:tcPr>
                    <a:solidFill>
                      <a:srgbClr val="F7F8FC"/>
                    </a:solidFill>
                  </a:tcPr>
                </a:tc>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distilled_search_attractions,  distilled_search_restaurants</a:t>
                      </a:r>
                    </a:p>
                  </a:txBody>
                  <a:tcPr>
                    <a:solidFill>
                      <a:srgbClr val="F7F8FC"/>
                    </a:solidFill>
                  </a:tcPr>
                </a:tc>
              </a:tr>
              <a:tr h="365760">
                <a:tc>
                  <a:txBody>
                    <a:bodyPr/>
                    <a:lstStyle/>
                    <a:p>
                      <a:r>
                        <a:rPr sz="1300" b="0">
                          <a:solidFill>
                            <a:srgbClr val="161A23"/>
                          </a:solidFill>
                          <a:latin typeface="Calibri"/>
                        </a:rPr>
                        <a:t>Itinerary Coordinator</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none</a:t>
                      </a:r>
                    </a:p>
                  </a:txBody>
                  <a:tcPr>
                    <a:solidFill>
                      <a:srgbClr val="FFFFFF"/>
                    </a:solidFill>
                  </a:tcPr>
                </a:tc>
              </a:tr>
              <a:tr h="365760">
                <a:tc>
                  <a:txBody>
                    <a:bodyPr/>
                    <a:lstStyle/>
                    <a:p>
                      <a:r>
                        <a:rPr sz="1300" b="0">
                          <a:solidFill>
                            <a:srgbClr val="161A23"/>
                          </a:solidFill>
                          <a:latin typeface="Calibri"/>
                        </a:rPr>
                        <a:t>Total</a:t>
                      </a:r>
                    </a:p>
                  </a:txBody>
                  <a:tcPr>
                    <a:solidFill>
                      <a:srgbClr val="F7F8FC"/>
                    </a:solidFill>
                  </a:tcPr>
                </a:tc>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 </a:t>
                      </a:r>
                    </a:p>
                  </a:txBody>
                  <a:tcPr>
                    <a:solidFill>
                      <a:srgbClr val="F7F8FC"/>
                    </a:solidFill>
                  </a:tcPr>
                </a:tc>
              </a:tr>
            </a:tbl>
          </a:graphicData>
        </a:graphic>
      </p:graphicFrame>
      <p:sp>
        <p:nvSpPr>
          <p:cNvPr id="6" name="TextBox 5"/>
          <p:cNvSpPr txBox="1"/>
          <p:nvPr/>
        </p:nvSpPr>
        <p:spPr>
          <a:xfrm>
            <a:off x="822960" y="4526280"/>
            <a:ext cx="10515600" cy="1828800"/>
          </a:xfrm>
          <a:prstGeom prst="rect">
            <a:avLst/>
          </a:prstGeom>
          <a:noFill/>
        </p:spPr>
        <p:txBody>
          <a:bodyPr wrap="square" anchor="t">
            <a:spAutoFit/>
          </a:bodyPr>
          <a:lstStyle/>
          <a:p>
            <a:pPr algn="l">
              <a:lnSpc>
                <a:spcPct val="115000"/>
              </a:lnSpc>
            </a:pPr>
            <a:r>
              <a:rPr sz="1700" b="1">
                <a:solidFill>
                  <a:srgbClr val="0EA5A4"/>
                </a:solidFill>
                <a:latin typeface="Calibri"/>
              </a:rPr>
              <a:t>How they run:  flights, hotels and activities all at the same time. Then one agent writes the plan.</a:t>
            </a:r>
          </a:p>
          <a:p>
            <a:pPr algn="l">
              <a:lnSpc>
                <a:spcPct val="115000"/>
              </a:lnSpc>
            </a:pPr>
            <a:r>
              <a:rPr sz="1500" b="0">
                <a:solidFill>
                  <a:srgbClr val="545C6E"/>
                </a:solidFill>
                <a:latin typeface="Calibri"/>
              </a:rPr>
              <a:t>We also gave each agent fewer tools, 3 thinking steps instead of 15, and the best 3 results instead of 12,000 characters of data.</a:t>
            </a:r>
          </a:p>
          <a:p>
            <a:pPr algn="l">
              <a:lnSpc>
                <a:spcPct val="115000"/>
              </a:lnSpc>
            </a:pPr>
            <a:r>
              <a:rPr sz="1900" b="1">
                <a:solidFill>
                  <a:srgbClr val="4338CA"/>
                </a:solidFill>
                <a:latin typeface="Calibri"/>
              </a:rPr>
              <a:t>Result: 89% less text than B, 10 AI calls instead of 21, and 37s instead of 372s.</a:t>
            </a:r>
          </a:p>
          <a:p>
            <a:pPr algn="l">
              <a:lnSpc>
                <a:spcPct val="115000"/>
              </a:lnSpc>
            </a:pPr>
            <a:r>
              <a:rPr sz="1600" b="1">
                <a:solidFill>
                  <a:srgbClr val="A85B00"/>
                </a:solidFill>
                <a:latin typeface="Calibri"/>
              </a:rPr>
              <a:t>So most of B's cost was bad setup, not a bad design.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5  ·  APPROACH 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agents. Plain Python does the searching</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65960"/>
          <a:ext cx="10515599" cy="1828800"/>
        </p:xfrm>
        <a:graphic>
          <a:graphicData uri="http://schemas.openxmlformats.org/drawingml/2006/table">
            <a:tbl>
              <a:tblPr firstRow="1" bandRow="1">
                <a:tableStyleId>{5C22544A-7EE6-4342-B048-85BDC9FD1C3A}</a:tableStyleId>
              </a:tblPr>
              <a:tblGrid>
                <a:gridCol w="3059083"/>
                <a:gridCol w="860367"/>
                <a:gridCol w="6596149"/>
              </a:tblGrid>
              <a:tr h="365760">
                <a:tc>
                  <a:txBody>
                    <a:bodyPr/>
                    <a:lstStyle/>
                    <a:p>
                      <a:r>
                        <a:rPr sz="1350" b="1">
                          <a:solidFill>
                            <a:srgbClr val="FFFFFF"/>
                          </a:solidFill>
                          <a:latin typeface="Calibri"/>
                        </a:rPr>
                        <a:t>Agent</a:t>
                      </a:r>
                    </a:p>
                  </a:txBody>
                  <a:tcPr>
                    <a:solidFill>
                      <a:srgbClr val="4338CA"/>
                    </a:solidFill>
                  </a:tcPr>
                </a:tc>
                <a:tc>
                  <a:txBody>
                    <a:bodyPr/>
                    <a:lstStyle/>
                    <a:p>
                      <a:r>
                        <a:rPr sz="1350" b="1">
                          <a:solidFill>
                            <a:srgbClr val="FFFFFF"/>
                          </a:solidFill>
                          <a:latin typeface="Calibri"/>
                        </a:rPr>
                        <a:t>Tools</a:t>
                      </a:r>
                    </a:p>
                  </a:txBody>
                  <a:tcPr>
                    <a:solidFill>
                      <a:srgbClr val="4338CA"/>
                    </a:solidFill>
                  </a:tcPr>
                </a:tc>
                <a:tc>
                  <a:txBody>
                    <a:bodyPr/>
                    <a:lstStyle/>
                    <a:p>
                      <a:r>
                        <a:rPr sz="1350" b="1">
                          <a:solidFill>
                            <a:srgbClr val="FFFFFF"/>
                          </a:solidFill>
                          <a:latin typeface="Calibri"/>
                        </a:rPr>
                        <a:t>Which tools</a:t>
                      </a:r>
                    </a:p>
                  </a:txBody>
                  <a:tcPr>
                    <a:solidFill>
                      <a:srgbClr val="4338CA"/>
                    </a:solidFill>
                  </a:tcPr>
                </a:tc>
              </a:tr>
              <a:tr h="365760">
                <a:tc>
                  <a:txBody>
                    <a:bodyPr/>
                    <a:lstStyle/>
                    <a:p>
                      <a:r>
                        <a:rPr sz="1350" b="0">
                          <a:solidFill>
                            <a:srgbClr val="161A23"/>
                          </a:solidFill>
                          <a:latin typeface="Calibri"/>
                        </a:rPr>
                        <a:t>Travel Conversation Assistant</a:t>
                      </a:r>
                    </a:p>
                  </a:txBody>
                  <a:tcPr>
                    <a:solidFill>
                      <a:srgbClr val="FFFFFF"/>
                    </a:solidFill>
                  </a:tcPr>
                </a:tc>
                <a:tc>
                  <a:txBody>
                    <a:bodyPr/>
                    <a:lstStyle/>
                    <a:p>
                      <a:r>
                        <a:rPr sz="1350" b="0">
                          <a:solidFill>
                            <a:srgbClr val="161A23"/>
                          </a:solidFill>
                          <a:latin typeface="Calibri"/>
                        </a:rPr>
                        <a:t>0</a:t>
                      </a:r>
                    </a:p>
                  </a:txBody>
                  <a:tcPr>
                    <a:solidFill>
                      <a:srgbClr val="FFFFFF"/>
                    </a:solidFill>
                  </a:tcPr>
                </a:tc>
                <a:tc>
                  <a:txBody>
                    <a:bodyPr/>
                    <a:lstStyle/>
                    <a:p>
                      <a:r>
                        <a:rPr sz="1350" b="0">
                          <a:solidFill>
                            <a:srgbClr val="161A23"/>
                          </a:solidFill>
                          <a:latin typeface="Calibri"/>
                        </a:rPr>
                        <a:t>none</a:t>
                      </a:r>
                    </a:p>
                  </a:txBody>
                  <a:tcPr>
                    <a:solidFill>
                      <a:srgbClr val="FFFFFF"/>
                    </a:solidFill>
                  </a:tcPr>
                </a:tc>
              </a:tr>
              <a:tr h="365760">
                <a:tc>
                  <a:txBody>
                    <a:bodyPr/>
                    <a:lstStyle/>
                    <a:p>
                      <a:r>
                        <a:rPr sz="1350" b="0">
                          <a:solidFill>
                            <a:srgbClr val="161A23"/>
                          </a:solidFill>
                          <a:latin typeface="Calibri"/>
                        </a:rPr>
                        <a:t>Travel Preferences Extractor</a:t>
                      </a:r>
                    </a:p>
                  </a:txBody>
                  <a:tcPr>
                    <a:solidFill>
                      <a:srgbClr val="F7F8FC"/>
                    </a:solidFill>
                  </a:tcPr>
                </a:tc>
                <a:tc>
                  <a:txBody>
                    <a:bodyPr/>
                    <a:lstStyle/>
                    <a:p>
                      <a:r>
                        <a:rPr sz="1350" b="0">
                          <a:solidFill>
                            <a:srgbClr val="161A23"/>
                          </a:solidFill>
                          <a:latin typeface="Calibri"/>
                        </a:rPr>
                        <a:t>0</a:t>
                      </a:r>
                    </a:p>
                  </a:txBody>
                  <a:tcPr>
                    <a:solidFill>
                      <a:srgbClr val="F7F8FC"/>
                    </a:solidFill>
                  </a:tcPr>
                </a:tc>
                <a:tc>
                  <a:txBody>
                    <a:bodyPr/>
                    <a:lstStyle/>
                    <a:p>
                      <a:r>
                        <a:rPr sz="1350" b="0">
                          <a:solidFill>
                            <a:srgbClr val="161A23"/>
                          </a:solidFill>
                          <a:latin typeface="Calibri"/>
                        </a:rPr>
                        <a:t>none</a:t>
                      </a:r>
                    </a:p>
                  </a:txBody>
                  <a:tcPr>
                    <a:solidFill>
                      <a:srgbClr val="F7F8FC"/>
                    </a:solidFill>
                  </a:tcPr>
                </a:tc>
              </a:tr>
              <a:tr h="365760">
                <a:tc>
                  <a:txBody>
                    <a:bodyPr/>
                    <a:lstStyle/>
                    <a:p>
                      <a:r>
                        <a:rPr sz="1350" b="0">
                          <a:solidFill>
                            <a:srgbClr val="161A23"/>
                          </a:solidFill>
                          <a:latin typeface="Calibri"/>
                        </a:rPr>
                        <a:t>Itinerary Coordinator</a:t>
                      </a:r>
                    </a:p>
                  </a:txBody>
                  <a:tcPr>
                    <a:solidFill>
                      <a:srgbClr val="FFFFFF"/>
                    </a:solidFill>
                  </a:tcPr>
                </a:tc>
                <a:tc>
                  <a:txBody>
                    <a:bodyPr/>
                    <a:lstStyle/>
                    <a:p>
                      <a:r>
                        <a:rPr sz="1350" b="0">
                          <a:solidFill>
                            <a:srgbClr val="161A23"/>
                          </a:solidFill>
                          <a:latin typeface="Calibri"/>
                        </a:rPr>
                        <a:t>0</a:t>
                      </a:r>
                    </a:p>
                  </a:txBody>
                  <a:tcPr>
                    <a:solidFill>
                      <a:srgbClr val="FFFFFF"/>
                    </a:solidFill>
                  </a:tcPr>
                </a:tc>
                <a:tc>
                  <a:txBody>
                    <a:bodyPr/>
                    <a:lstStyle/>
                    <a:p>
                      <a:r>
                        <a:rPr sz="1350" b="0">
                          <a:solidFill>
                            <a:srgbClr val="161A23"/>
                          </a:solidFill>
                          <a:latin typeface="Calibri"/>
                        </a:rPr>
                        <a:t>none — the data is handed to it already</a:t>
                      </a:r>
                    </a:p>
                  </a:txBody>
                  <a:tcPr>
                    <a:solidFill>
                      <a:srgbClr val="FFFFFF"/>
                    </a:solidFill>
                  </a:tcPr>
                </a:tc>
              </a:tr>
              <a:tr h="365760">
                <a:tc>
                  <a:txBody>
                    <a:bodyPr/>
                    <a:lstStyle/>
                    <a:p>
                      <a:r>
                        <a:rPr sz="1350" b="0">
                          <a:solidFill>
                            <a:srgbClr val="161A23"/>
                          </a:solidFill>
                          <a:latin typeface="Calibri"/>
                        </a:rPr>
                        <a:t>Total</a:t>
                      </a:r>
                    </a:p>
                  </a:txBody>
                  <a:tcPr>
                    <a:solidFill>
                      <a:srgbClr val="F7F8FC"/>
                    </a:solidFill>
                  </a:tcPr>
                </a:tc>
                <a:tc>
                  <a:txBody>
                    <a:bodyPr/>
                    <a:lstStyle/>
                    <a:p>
                      <a:r>
                        <a:rPr sz="1350" b="0">
                          <a:solidFill>
                            <a:srgbClr val="161A23"/>
                          </a:solidFill>
                          <a:latin typeface="Calibri"/>
                        </a:rPr>
                        <a:t>0</a:t>
                      </a:r>
                    </a:p>
                  </a:txBody>
                  <a:tcPr>
                    <a:solidFill>
                      <a:srgbClr val="F7F8FC"/>
                    </a:solidFill>
                  </a:tcPr>
                </a:tc>
                <a:tc>
                  <a:txBody>
                    <a:bodyPr/>
                    <a:lstStyle/>
                    <a:p>
                      <a:r>
                        <a:rPr sz="1350" b="0">
                          <a:solidFill>
                            <a:srgbClr val="161A23"/>
                          </a:solidFill>
                          <a:latin typeface="Calibri"/>
                        </a:rPr>
                        <a:t> </a:t>
                      </a:r>
                    </a:p>
                  </a:txBody>
                  <a:tcPr>
                    <a:solidFill>
                      <a:srgbClr val="F7F8FC"/>
                    </a:solidFill>
                  </a:tcPr>
                </a:tc>
              </a:tr>
            </a:tbl>
          </a:graphicData>
        </a:graphic>
      </p:graphicFrame>
      <p:sp>
        <p:nvSpPr>
          <p:cNvPr id="6" name="TextBox 5"/>
          <p:cNvSpPr txBox="1"/>
          <p:nvPr/>
        </p:nvSpPr>
        <p:spPr>
          <a:xfrm>
            <a:off x="822960" y="4069080"/>
            <a:ext cx="10515600" cy="1005840"/>
          </a:xfrm>
          <a:prstGeom prst="rect">
            <a:avLst/>
          </a:prstGeom>
          <a:noFill/>
        </p:spPr>
        <p:txBody>
          <a:bodyPr wrap="square" anchor="t">
            <a:spAutoFit/>
          </a:bodyPr>
          <a:lstStyle/>
          <a:p>
            <a:pPr algn="l">
              <a:lnSpc>
                <a:spcPct val="115000"/>
              </a:lnSpc>
            </a:pPr>
            <a:r>
              <a:rPr sz="1700" b="1">
                <a:solidFill>
                  <a:srgbClr val="0EA5A4"/>
                </a:solidFill>
                <a:latin typeface="Calibri"/>
              </a:rPr>
              <a:t>How it runs:  three steps. AI reads the request. Python fetches the flights, hotels, attractions and restaurants. AI writes the plan.</a:t>
            </a:r>
          </a:p>
          <a:p>
            <a:pPr algn="l">
              <a:lnSpc>
                <a:spcPct val="115000"/>
              </a:lnSpc>
            </a:pPr>
            <a:r>
              <a:rPr sz="1200" b="0">
                <a:solidFill>
                  <a:srgbClr val="545C6E"/>
                </a:solidFill>
                <a:latin typeface="Calibri"/>
              </a:rPr>
              <a:t>(The web app leaves 4 helper tools on the last agent. The measured run takes them away, so the comparison is clean.)</a:t>
            </a:r>
          </a:p>
        </p:txBody>
      </p:sp>
      <p:sp>
        <p:nvSpPr>
          <p:cNvPr id="7" name="TextBox 6"/>
          <p:cNvSpPr txBox="1"/>
          <p:nvPr/>
        </p:nvSpPr>
        <p:spPr>
          <a:xfrm>
            <a:off x="822960"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822960"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AI calls</a:t>
            </a:r>
          </a:p>
        </p:txBody>
      </p:sp>
      <p:sp>
        <p:nvSpPr>
          <p:cNvPr id="9" name="TextBox 8"/>
          <p:cNvSpPr txBox="1"/>
          <p:nvPr/>
        </p:nvSpPr>
        <p:spPr>
          <a:xfrm>
            <a:off x="4338218"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23s</a:t>
            </a:r>
          </a:p>
        </p:txBody>
      </p:sp>
      <p:sp>
        <p:nvSpPr>
          <p:cNvPr id="10" name="TextBox 9"/>
          <p:cNvSpPr txBox="1"/>
          <p:nvPr/>
        </p:nvSpPr>
        <p:spPr>
          <a:xfrm>
            <a:off x="4338218"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to finish</a:t>
            </a:r>
          </a:p>
        </p:txBody>
      </p:sp>
      <p:sp>
        <p:nvSpPr>
          <p:cNvPr id="11" name="TextBox 10"/>
          <p:cNvSpPr txBox="1"/>
          <p:nvPr/>
        </p:nvSpPr>
        <p:spPr>
          <a:xfrm>
            <a:off x="7853476"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12" name="TextBox 11"/>
          <p:cNvSpPr txBox="1"/>
          <p:nvPr/>
        </p:nvSpPr>
        <p:spPr>
          <a:xfrm>
            <a:off x="7853476"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searches, every single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6  ·  ALL FOUR SIDE BY SIDE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run 5 times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874519"/>
          <a:ext cx="10515597" cy="2926080"/>
        </p:xfrm>
        <a:graphic>
          <a:graphicData uri="http://schemas.openxmlformats.org/drawingml/2006/table">
            <a:tbl>
              <a:tblPr firstRow="1" bandRow="1">
                <a:tableStyleId>{5C22544A-7EE6-4342-B048-85BDC9FD1C3A}</a:tableStyleId>
              </a:tblPr>
              <a:tblGrid>
                <a:gridCol w="2816678"/>
                <a:gridCol w="1877785"/>
                <a:gridCol w="1877785"/>
                <a:gridCol w="1877785"/>
                <a:gridCol w="2065564"/>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  one AI</a:t>
                      </a:r>
                    </a:p>
                  </a:txBody>
                  <a:tcPr>
                    <a:solidFill>
                      <a:srgbClr val="4338CA"/>
                    </a:solidFill>
                  </a:tcPr>
                </a:tc>
                <a:tc>
                  <a:txBody>
                    <a:bodyPr/>
                    <a:lstStyle/>
                    <a:p>
                      <a:r>
                        <a:rPr sz="1300" b="1">
                          <a:solidFill>
                            <a:srgbClr val="FFFFFF"/>
                          </a:solidFill>
                          <a:latin typeface="Calibri"/>
                        </a:rPr>
                        <a:t>B  6 agents</a:t>
                      </a:r>
                    </a:p>
                  </a:txBody>
                  <a:tcPr>
                    <a:solidFill>
                      <a:srgbClr val="4338CA"/>
                    </a:solidFill>
                  </a:tcPr>
                </a:tc>
                <a:tc>
                  <a:txBody>
                    <a:bodyPr/>
                    <a:lstStyle/>
                    <a:p>
                      <a:r>
                        <a:rPr sz="1300" b="1">
                          <a:solidFill>
                            <a:srgbClr val="FFFFFF"/>
                          </a:solidFill>
                          <a:latin typeface="Calibri"/>
                        </a:rPr>
                        <a:t>C  6 tuned</a:t>
                      </a:r>
                    </a:p>
                  </a:txBody>
                  <a:tcPr>
                    <a:solidFill>
                      <a:srgbClr val="4338CA"/>
                    </a:solidFill>
                  </a:tcPr>
                </a:tc>
                <a:tc>
                  <a:txBody>
                    <a:bodyPr/>
                    <a:lstStyle/>
                    <a:p>
                      <a:r>
                        <a:rPr sz="1300" b="1">
                          <a:solidFill>
                            <a:srgbClr val="FFFFFF"/>
                          </a:solidFill>
                          <a:latin typeface="Calibri"/>
                        </a:rPr>
                        <a:t>D  3 agents</a:t>
                      </a:r>
                    </a:p>
                  </a:txBody>
                  <a:tcPr>
                    <a:solidFill>
                      <a:srgbClr val="4338CA"/>
                    </a:solidFill>
                  </a:tcPr>
                </a:tc>
              </a:tr>
              <a:tr h="365760">
                <a:tc>
                  <a:txBody>
                    <a:bodyPr/>
                    <a:lstStyle/>
                    <a:p>
                      <a:r>
                        <a:rPr sz="1300" b="0">
                          <a:solidFill>
                            <a:srgbClr val="161A23"/>
                          </a:solidFill>
                          <a:latin typeface="Calibri"/>
                        </a:rPr>
                        <a:t>Tools given to agents</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20</a:t>
                      </a:r>
                    </a:p>
                  </a:txBody>
                  <a:tcPr>
                    <a:solidFill>
                      <a:srgbClr val="FFFFFF"/>
                    </a:solidFill>
                  </a:tcPr>
                </a:tc>
                <a:tc>
                  <a:txBody>
                    <a:bodyPr/>
                    <a:lstStyle/>
                    <a:p>
                      <a:r>
                        <a:rPr sz="1300" b="0">
                          <a:solidFill>
                            <a:srgbClr val="161A23"/>
                          </a:solidFill>
                          <a:latin typeface="Calibri"/>
                        </a:rPr>
                        <a:t>4</a:t>
                      </a:r>
                    </a:p>
                  </a:txBody>
                  <a:tcPr>
                    <a:solidFill>
                      <a:srgbClr val="FFFFFF"/>
                    </a:solidFill>
                  </a:tcPr>
                </a:tc>
                <a:tc>
                  <a:txBody>
                    <a:bodyPr/>
                    <a:lstStyle/>
                    <a:p>
                      <a:r>
                        <a:rPr sz="1300" b="0">
                          <a:solidFill>
                            <a:srgbClr val="161A23"/>
                          </a:solidFill>
                          <a:latin typeface="Calibri"/>
                        </a:rPr>
                        <a:t>0</a:t>
                      </a:r>
                    </a:p>
                  </a:txBody>
                  <a:tcPr>
                    <a:solidFill>
                      <a:srgbClr val="FFFFFF"/>
                    </a:solidFill>
                  </a:tcPr>
                </a:tc>
              </a:tr>
              <a:tr h="365760">
                <a:tc>
                  <a:txBody>
                    <a:bodyPr/>
                    <a:lstStyle/>
                    <a:p>
                      <a:r>
                        <a:rPr sz="1300" b="0">
                          <a:solidFill>
                            <a:srgbClr val="161A23"/>
                          </a:solidFill>
                          <a:latin typeface="Calibri"/>
                        </a:rPr>
                        <a:t>How the agents run</a:t>
                      </a:r>
                    </a:p>
                  </a:txBody>
                  <a:tcPr>
                    <a:solidFill>
                      <a:srgbClr val="F7F8FC"/>
                    </a:solidFill>
                  </a:tcPr>
                </a:tc>
                <a:tc>
                  <a:txBody>
                    <a:bodyPr/>
                    <a:lstStyle/>
                    <a:p>
                      <a:r>
                        <a:rPr sz="1300" b="0">
                          <a:solidFill>
                            <a:srgbClr val="161A23"/>
                          </a:solidFill>
                          <a:latin typeface="Calibri"/>
                        </a:rPr>
                        <a:t>one call</a:t>
                      </a:r>
                    </a:p>
                  </a:txBody>
                  <a:tcPr>
                    <a:solidFill>
                      <a:srgbClr val="F7F8FC"/>
                    </a:solidFill>
                  </a:tcPr>
                </a:tc>
                <a:tc>
                  <a:txBody>
                    <a:bodyPr/>
                    <a:lstStyle/>
                    <a:p>
                      <a:r>
                        <a:rPr sz="1300" b="0">
                          <a:solidFill>
                            <a:srgbClr val="161A23"/>
                          </a:solidFill>
                          <a:latin typeface="Calibri"/>
                        </a:rPr>
                        <a:t>one after</a:t>
                      </a:r>
                    </a:p>
                    <a:p>
                      <a:r>
                        <a:t>another</a:t>
                      </a:r>
                    </a:p>
                  </a:txBody>
                  <a:tcPr>
                    <a:solidFill>
                      <a:srgbClr val="F7F8FC"/>
                    </a:solidFill>
                  </a:tcPr>
                </a:tc>
                <a:tc>
                  <a:txBody>
                    <a:bodyPr/>
                    <a:lstStyle/>
                    <a:p>
                      <a:r>
                        <a:rPr sz="1300" b="0">
                          <a:solidFill>
                            <a:srgbClr val="161A23"/>
                          </a:solidFill>
                          <a:latin typeface="Calibri"/>
                        </a:rPr>
                        <a:t>3 at the</a:t>
                      </a:r>
                    </a:p>
                    <a:p>
                      <a:r>
                        <a:t>same time</a:t>
                      </a:r>
                    </a:p>
                  </a:txBody>
                  <a:tcPr>
                    <a:solidFill>
                      <a:srgbClr val="F7F8FC"/>
                    </a:solidFill>
                  </a:tcPr>
                </a:tc>
                <a:tc>
                  <a:txBody>
                    <a:bodyPr/>
                    <a:lstStyle/>
                    <a:p>
                      <a:r>
                        <a:rPr sz="1300" b="0">
                          <a:solidFill>
                            <a:srgbClr val="161A23"/>
                          </a:solidFill>
                          <a:latin typeface="Calibri"/>
                        </a:rPr>
                        <a:t>AI → Python</a:t>
                      </a:r>
                    </a:p>
                    <a:p>
                      <a:r>
                        <a:t>→ AI</a:t>
                      </a:r>
                    </a:p>
                  </a:txBody>
                  <a:tcPr>
                    <a:solidFill>
                      <a:srgbClr val="F7F8FC"/>
                    </a:solidFill>
                  </a:tcPr>
                </a:tc>
              </a:tr>
              <a:tr h="365760">
                <a:tc>
                  <a:txBody>
                    <a:bodyPr/>
                    <a:lstStyle/>
                    <a:p>
                      <a:r>
                        <a:rPr sz="1300" b="0">
                          <a:solidFill>
                            <a:srgbClr val="161A23"/>
                          </a:solidFill>
                          <a:latin typeface="Calibri"/>
                        </a:rPr>
                        <a:t>AI calls</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21</a:t>
                      </a:r>
                    </a:p>
                  </a:txBody>
                  <a:tcPr>
                    <a:solidFill>
                      <a:srgbClr val="FFFFFF"/>
                    </a:solidFill>
                  </a:tcPr>
                </a:tc>
                <a:tc>
                  <a:txBody>
                    <a:bodyPr/>
                    <a:lstStyle/>
                    <a:p>
                      <a:r>
                        <a:rPr sz="1300" b="0">
                          <a:solidFill>
                            <a:srgbClr val="161A23"/>
                          </a:solidFill>
                          <a:latin typeface="Calibri"/>
                        </a:rPr>
                        <a:t>10</a:t>
                      </a:r>
                    </a:p>
                  </a:txBody>
                  <a:tcPr>
                    <a:solidFill>
                      <a:srgbClr val="FFFFFF"/>
                    </a:solidFill>
                  </a:tcPr>
                </a:tc>
                <a:tc>
                  <a:txBody>
                    <a:bodyPr/>
                    <a:lstStyle/>
                    <a:p>
                      <a:r>
                        <a:rPr sz="1300" b="0">
                          <a:solidFill>
                            <a:srgbClr val="161A23"/>
                          </a:solidFill>
                          <a:latin typeface="Calibri"/>
                        </a:rPr>
                        <a:t>2</a:t>
                      </a:r>
                    </a:p>
                  </a:txBody>
                  <a:tcPr>
                    <a:solidFill>
                      <a:srgbClr val="FFFFFF"/>
                    </a:solidFill>
                  </a:tcPr>
                </a:tc>
              </a:tr>
              <a:tr h="365760">
                <a:tc>
                  <a:txBody>
                    <a:bodyPr/>
                    <a:lstStyle/>
                    <a:p>
                      <a:r>
                        <a:rPr sz="1300" b="0">
                          <a:solidFill>
                            <a:srgbClr val="161A23"/>
                          </a:solidFill>
                          <a:latin typeface="Calibri"/>
                        </a:rPr>
                        <a:t>Text sent to the AI</a:t>
                      </a:r>
                    </a:p>
                  </a:txBody>
                  <a:tcPr>
                    <a:solidFill>
                      <a:srgbClr val="F7F8FC"/>
                    </a:solidFill>
                  </a:tcPr>
                </a:tc>
                <a:tc>
                  <a:txBody>
                    <a:bodyPr/>
                    <a:lstStyle/>
                    <a:p>
                      <a:r>
                        <a:rPr sz="1300" b="0">
                          <a:solidFill>
                            <a:srgbClr val="161A23"/>
                          </a:solidFill>
                          <a:latin typeface="Calibri"/>
                        </a:rPr>
                        <a:t>4,644</a:t>
                      </a:r>
                    </a:p>
                  </a:txBody>
                  <a:tcPr>
                    <a:solidFill>
                      <a:srgbClr val="F7F8FC"/>
                    </a:solidFill>
                  </a:tcPr>
                </a:tc>
                <a:tc>
                  <a:txBody>
                    <a:bodyPr/>
                    <a:lstStyle/>
                    <a:p>
                      <a:r>
                        <a:rPr sz="1300" b="0">
                          <a:solidFill>
                            <a:srgbClr val="161A23"/>
                          </a:solidFill>
                          <a:latin typeface="Calibri"/>
                        </a:rPr>
                        <a:t>120,703</a:t>
                      </a:r>
                    </a:p>
                  </a:txBody>
                  <a:tcPr>
                    <a:solidFill>
                      <a:srgbClr val="F7F8FC"/>
                    </a:solidFill>
                  </a:tcPr>
                </a:tc>
                <a:tc>
                  <a:txBody>
                    <a:bodyPr/>
                    <a:lstStyle/>
                    <a:p>
                      <a:r>
                        <a:rPr sz="1300" b="0">
                          <a:solidFill>
                            <a:srgbClr val="161A23"/>
                          </a:solidFill>
                          <a:latin typeface="Calibri"/>
                        </a:rPr>
                        <a:t>13,521</a:t>
                      </a:r>
                    </a:p>
                  </a:txBody>
                  <a:tcPr>
                    <a:solidFill>
                      <a:srgbClr val="F7F8FC"/>
                    </a:solidFill>
                  </a:tcPr>
                </a:tc>
                <a:tc>
                  <a:txBody>
                    <a:bodyPr/>
                    <a:lstStyle/>
                    <a:p>
                      <a:r>
                        <a:rPr sz="1300" b="0">
                          <a:solidFill>
                            <a:srgbClr val="161A23"/>
                          </a:solidFill>
                          <a:latin typeface="Calibri"/>
                        </a:rPr>
                        <a:t>7,840</a:t>
                      </a:r>
                    </a:p>
                  </a:txBody>
                  <a:tcPr>
                    <a:solidFill>
                      <a:srgbClr val="F7F8FC"/>
                    </a:solidFill>
                  </a:tcPr>
                </a:tc>
              </a:tr>
              <a:tr h="365760">
                <a:tc>
                  <a:txBody>
                    <a:bodyPr/>
                    <a:lstStyle/>
                    <a:p>
                      <a:r>
                        <a:rPr sz="1300" b="0">
                          <a:solidFill>
                            <a:srgbClr val="161A23"/>
                          </a:solidFill>
                          <a:latin typeface="Calibri"/>
                        </a:rPr>
                        <a:t>Cost per trip</a:t>
                      </a:r>
                    </a:p>
                  </a:txBody>
                  <a:tcPr>
                    <a:solidFill>
                      <a:srgbClr val="FFFFFF"/>
                    </a:solidFill>
                  </a:tcPr>
                </a:tc>
                <a:tc>
                  <a:txBody>
                    <a:bodyPr/>
                    <a:lstStyle/>
                    <a:p>
                      <a:r>
                        <a:rPr sz="1300" b="0">
                          <a:solidFill>
                            <a:srgbClr val="161A23"/>
                          </a:solidFill>
                          <a:latin typeface="Calibri"/>
                        </a:rPr>
                        <a:t>$0.0170</a:t>
                      </a:r>
                    </a:p>
                  </a:txBody>
                  <a:tcPr>
                    <a:solidFill>
                      <a:srgbClr val="FFFFFF"/>
                    </a:solidFill>
                  </a:tcPr>
                </a:tc>
                <a:tc>
                  <a:txBody>
                    <a:bodyPr/>
                    <a:lstStyle/>
                    <a:p>
                      <a:r>
                        <a:rPr sz="1300" b="0">
                          <a:solidFill>
                            <a:srgbClr val="161A23"/>
                          </a:solidFill>
                          <a:latin typeface="Calibri"/>
                        </a:rPr>
                        <a:t>$0.1859</a:t>
                      </a:r>
                    </a:p>
                  </a:txBody>
                  <a:tcPr>
                    <a:solidFill>
                      <a:srgbClr val="FFFFFF"/>
                    </a:solidFill>
                  </a:tcPr>
                </a:tc>
                <a:tc>
                  <a:txBody>
                    <a:bodyPr/>
                    <a:lstStyle/>
                    <a:p>
                      <a:r>
                        <a:rPr sz="1300" b="0">
                          <a:solidFill>
                            <a:srgbClr val="161A23"/>
                          </a:solidFill>
                          <a:latin typeface="Calibri"/>
                        </a:rPr>
                        <a:t>$0.0313</a:t>
                      </a:r>
                    </a:p>
                  </a:txBody>
                  <a:tcPr>
                    <a:solidFill>
                      <a:srgbClr val="FFFFFF"/>
                    </a:solidFill>
                  </a:tcPr>
                </a:tc>
                <a:tc>
                  <a:txBody>
                    <a:bodyPr/>
                    <a:lstStyle/>
                    <a:p>
                      <a:r>
                        <a:rPr sz="1300" b="0">
                          <a:solidFill>
                            <a:srgbClr val="161A23"/>
                          </a:solidFill>
                          <a:latin typeface="Calibri"/>
                        </a:rPr>
                        <a:t>$0.0179</a:t>
                      </a:r>
                    </a:p>
                  </a:txBody>
                  <a:tcPr>
                    <a:solidFill>
                      <a:srgbClr val="FFFFFF"/>
                    </a:solidFill>
                  </a:tcPr>
                </a:tc>
              </a:tr>
              <a:tr h="365760">
                <a:tc>
                  <a:txBody>
                    <a:bodyPr/>
                    <a:lstStyle/>
                    <a:p>
                      <a:r>
                        <a:rPr sz="1300" b="0">
                          <a:solidFill>
                            <a:srgbClr val="161A23"/>
                          </a:solidFill>
                          <a:latin typeface="Calibri"/>
                        </a:rPr>
                        <a:t>Time</a:t>
                      </a:r>
                    </a:p>
                  </a:txBody>
                  <a:tcPr>
                    <a:solidFill>
                      <a:srgbClr val="F7F8FC"/>
                    </a:solidFill>
                  </a:tcPr>
                </a:tc>
                <a:tc>
                  <a:txBody>
                    <a:bodyPr/>
                    <a:lstStyle/>
                    <a:p>
                      <a:r>
                        <a:rPr sz="1300" b="0">
                          <a:solidFill>
                            <a:srgbClr val="161A23"/>
                          </a:solidFill>
                          <a:latin typeface="Calibri"/>
                        </a:rPr>
                        <a:t>27s</a:t>
                      </a:r>
                    </a:p>
                  </a:txBody>
                  <a:tcPr>
                    <a:solidFill>
                      <a:srgbClr val="F7F8FC"/>
                    </a:solidFill>
                  </a:tcPr>
                </a:tc>
                <a:tc>
                  <a:txBody>
                    <a:bodyPr/>
                    <a:lstStyle/>
                    <a:p>
                      <a:r>
                        <a:rPr sz="1300" b="0">
                          <a:solidFill>
                            <a:srgbClr val="161A23"/>
                          </a:solidFill>
                          <a:latin typeface="Calibri"/>
                        </a:rPr>
                        <a:t>372s</a:t>
                      </a:r>
                    </a:p>
                  </a:txBody>
                  <a:tcPr>
                    <a:solidFill>
                      <a:srgbClr val="F7F8FC"/>
                    </a:solidFill>
                  </a:tcPr>
                </a:tc>
                <a:tc>
                  <a:txBody>
                    <a:bodyPr/>
                    <a:lstStyle/>
                    <a:p>
                      <a:r>
                        <a:rPr sz="1300" b="0">
                          <a:solidFill>
                            <a:srgbClr val="161A23"/>
                          </a:solidFill>
                          <a:latin typeface="Calibri"/>
                        </a:rPr>
                        <a:t>37s</a:t>
                      </a:r>
                    </a:p>
                  </a:txBody>
                  <a:tcPr>
                    <a:solidFill>
                      <a:srgbClr val="F7F8FC"/>
                    </a:solidFill>
                  </a:tcPr>
                </a:tc>
                <a:tc>
                  <a:txBody>
                    <a:bodyPr/>
                    <a:lstStyle/>
                    <a:p>
                      <a:r>
                        <a:rPr sz="1300" b="0">
                          <a:solidFill>
                            <a:srgbClr val="161A23"/>
                          </a:solidFill>
                          <a:latin typeface="Calibri"/>
                        </a:rPr>
                        <a:t>23s</a:t>
                      </a:r>
                    </a:p>
                  </a:txBody>
                  <a:tcPr>
                    <a:solidFill>
                      <a:srgbClr val="F7F8FC"/>
                    </a:solidFill>
                  </a:tcPr>
                </a:tc>
              </a:tr>
              <a:tr h="365760">
                <a:tc>
                  <a:txBody>
                    <a:bodyPr/>
                    <a:lstStyle/>
                    <a:p>
                      <a:r>
                        <a:rPr sz="1300" b="0">
                          <a:solidFill>
                            <a:srgbClr val="161A23"/>
                          </a:solidFill>
                          <a:latin typeface="Calibri"/>
                        </a:rPr>
                        <a:t>Prices that were real</a:t>
                      </a:r>
                    </a:p>
                  </a:txBody>
                  <a:tcPr>
                    <a:solidFill>
                      <a:srgbClr val="FFFFFF"/>
                    </a:solidFill>
                  </a:tcPr>
                </a:tc>
                <a:tc>
                  <a:txBody>
                    <a:bodyPr/>
                    <a:lstStyle/>
                    <a:p>
                      <a:r>
                        <a:rPr sz="1300" b="0">
                          <a:solidFill>
                            <a:srgbClr val="161A23"/>
                          </a:solidFill>
                          <a:latin typeface="Calibri"/>
                        </a:rPr>
                        <a:t>1.7%</a:t>
                      </a:r>
                    </a:p>
                  </a:txBody>
                  <a:tcPr>
                    <a:solidFill>
                      <a:srgbClr val="FFFFFF"/>
                    </a:solidFill>
                  </a:tcPr>
                </a:tc>
                <a:tc>
                  <a:txBody>
                    <a:bodyPr/>
                    <a:lstStyle/>
                    <a:p>
                      <a:r>
                        <a:rPr sz="1300" b="0">
                          <a:solidFill>
                            <a:srgbClr val="161A23"/>
                          </a:solidFill>
                          <a:latin typeface="Calibri"/>
                        </a:rPr>
                        <a:t>23%</a:t>
                      </a:r>
                    </a:p>
                  </a:txBody>
                  <a:tcPr>
                    <a:solidFill>
                      <a:srgbClr val="FFFFFF"/>
                    </a:solidFill>
                  </a:tcPr>
                </a:tc>
                <a:tc>
                  <a:txBody>
                    <a:bodyPr/>
                    <a:lstStyle/>
                    <a:p>
                      <a:r>
                        <a:rPr sz="1300" b="0">
                          <a:solidFill>
                            <a:srgbClr val="161A23"/>
                          </a:solidFill>
                          <a:latin typeface="Calibri"/>
                        </a:rPr>
                        <a:t>56%</a:t>
                      </a:r>
                    </a:p>
                  </a:txBody>
                  <a:tcPr>
                    <a:solidFill>
                      <a:srgbClr val="FFFFFF"/>
                    </a:solidFill>
                  </a:tcPr>
                </a:tc>
                <a:tc>
                  <a:txBody>
                    <a:bodyPr/>
                    <a:lstStyle/>
                    <a:p>
                      <a:r>
                        <a:rPr sz="1300" b="0">
                          <a:solidFill>
                            <a:srgbClr val="161A23"/>
                          </a:solidFill>
                          <a:latin typeface="Calibri"/>
                        </a:rPr>
                        <a:t>47%</a:t>
                      </a:r>
                    </a:p>
                  </a:txBody>
                  <a:tcPr>
                    <a:solidFill>
                      <a:srgbClr val="FFFFFF"/>
                    </a:solidFill>
                  </a:tcPr>
                </a:tc>
              </a:tr>
            </a:tbl>
          </a:graphicData>
        </a:graphic>
      </p:graphicFrame>
      <p:sp>
        <p:nvSpPr>
          <p:cNvPr id="6" name="TextBox 5"/>
          <p:cNvSpPr txBox="1"/>
          <p:nvPr/>
        </p:nvSpPr>
        <p:spPr>
          <a:xfrm>
            <a:off x="822960" y="521208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Being honest: D is not more accurate than C. The two overlap.</a:t>
            </a:r>
          </a:p>
          <a:p>
            <a:pPr algn="l">
              <a:lnSpc>
                <a:spcPct val="130000"/>
              </a:lnSpc>
            </a:pPr>
            <a:r>
              <a:rPr sz="1900" b="1">
                <a:solidFill>
                  <a:srgbClr val="4338CA"/>
                </a:solidFill>
                <a:latin typeface="Calibri"/>
              </a:rPr>
              <a:t>What D is: 1.7x cheaper than C, 15x cheaper than B, and just as accurate.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7  ·  WHAT THE USER SEES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And the check that stops a trip nobody could afford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end.png"/>
          <p:cNvPicPr>
            <a:picLocks noChangeAspect="1"/>
          </p:cNvPicPr>
          <p:nvPr/>
        </p:nvPicPr>
        <p:blipFill>
          <a:blip r:embed="rId2"/>
          <a:stretch>
            <a:fillRect/>
          </a:stretch>
        </p:blipFill>
        <p:spPr>
          <a:xfrm>
            <a:off x="3387605" y="1737360"/>
            <a:ext cx="5416484" cy="3108960"/>
          </a:xfrm>
          <a:prstGeom prst="rect">
            <a:avLst/>
          </a:prstGeom>
        </p:spPr>
      </p:pic>
      <p:sp>
        <p:nvSpPr>
          <p:cNvPr id="6" name="TextBox 5"/>
          <p:cNvSpPr txBox="1"/>
          <p:nvPr/>
        </p:nvSpPr>
        <p:spPr>
          <a:xfrm>
            <a:off x="822960" y="49834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$800</a:t>
            </a:r>
          </a:p>
        </p:txBody>
      </p:sp>
      <p:sp>
        <p:nvSpPr>
          <p:cNvPr id="7" name="TextBox 6"/>
          <p:cNvSpPr txBox="1"/>
          <p:nvPr/>
        </p:nvSpPr>
        <p:spPr>
          <a:xfrm>
            <a:off x="822960" y="612648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traveller asked for</a:t>
            </a:r>
          </a:p>
        </p:txBody>
      </p:sp>
      <p:sp>
        <p:nvSpPr>
          <p:cNvPr id="8" name="TextBox 7"/>
          <p:cNvSpPr txBox="1"/>
          <p:nvPr/>
        </p:nvSpPr>
        <p:spPr>
          <a:xfrm>
            <a:off x="4338218" y="49834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$837</a:t>
            </a:r>
          </a:p>
        </p:txBody>
      </p:sp>
      <p:sp>
        <p:nvSpPr>
          <p:cNvPr id="9" name="TextBox 8"/>
          <p:cNvSpPr txBox="1"/>
          <p:nvPr/>
        </p:nvSpPr>
        <p:spPr>
          <a:xfrm>
            <a:off x="4338218" y="612648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cheapest it can be done</a:t>
            </a:r>
          </a:p>
        </p:txBody>
      </p:sp>
      <p:sp>
        <p:nvSpPr>
          <p:cNvPr id="10" name="TextBox 9"/>
          <p:cNvSpPr txBox="1"/>
          <p:nvPr/>
        </p:nvSpPr>
        <p:spPr>
          <a:xfrm>
            <a:off x="7853476" y="49834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REFUSED</a:t>
            </a:r>
          </a:p>
        </p:txBody>
      </p:sp>
      <p:sp>
        <p:nvSpPr>
          <p:cNvPr id="11" name="TextBox 10"/>
          <p:cNvSpPr txBox="1"/>
          <p:nvPr/>
        </p:nvSpPr>
        <p:spPr>
          <a:xfrm>
            <a:off x="7853476" y="612648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with three ways to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2801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737360"/>
            <a:ext cx="10241280" cy="1828800"/>
          </a:xfrm>
          <a:prstGeom prst="rect">
            <a:avLst/>
          </a:prstGeom>
          <a:noFill/>
        </p:spPr>
        <p:txBody>
          <a:bodyPr wrap="square" anchor="t">
            <a:spAutoFit/>
          </a:bodyPr>
          <a:lstStyle/>
          <a:p>
            <a:pPr algn="l">
              <a:lnSpc>
                <a:spcPct val="120000"/>
              </a:lnSpc>
            </a:pPr>
            <a:r>
              <a:rPr sz="3000" b="1">
                <a:solidFill>
                  <a:srgbClr val="FFFFFF"/>
                </a:solidFill>
                <a:latin typeface="Calibri"/>
              </a:rPr>
              <a:t>AI decides what the user wants and how to show it.</a:t>
            </a:r>
          </a:p>
          <a:p>
            <a:pPr algn="l">
              <a:lnSpc>
                <a:spcPct val="120000"/>
              </a:lnSpc>
            </a:pPr>
            <a:r>
              <a:rPr sz="3000" b="1">
                <a:solidFill>
                  <a:srgbClr val="6EE7DF"/>
                </a:solidFill>
                <a:latin typeface="Calibri"/>
              </a:rPr>
              <a:t>Python decides what data to fetch.</a:t>
            </a:r>
          </a:p>
        </p:txBody>
      </p:sp>
      <p:sp>
        <p:nvSpPr>
          <p:cNvPr id="4" name="Rectangle 3"/>
          <p:cNvSpPr/>
          <p:nvPr/>
        </p:nvSpPr>
        <p:spPr>
          <a:xfrm>
            <a:off x="1005840" y="3749039"/>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069080"/>
            <a:ext cx="10241280" cy="2194560"/>
          </a:xfrm>
          <a:prstGeom prst="rect">
            <a:avLst/>
          </a:prstGeom>
          <a:noFill/>
        </p:spPr>
        <p:txBody>
          <a:bodyPr wrap="square" anchor="t">
            <a:spAutoFit/>
          </a:bodyPr>
          <a:lstStyle/>
          <a:p>
            <a:pPr algn="l">
              <a:lnSpc>
                <a:spcPct val="125000"/>
              </a:lnSpc>
            </a:pPr>
            <a:r>
              <a:rPr sz="1200" b="1">
                <a:solidFill>
                  <a:srgbClr val="9CA3F5"/>
                </a:solidFill>
                <a:latin typeface="Calibri"/>
              </a:rPr>
              <a:t>WHAT I FOUND</a:t>
            </a:r>
          </a:p>
          <a:p>
            <a:pPr algn="l">
              <a:lnSpc>
                <a:spcPct val="125000"/>
              </a:lnSpc>
            </a:pPr>
            <a:r>
              <a:rPr sz="500" b="0">
                <a:solidFill>
                  <a:srgbClr val="FFFFFF"/>
                </a:solidFill>
                <a:latin typeface="Calibri"/>
              </a:rPr>
              <a:t/>
            </a:r>
          </a:p>
          <a:p>
            <a:pPr algn="l">
              <a:lnSpc>
                <a:spcPct val="125000"/>
              </a:lnSpc>
            </a:pPr>
            <a:r>
              <a:rPr sz="1700" b="0">
                <a:solidFill>
                  <a:srgbClr val="C7D2FE"/>
                </a:solidFill>
                <a:latin typeface="Calibri"/>
              </a:rPr>
              <a:t>1.  With no tools, AI makes prices up. Tools are essential.</a:t>
            </a:r>
          </a:p>
          <a:p>
            <a:pPr algn="l">
              <a:lnSpc>
                <a:spcPct val="125000"/>
              </a:lnSpc>
            </a:pPr>
            <a:r>
              <a:rPr sz="1700" b="0">
                <a:solidFill>
                  <a:srgbClr val="C7D2FE"/>
                </a:solidFill>
                <a:latin typeface="Calibri"/>
              </a:rPr>
              <a:t>2.  Setup matters. Settings alone saved 89% of the cost.</a:t>
            </a:r>
          </a:p>
          <a:p>
            <a:pPr algn="l">
              <a:lnSpc>
                <a:spcPct val="125000"/>
              </a:lnSpc>
            </a:pPr>
            <a:r>
              <a:rPr sz="1700" b="0">
                <a:solidFill>
                  <a:srgbClr val="6EE7DF"/>
                </a:solidFill>
                <a:latin typeface="Calibri"/>
              </a:rPr>
              <a:t>3.  Taking AI out of the searching is cheaper, faster and just as accurate.</a:t>
            </a:r>
          </a:p>
          <a:p>
            <a:pPr algn="l">
              <a:lnSpc>
                <a:spcPct val="125000"/>
              </a:lnSpc>
            </a:pPr>
            <a:r>
              <a:rPr sz="500" b="0">
                <a:solidFill>
                  <a:srgbClr val="FFFFFF"/>
                </a:solidFill>
                <a:latin typeface="Calibri"/>
              </a:rPr>
              <a:t/>
            </a:r>
          </a:p>
          <a:p>
            <a:pPr algn="l">
              <a:lnSpc>
                <a:spcPct val="125000"/>
              </a:lnSpc>
            </a:pPr>
            <a:r>
              <a:rPr sz="1400" b="0">
                <a:solidFill>
                  <a:srgbClr val="9CA3F5"/>
                </a:solidFill>
                <a:latin typeface="Calibri"/>
              </a:rPr>
              <a:t>Honest gap: cost was measured on only 1 of 20 trips, because the free APIs ran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